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ourd Bold" panose="020B0604020202020204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ubik" panose="020B0604020202020204" charset="-79"/>
      <p:regular r:id="rId16"/>
    </p:embeddedFont>
    <p:embeddedFont>
      <p:font typeface="Rubik Semi-Bold" panose="020B0604020202020204" charset="-79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1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4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3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6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7668" y="200080"/>
            <a:ext cx="16012640" cy="16012640"/>
          </a:xfrm>
          <a:custGeom>
            <a:avLst/>
            <a:gdLst/>
            <a:ahLst/>
            <a:cxnLst/>
            <a:rect l="l" t="t" r="r" b="b"/>
            <a:pathLst>
              <a:path w="16012640" h="16012640">
                <a:moveTo>
                  <a:pt x="0" y="0"/>
                </a:moveTo>
                <a:lnTo>
                  <a:pt x="16012640" y="0"/>
                </a:lnTo>
                <a:lnTo>
                  <a:pt x="16012640" y="16012640"/>
                </a:lnTo>
                <a:lnTo>
                  <a:pt x="0" y="1601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56110" y="8811102"/>
            <a:ext cx="2725212" cy="538229"/>
          </a:xfrm>
          <a:custGeom>
            <a:avLst/>
            <a:gdLst/>
            <a:ahLst/>
            <a:cxnLst/>
            <a:rect l="l" t="t" r="r" b="b"/>
            <a:pathLst>
              <a:path w="2725212" h="538229">
                <a:moveTo>
                  <a:pt x="0" y="0"/>
                </a:moveTo>
                <a:lnTo>
                  <a:pt x="2725212" y="0"/>
                </a:lnTo>
                <a:lnTo>
                  <a:pt x="2725212" y="538230"/>
                </a:lnTo>
                <a:lnTo>
                  <a:pt x="0" y="538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7314" y="8206400"/>
            <a:ext cx="1738940" cy="873817"/>
          </a:xfrm>
          <a:custGeom>
            <a:avLst/>
            <a:gdLst/>
            <a:ahLst/>
            <a:cxnLst/>
            <a:rect l="l" t="t" r="r" b="b"/>
            <a:pathLst>
              <a:path w="1738940" h="873817">
                <a:moveTo>
                  <a:pt x="0" y="0"/>
                </a:moveTo>
                <a:lnTo>
                  <a:pt x="1738940" y="0"/>
                </a:lnTo>
                <a:lnTo>
                  <a:pt x="1738940" y="873817"/>
                </a:lnTo>
                <a:lnTo>
                  <a:pt x="0" y="8738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6045" y="8409174"/>
            <a:ext cx="941477" cy="445062"/>
          </a:xfrm>
          <a:custGeom>
            <a:avLst/>
            <a:gdLst/>
            <a:ahLst/>
            <a:cxnLst/>
            <a:rect l="l" t="t" r="r" b="b"/>
            <a:pathLst>
              <a:path w="941477" h="445062">
                <a:moveTo>
                  <a:pt x="0" y="0"/>
                </a:moveTo>
                <a:lnTo>
                  <a:pt x="941478" y="0"/>
                </a:lnTo>
                <a:lnTo>
                  <a:pt x="941478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34419" y="1712961"/>
            <a:ext cx="7367256" cy="7367256"/>
          </a:xfrm>
          <a:custGeom>
            <a:avLst/>
            <a:gdLst/>
            <a:ahLst/>
            <a:cxnLst/>
            <a:rect l="l" t="t" r="r" b="b"/>
            <a:pathLst>
              <a:path w="7367256" h="7367256">
                <a:moveTo>
                  <a:pt x="0" y="0"/>
                </a:moveTo>
                <a:lnTo>
                  <a:pt x="7367256" y="0"/>
                </a:lnTo>
                <a:lnTo>
                  <a:pt x="7367256" y="7367256"/>
                </a:lnTo>
                <a:lnTo>
                  <a:pt x="0" y="73672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3775108"/>
            <a:ext cx="8305719" cy="2736784"/>
            <a:chOff x="0" y="0"/>
            <a:chExt cx="11074291" cy="3649045"/>
          </a:xfrm>
        </p:grpSpPr>
        <p:sp>
          <p:nvSpPr>
            <p:cNvPr id="8" name="TextBox 8"/>
            <p:cNvSpPr txBox="1"/>
            <p:nvPr/>
          </p:nvSpPr>
          <p:spPr>
            <a:xfrm>
              <a:off x="0" y="247650"/>
              <a:ext cx="11074291" cy="23897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999"/>
                </a:lnSpc>
              </a:pPr>
              <a:r>
                <a:rPr lang="en-US" sz="12999" b="1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MEDLINK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972770"/>
              <a:ext cx="9178811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Seu médico, sua casa, sua agenda.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7314" y="1028700"/>
            <a:ext cx="1707585" cy="1280689"/>
          </a:xfrm>
          <a:custGeom>
            <a:avLst/>
            <a:gdLst/>
            <a:ahLst/>
            <a:cxnLst/>
            <a:rect l="l" t="t" r="r" b="b"/>
            <a:pathLst>
              <a:path w="1707585" h="1280689">
                <a:moveTo>
                  <a:pt x="0" y="0"/>
                </a:moveTo>
                <a:lnTo>
                  <a:pt x="1707585" y="0"/>
                </a:lnTo>
                <a:lnTo>
                  <a:pt x="1707585" y="1280689"/>
                </a:lnTo>
                <a:lnTo>
                  <a:pt x="0" y="12806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9191625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147491" y="7002131"/>
            <a:ext cx="4337315" cy="856620"/>
          </a:xfrm>
          <a:custGeom>
            <a:avLst/>
            <a:gdLst/>
            <a:ahLst/>
            <a:cxnLst/>
            <a:rect l="l" t="t" r="r" b="b"/>
            <a:pathLst>
              <a:path w="4337315" h="856620">
                <a:moveTo>
                  <a:pt x="0" y="0"/>
                </a:moveTo>
                <a:lnTo>
                  <a:pt x="4337314" y="0"/>
                </a:lnTo>
                <a:lnTo>
                  <a:pt x="4337314" y="856619"/>
                </a:lnTo>
                <a:lnTo>
                  <a:pt x="0" y="856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1393" y="1750215"/>
            <a:ext cx="5285156" cy="5953176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28700" y="1036643"/>
            <a:ext cx="7656960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 u="non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Equipe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37621" y="9500303"/>
            <a:ext cx="310283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1" u="non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Voltar ao índice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00" y="2523754"/>
            <a:ext cx="12308921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Ryan Robert Barreto de Almeida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João Pedro Leite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505327"/>
            <a:ext cx="7656960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Professor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824352"/>
            <a:ext cx="12308921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Heleno Cardoso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42514" y="9509500"/>
            <a:ext cx="570497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Universidade Uniruy Wyden,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3258" y="4492205"/>
            <a:ext cx="7843358" cy="4114800"/>
            <a:chOff x="0" y="0"/>
            <a:chExt cx="2065740" cy="10837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5740" cy="1083733"/>
            </a:xfrm>
            <a:custGeom>
              <a:avLst/>
              <a:gdLst/>
              <a:ahLst/>
              <a:cxnLst/>
              <a:rect l="l" t="t" r="r" b="b"/>
              <a:pathLst>
                <a:path w="2065740" h="1083733">
                  <a:moveTo>
                    <a:pt x="49353" y="0"/>
                  </a:moveTo>
                  <a:lnTo>
                    <a:pt x="2016387" y="0"/>
                  </a:lnTo>
                  <a:cubicBezTo>
                    <a:pt x="2043644" y="0"/>
                    <a:pt x="2065740" y="22096"/>
                    <a:pt x="2065740" y="49353"/>
                  </a:cubicBezTo>
                  <a:lnTo>
                    <a:pt x="2065740" y="1034380"/>
                  </a:lnTo>
                  <a:cubicBezTo>
                    <a:pt x="2065740" y="1061637"/>
                    <a:pt x="2043644" y="1083733"/>
                    <a:pt x="2016387" y="1083733"/>
                  </a:cubicBezTo>
                  <a:lnTo>
                    <a:pt x="49353" y="1083733"/>
                  </a:lnTo>
                  <a:cubicBezTo>
                    <a:pt x="22096" y="1083733"/>
                    <a:pt x="0" y="1061637"/>
                    <a:pt x="0" y="1034380"/>
                  </a:cubicBezTo>
                  <a:lnTo>
                    <a:pt x="0" y="49353"/>
                  </a:lnTo>
                  <a:cubicBezTo>
                    <a:pt x="0" y="22096"/>
                    <a:pt x="22096" y="0"/>
                    <a:pt x="49353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65740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15942" y="4492205"/>
            <a:ext cx="7843358" cy="4114800"/>
            <a:chOff x="0" y="0"/>
            <a:chExt cx="2065740" cy="10837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5740" cy="1083733"/>
            </a:xfrm>
            <a:custGeom>
              <a:avLst/>
              <a:gdLst/>
              <a:ahLst/>
              <a:cxnLst/>
              <a:rect l="l" t="t" r="r" b="b"/>
              <a:pathLst>
                <a:path w="2065740" h="1083733">
                  <a:moveTo>
                    <a:pt x="49353" y="0"/>
                  </a:moveTo>
                  <a:lnTo>
                    <a:pt x="2016387" y="0"/>
                  </a:lnTo>
                  <a:cubicBezTo>
                    <a:pt x="2043644" y="0"/>
                    <a:pt x="2065740" y="22096"/>
                    <a:pt x="2065740" y="49353"/>
                  </a:cubicBezTo>
                  <a:lnTo>
                    <a:pt x="2065740" y="1034380"/>
                  </a:lnTo>
                  <a:cubicBezTo>
                    <a:pt x="2065740" y="1061637"/>
                    <a:pt x="2043644" y="1083733"/>
                    <a:pt x="2016387" y="1083733"/>
                  </a:cubicBezTo>
                  <a:lnTo>
                    <a:pt x="49353" y="1083733"/>
                  </a:lnTo>
                  <a:cubicBezTo>
                    <a:pt x="22096" y="1083733"/>
                    <a:pt x="0" y="1061637"/>
                    <a:pt x="0" y="1034380"/>
                  </a:cubicBezTo>
                  <a:lnTo>
                    <a:pt x="0" y="49353"/>
                  </a:lnTo>
                  <a:cubicBezTo>
                    <a:pt x="0" y="22096"/>
                    <a:pt x="22096" y="0"/>
                    <a:pt x="49353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65740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45401" y="4913938"/>
            <a:ext cx="3797075" cy="1044196"/>
          </a:xfrm>
          <a:custGeom>
            <a:avLst/>
            <a:gdLst/>
            <a:ahLst/>
            <a:cxnLst/>
            <a:rect l="l" t="t" r="r" b="b"/>
            <a:pathLst>
              <a:path w="3797075" h="1044196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867584" y="3517877"/>
            <a:ext cx="3391716" cy="669864"/>
          </a:xfrm>
          <a:custGeom>
            <a:avLst/>
            <a:gdLst/>
            <a:ahLst/>
            <a:cxnLst/>
            <a:rect l="l" t="t" r="r" b="b"/>
            <a:pathLst>
              <a:path w="3391716" h="669864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0" y="9191625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2119" y="-236612"/>
            <a:ext cx="3242648" cy="4150792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494737" y="4913938"/>
            <a:ext cx="3797075" cy="1044196"/>
            <a:chOff x="0" y="0"/>
            <a:chExt cx="5062766" cy="13922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62766" cy="1392261"/>
            </a:xfrm>
            <a:custGeom>
              <a:avLst/>
              <a:gdLst/>
              <a:ahLst/>
              <a:cxnLst/>
              <a:rect l="l" t="t" r="r" b="b"/>
              <a:pathLst>
                <a:path w="5062766" h="1392261">
                  <a:moveTo>
                    <a:pt x="0" y="0"/>
                  </a:moveTo>
                  <a:lnTo>
                    <a:pt x="5062766" y="0"/>
                  </a:lnTo>
                  <a:lnTo>
                    <a:pt x="5062766" y="1392261"/>
                  </a:lnTo>
                  <a:lnTo>
                    <a:pt x="0" y="1392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595832" y="334180"/>
              <a:ext cx="3871102" cy="596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Rubik Semi-Bold"/>
                  <a:ea typeface="Rubik Semi-Bold"/>
                  <a:cs typeface="Rubik Semi-Bold"/>
                  <a:sym typeface="Rubik Semi-Bold"/>
                </a:rPr>
                <a:t>OBJETIVOS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830521"/>
            <a:ext cx="12308921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 MOTIVAÇÃO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371354"/>
            <a:ext cx="12308921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 motivação para o desenvolvimento desta aplicação surgiu da necessidade de simplificar processos burocráticos e descentralizados ainda comuns na área da saúde.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056980"/>
            <a:ext cx="7072690" cy="2176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just">
              <a:lnSpc>
                <a:spcPts val="347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Desenvolver um site para agendamento de consultas médicas de forma prática e rápida;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Promover o acesso à saúde com conforto e conveniência;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2275" y="5164573"/>
            <a:ext cx="29033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METAS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15942" y="6056980"/>
            <a:ext cx="7072690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Centralizar e otimizar todo o fluxo de agendamento;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Promover um cuidado mais eficiente e acessível;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1872" y="3250168"/>
            <a:ext cx="17284256" cy="2592814"/>
            <a:chOff x="0" y="0"/>
            <a:chExt cx="4552232" cy="682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52232" cy="682881"/>
            </a:xfrm>
            <a:custGeom>
              <a:avLst/>
              <a:gdLst/>
              <a:ahLst/>
              <a:cxnLst/>
              <a:rect l="l" t="t" r="r" b="b"/>
              <a:pathLst>
                <a:path w="4552232" h="682881">
                  <a:moveTo>
                    <a:pt x="34938" y="0"/>
                  </a:moveTo>
                  <a:lnTo>
                    <a:pt x="4517295" y="0"/>
                  </a:lnTo>
                  <a:cubicBezTo>
                    <a:pt x="4526561" y="0"/>
                    <a:pt x="4535447" y="3681"/>
                    <a:pt x="4541999" y="10233"/>
                  </a:cubicBezTo>
                  <a:cubicBezTo>
                    <a:pt x="4548551" y="16785"/>
                    <a:pt x="4552232" y="25672"/>
                    <a:pt x="4552232" y="34938"/>
                  </a:cubicBezTo>
                  <a:lnTo>
                    <a:pt x="4552232" y="647944"/>
                  </a:lnTo>
                  <a:cubicBezTo>
                    <a:pt x="4552232" y="667239"/>
                    <a:pt x="4536590" y="682881"/>
                    <a:pt x="4517295" y="682881"/>
                  </a:cubicBezTo>
                  <a:lnTo>
                    <a:pt x="34938" y="682881"/>
                  </a:lnTo>
                  <a:cubicBezTo>
                    <a:pt x="15642" y="682881"/>
                    <a:pt x="0" y="667239"/>
                    <a:pt x="0" y="647944"/>
                  </a:cubicBezTo>
                  <a:lnTo>
                    <a:pt x="0" y="34938"/>
                  </a:lnTo>
                  <a:cubicBezTo>
                    <a:pt x="0" y="15642"/>
                    <a:pt x="15642" y="0"/>
                    <a:pt x="3493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52232" cy="730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0" y="9263062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135472" y="3212907"/>
            <a:ext cx="1982423" cy="2159645"/>
            <a:chOff x="0" y="0"/>
            <a:chExt cx="2643230" cy="2879527"/>
          </a:xfrm>
        </p:grpSpPr>
        <p:sp>
          <p:nvSpPr>
            <p:cNvPr id="9" name="Freeform 9"/>
            <p:cNvSpPr/>
            <p:nvPr/>
          </p:nvSpPr>
          <p:spPr>
            <a:xfrm>
              <a:off x="427599" y="2014208"/>
              <a:ext cx="2215631" cy="692599"/>
            </a:xfrm>
            <a:custGeom>
              <a:avLst/>
              <a:gdLst/>
              <a:ahLst/>
              <a:cxnLst/>
              <a:rect l="l" t="t" r="r" b="b"/>
              <a:pathLst>
                <a:path w="2215631" h="692599">
                  <a:moveTo>
                    <a:pt x="0" y="0"/>
                  </a:moveTo>
                  <a:lnTo>
                    <a:pt x="2215631" y="0"/>
                  </a:lnTo>
                  <a:lnTo>
                    <a:pt x="2215631" y="692599"/>
                  </a:lnTo>
                  <a:lnTo>
                    <a:pt x="0" y="69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l="-29138" r="-291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78554" y="0"/>
              <a:ext cx="1471690" cy="2329344"/>
            </a:xfrm>
            <a:custGeom>
              <a:avLst/>
              <a:gdLst/>
              <a:ahLst/>
              <a:cxnLst/>
              <a:rect l="l" t="t" r="r" b="b"/>
              <a:pathLst>
                <a:path w="1471690" h="2329344">
                  <a:moveTo>
                    <a:pt x="0" y="0"/>
                  </a:moveTo>
                  <a:lnTo>
                    <a:pt x="1471690" y="0"/>
                  </a:lnTo>
                  <a:lnTo>
                    <a:pt x="1471690" y="2329344"/>
                  </a:lnTo>
                  <a:lnTo>
                    <a:pt x="0" y="232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138" r="-2913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2366870"/>
              <a:ext cx="2215631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Java 21+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702742" y="3349679"/>
            <a:ext cx="2630123" cy="2022872"/>
            <a:chOff x="0" y="0"/>
            <a:chExt cx="3506830" cy="2697163"/>
          </a:xfrm>
        </p:grpSpPr>
        <p:sp>
          <p:nvSpPr>
            <p:cNvPr id="13" name="Freeform 13"/>
            <p:cNvSpPr/>
            <p:nvPr/>
          </p:nvSpPr>
          <p:spPr>
            <a:xfrm>
              <a:off x="0" y="1549057"/>
              <a:ext cx="3506830" cy="692599"/>
            </a:xfrm>
            <a:custGeom>
              <a:avLst/>
              <a:gdLst/>
              <a:ahLst/>
              <a:cxnLst/>
              <a:rect l="l" t="t" r="r" b="b"/>
              <a:pathLst>
                <a:path w="3506830" h="692599">
                  <a:moveTo>
                    <a:pt x="0" y="0"/>
                  </a:moveTo>
                  <a:lnTo>
                    <a:pt x="3506830" y="0"/>
                  </a:lnTo>
                  <a:lnTo>
                    <a:pt x="3506830" y="692599"/>
                  </a:lnTo>
                  <a:lnTo>
                    <a:pt x="0" y="69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16662" y="0"/>
              <a:ext cx="2069104" cy="2069104"/>
            </a:xfrm>
            <a:custGeom>
              <a:avLst/>
              <a:gdLst/>
              <a:ahLst/>
              <a:cxnLst/>
              <a:rect l="l" t="t" r="r" b="b"/>
              <a:pathLst>
                <a:path w="2069104" h="2069104">
                  <a:moveTo>
                    <a:pt x="0" y="0"/>
                  </a:moveTo>
                  <a:lnTo>
                    <a:pt x="2069105" y="0"/>
                  </a:lnTo>
                  <a:lnTo>
                    <a:pt x="2069105" y="2069104"/>
                  </a:lnTo>
                  <a:lnTo>
                    <a:pt x="0" y="206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2184506"/>
              <a:ext cx="3506830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OpendJDK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523028" y="6138266"/>
            <a:ext cx="2736272" cy="2466714"/>
            <a:chOff x="0" y="0"/>
            <a:chExt cx="3648363" cy="3288952"/>
          </a:xfrm>
        </p:grpSpPr>
        <p:sp>
          <p:nvSpPr>
            <p:cNvPr id="17" name="Freeform 17"/>
            <p:cNvSpPr/>
            <p:nvPr/>
          </p:nvSpPr>
          <p:spPr>
            <a:xfrm>
              <a:off x="107359" y="1610571"/>
              <a:ext cx="2939805" cy="692599"/>
            </a:xfrm>
            <a:custGeom>
              <a:avLst/>
              <a:gdLst/>
              <a:ahLst/>
              <a:cxnLst/>
              <a:rect l="l" t="t" r="r" b="b"/>
              <a:pathLst>
                <a:path w="2939805" h="692599">
                  <a:moveTo>
                    <a:pt x="0" y="0"/>
                  </a:moveTo>
                  <a:lnTo>
                    <a:pt x="2939805" y="0"/>
                  </a:lnTo>
                  <a:lnTo>
                    <a:pt x="2939805" y="692599"/>
                  </a:lnTo>
                  <a:lnTo>
                    <a:pt x="0" y="69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l="-9643" r="-9643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3154523" cy="2118786"/>
            </a:xfrm>
            <a:custGeom>
              <a:avLst/>
              <a:gdLst/>
              <a:ahLst/>
              <a:cxnLst/>
              <a:rect l="l" t="t" r="r" b="b"/>
              <a:pathLst>
                <a:path w="3154523" h="2118786">
                  <a:moveTo>
                    <a:pt x="0" y="0"/>
                  </a:moveTo>
                  <a:lnTo>
                    <a:pt x="3154523" y="0"/>
                  </a:lnTo>
                  <a:lnTo>
                    <a:pt x="3154523" y="2118786"/>
                  </a:lnTo>
                  <a:lnTo>
                    <a:pt x="0" y="2118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643" r="-964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2242896"/>
              <a:ext cx="3648363" cy="1046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Spring framework - 3.5.7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913890" y="3349679"/>
            <a:ext cx="4040252" cy="2242393"/>
            <a:chOff x="0" y="0"/>
            <a:chExt cx="5387002" cy="2989857"/>
          </a:xfrm>
        </p:grpSpPr>
        <p:sp>
          <p:nvSpPr>
            <p:cNvPr id="21" name="Freeform 21"/>
            <p:cNvSpPr/>
            <p:nvPr/>
          </p:nvSpPr>
          <p:spPr>
            <a:xfrm>
              <a:off x="680336" y="1246838"/>
              <a:ext cx="3565389" cy="692599"/>
            </a:xfrm>
            <a:custGeom>
              <a:avLst/>
              <a:gdLst/>
              <a:ahLst/>
              <a:cxnLst/>
              <a:rect l="l" t="t" r="r" b="b"/>
              <a:pathLst>
                <a:path w="3565389" h="692599">
                  <a:moveTo>
                    <a:pt x="0" y="0"/>
                  </a:moveTo>
                  <a:lnTo>
                    <a:pt x="3565390" y="0"/>
                  </a:lnTo>
                  <a:lnTo>
                    <a:pt x="3565390" y="692599"/>
                  </a:lnTo>
                  <a:lnTo>
                    <a:pt x="0" y="69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t="-834" b="-834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2808" y="0"/>
              <a:ext cx="3122918" cy="1593137"/>
            </a:xfrm>
            <a:custGeom>
              <a:avLst/>
              <a:gdLst/>
              <a:ahLst/>
              <a:cxnLst/>
              <a:rect l="l" t="t" r="r" b="b"/>
              <a:pathLst>
                <a:path w="3122918" h="1593137">
                  <a:moveTo>
                    <a:pt x="0" y="0"/>
                  </a:moveTo>
                  <a:lnTo>
                    <a:pt x="3122918" y="0"/>
                  </a:lnTo>
                  <a:lnTo>
                    <a:pt x="3122918" y="1593137"/>
                  </a:lnTo>
                  <a:lnTo>
                    <a:pt x="0" y="1593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2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1943801"/>
              <a:ext cx="5387002" cy="1046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Banco de dados MySQL - 8.0.33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1872" y="6036570"/>
            <a:ext cx="17284256" cy="2592814"/>
            <a:chOff x="0" y="0"/>
            <a:chExt cx="4552232" cy="6828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52232" cy="682881"/>
            </a:xfrm>
            <a:custGeom>
              <a:avLst/>
              <a:gdLst/>
              <a:ahLst/>
              <a:cxnLst/>
              <a:rect l="l" t="t" r="r" b="b"/>
              <a:pathLst>
                <a:path w="4552232" h="682881">
                  <a:moveTo>
                    <a:pt x="34938" y="0"/>
                  </a:moveTo>
                  <a:lnTo>
                    <a:pt x="4517295" y="0"/>
                  </a:lnTo>
                  <a:cubicBezTo>
                    <a:pt x="4526561" y="0"/>
                    <a:pt x="4535447" y="3681"/>
                    <a:pt x="4541999" y="10233"/>
                  </a:cubicBezTo>
                  <a:cubicBezTo>
                    <a:pt x="4548551" y="16785"/>
                    <a:pt x="4552232" y="25672"/>
                    <a:pt x="4552232" y="34938"/>
                  </a:cubicBezTo>
                  <a:lnTo>
                    <a:pt x="4552232" y="647944"/>
                  </a:lnTo>
                  <a:cubicBezTo>
                    <a:pt x="4552232" y="667239"/>
                    <a:pt x="4536590" y="682881"/>
                    <a:pt x="4517295" y="682881"/>
                  </a:cubicBezTo>
                  <a:lnTo>
                    <a:pt x="34938" y="682881"/>
                  </a:lnTo>
                  <a:cubicBezTo>
                    <a:pt x="15642" y="682881"/>
                    <a:pt x="0" y="667239"/>
                    <a:pt x="0" y="647944"/>
                  </a:cubicBezTo>
                  <a:lnTo>
                    <a:pt x="0" y="34938"/>
                  </a:lnTo>
                  <a:cubicBezTo>
                    <a:pt x="0" y="15642"/>
                    <a:pt x="15642" y="0"/>
                    <a:pt x="3493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4552232" cy="730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398157" y="3573551"/>
            <a:ext cx="2674042" cy="1910946"/>
            <a:chOff x="0" y="0"/>
            <a:chExt cx="3565389" cy="2547928"/>
          </a:xfrm>
        </p:grpSpPr>
        <p:sp>
          <p:nvSpPr>
            <p:cNvPr id="28" name="Freeform 28"/>
            <p:cNvSpPr/>
            <p:nvPr/>
          </p:nvSpPr>
          <p:spPr>
            <a:xfrm>
              <a:off x="0" y="1446626"/>
              <a:ext cx="3565389" cy="692599"/>
            </a:xfrm>
            <a:custGeom>
              <a:avLst/>
              <a:gdLst/>
              <a:ahLst/>
              <a:cxnLst/>
              <a:rect l="l" t="t" r="r" b="b"/>
              <a:pathLst>
                <a:path w="3565389" h="692599">
                  <a:moveTo>
                    <a:pt x="0" y="0"/>
                  </a:moveTo>
                  <a:lnTo>
                    <a:pt x="3565389" y="0"/>
                  </a:lnTo>
                  <a:lnTo>
                    <a:pt x="3565389" y="692599"/>
                  </a:lnTo>
                  <a:lnTo>
                    <a:pt x="0" y="69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t="-834" b="-834"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727694" y="0"/>
              <a:ext cx="1938003" cy="1938003"/>
            </a:xfrm>
            <a:custGeom>
              <a:avLst/>
              <a:gdLst/>
              <a:ahLst/>
              <a:cxnLst/>
              <a:rect l="l" t="t" r="r" b="b"/>
              <a:pathLst>
                <a:path w="1938003" h="1938003">
                  <a:moveTo>
                    <a:pt x="0" y="0"/>
                  </a:moveTo>
                  <a:lnTo>
                    <a:pt x="1938003" y="0"/>
                  </a:lnTo>
                  <a:lnTo>
                    <a:pt x="1938003" y="1938003"/>
                  </a:lnTo>
                  <a:lnTo>
                    <a:pt x="0" y="1938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642123" y="2035271"/>
              <a:ext cx="2109146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HTML5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299434" y="3573551"/>
            <a:ext cx="2674042" cy="1946048"/>
            <a:chOff x="0" y="0"/>
            <a:chExt cx="3565389" cy="2594731"/>
          </a:xfrm>
        </p:grpSpPr>
        <p:sp>
          <p:nvSpPr>
            <p:cNvPr id="32" name="Freeform 32"/>
            <p:cNvSpPr/>
            <p:nvPr/>
          </p:nvSpPr>
          <p:spPr>
            <a:xfrm>
              <a:off x="1093521" y="0"/>
              <a:ext cx="1417240" cy="1999517"/>
            </a:xfrm>
            <a:custGeom>
              <a:avLst/>
              <a:gdLst/>
              <a:ahLst/>
              <a:cxnLst/>
              <a:rect l="l" t="t" r="r" b="b"/>
              <a:pathLst>
                <a:path w="1417240" h="1999517">
                  <a:moveTo>
                    <a:pt x="0" y="0"/>
                  </a:moveTo>
                  <a:lnTo>
                    <a:pt x="1417240" y="0"/>
                  </a:lnTo>
                  <a:lnTo>
                    <a:pt x="1417240" y="1999517"/>
                  </a:lnTo>
                  <a:lnTo>
                    <a:pt x="0" y="199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0" y="1446626"/>
              <a:ext cx="3565389" cy="692599"/>
            </a:xfrm>
            <a:custGeom>
              <a:avLst/>
              <a:gdLst/>
              <a:ahLst/>
              <a:cxnLst/>
              <a:rect l="l" t="t" r="r" b="b"/>
              <a:pathLst>
                <a:path w="3565389" h="692599">
                  <a:moveTo>
                    <a:pt x="0" y="0"/>
                  </a:moveTo>
                  <a:lnTo>
                    <a:pt x="3565389" y="0"/>
                  </a:lnTo>
                  <a:lnTo>
                    <a:pt x="3565389" y="692599"/>
                  </a:lnTo>
                  <a:lnTo>
                    <a:pt x="0" y="69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t="-834" b="-83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747568" y="2082075"/>
              <a:ext cx="2109146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CSS3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8700" y="6525998"/>
            <a:ext cx="2674042" cy="1840028"/>
            <a:chOff x="0" y="0"/>
            <a:chExt cx="3565389" cy="2453370"/>
          </a:xfrm>
        </p:grpSpPr>
        <p:sp>
          <p:nvSpPr>
            <p:cNvPr id="36" name="Freeform 36"/>
            <p:cNvSpPr/>
            <p:nvPr/>
          </p:nvSpPr>
          <p:spPr>
            <a:xfrm>
              <a:off x="922159" y="0"/>
              <a:ext cx="1799950" cy="1799950"/>
            </a:xfrm>
            <a:custGeom>
              <a:avLst/>
              <a:gdLst/>
              <a:ahLst/>
              <a:cxnLst/>
              <a:rect l="l" t="t" r="r" b="b"/>
              <a:pathLst>
                <a:path w="1799950" h="1799950">
                  <a:moveTo>
                    <a:pt x="0" y="0"/>
                  </a:moveTo>
                  <a:lnTo>
                    <a:pt x="1799950" y="0"/>
                  </a:lnTo>
                  <a:lnTo>
                    <a:pt x="1799950" y="1799950"/>
                  </a:lnTo>
                  <a:lnTo>
                    <a:pt x="0" y="1799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612964" y="1940714"/>
              <a:ext cx="2109146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JS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1453651"/>
              <a:ext cx="3565389" cy="692599"/>
            </a:xfrm>
            <a:custGeom>
              <a:avLst/>
              <a:gdLst/>
              <a:ahLst/>
              <a:cxnLst/>
              <a:rect l="l" t="t" r="r" b="b"/>
              <a:pathLst>
                <a:path w="3565389" h="692599">
                  <a:moveTo>
                    <a:pt x="0" y="0"/>
                  </a:moveTo>
                  <a:lnTo>
                    <a:pt x="3565389" y="0"/>
                  </a:lnTo>
                  <a:lnTo>
                    <a:pt x="3565389" y="692599"/>
                  </a:lnTo>
                  <a:lnTo>
                    <a:pt x="0" y="69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t="-834" b="-834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4524986" y="6525998"/>
            <a:ext cx="2674042" cy="1840028"/>
            <a:chOff x="0" y="0"/>
            <a:chExt cx="3565389" cy="2453370"/>
          </a:xfrm>
        </p:grpSpPr>
        <p:sp>
          <p:nvSpPr>
            <p:cNvPr id="40" name="TextBox 40"/>
            <p:cNvSpPr txBox="1"/>
            <p:nvPr/>
          </p:nvSpPr>
          <p:spPr>
            <a:xfrm>
              <a:off x="601586" y="1940714"/>
              <a:ext cx="2109146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Thymeleaf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1462467"/>
              <a:ext cx="3565389" cy="796519"/>
            </a:xfrm>
            <a:custGeom>
              <a:avLst/>
              <a:gdLst/>
              <a:ahLst/>
              <a:cxnLst/>
              <a:rect l="l" t="t" r="r" b="b"/>
              <a:pathLst>
                <a:path w="3565389" h="796519">
                  <a:moveTo>
                    <a:pt x="0" y="0"/>
                  </a:moveTo>
                  <a:lnTo>
                    <a:pt x="3565389" y="0"/>
                  </a:lnTo>
                  <a:lnTo>
                    <a:pt x="3565389" y="796519"/>
                  </a:lnTo>
                  <a:lnTo>
                    <a:pt x="0" y="79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l="-7026" t="-828" r="-7026"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854657" y="0"/>
              <a:ext cx="1856075" cy="1860727"/>
            </a:xfrm>
            <a:custGeom>
              <a:avLst/>
              <a:gdLst/>
              <a:ahLst/>
              <a:cxnLst/>
              <a:rect l="l" t="t" r="r" b="b"/>
              <a:pathLst>
                <a:path w="1856075" h="1860727">
                  <a:moveTo>
                    <a:pt x="0" y="0"/>
                  </a:moveTo>
                  <a:lnTo>
                    <a:pt x="1856075" y="0"/>
                  </a:lnTo>
                  <a:lnTo>
                    <a:pt x="1856075" y="1860727"/>
                  </a:lnTo>
                  <a:lnTo>
                    <a:pt x="0" y="1860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7856253" y="6525998"/>
            <a:ext cx="2674042" cy="1840028"/>
            <a:chOff x="0" y="0"/>
            <a:chExt cx="3565389" cy="2453370"/>
          </a:xfrm>
        </p:grpSpPr>
        <p:sp>
          <p:nvSpPr>
            <p:cNvPr id="44" name="TextBox 44"/>
            <p:cNvSpPr txBox="1"/>
            <p:nvPr/>
          </p:nvSpPr>
          <p:spPr>
            <a:xfrm>
              <a:off x="656926" y="1940714"/>
              <a:ext cx="2109146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Maven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471283"/>
              <a:ext cx="3565389" cy="796519"/>
            </a:xfrm>
            <a:custGeom>
              <a:avLst/>
              <a:gdLst/>
              <a:ahLst/>
              <a:cxnLst/>
              <a:rect l="l" t="t" r="r" b="b"/>
              <a:pathLst>
                <a:path w="3565389" h="796519">
                  <a:moveTo>
                    <a:pt x="0" y="0"/>
                  </a:moveTo>
                  <a:lnTo>
                    <a:pt x="3565389" y="0"/>
                  </a:lnTo>
                  <a:lnTo>
                    <a:pt x="3565389" y="796520"/>
                  </a:lnTo>
                  <a:lnTo>
                    <a:pt x="0" y="796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l="-7026" t="-828" r="-7026"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656926" y="0"/>
              <a:ext cx="2289982" cy="1799950"/>
            </a:xfrm>
            <a:custGeom>
              <a:avLst/>
              <a:gdLst/>
              <a:ahLst/>
              <a:cxnLst/>
              <a:rect l="l" t="t" r="r" b="b"/>
              <a:pathLst>
                <a:path w="2289982" h="1799950">
                  <a:moveTo>
                    <a:pt x="0" y="0"/>
                  </a:moveTo>
                  <a:lnTo>
                    <a:pt x="2289982" y="0"/>
                  </a:lnTo>
                  <a:lnTo>
                    <a:pt x="2289982" y="1799950"/>
                  </a:lnTo>
                  <a:lnTo>
                    <a:pt x="0" y="1799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4801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1187520" y="6347807"/>
            <a:ext cx="2674042" cy="2018218"/>
            <a:chOff x="0" y="0"/>
            <a:chExt cx="3565389" cy="2690958"/>
          </a:xfrm>
        </p:grpSpPr>
        <p:sp>
          <p:nvSpPr>
            <p:cNvPr id="48" name="Freeform 48"/>
            <p:cNvSpPr/>
            <p:nvPr/>
          </p:nvSpPr>
          <p:spPr>
            <a:xfrm>
              <a:off x="515719" y="0"/>
              <a:ext cx="2390716" cy="2390716"/>
            </a:xfrm>
            <a:custGeom>
              <a:avLst/>
              <a:gdLst/>
              <a:ahLst/>
              <a:cxnLst/>
              <a:rect l="l" t="t" r="r" b="b"/>
              <a:pathLst>
                <a:path w="2390716" h="2390716">
                  <a:moveTo>
                    <a:pt x="0" y="0"/>
                  </a:moveTo>
                  <a:lnTo>
                    <a:pt x="2390716" y="0"/>
                  </a:lnTo>
                  <a:lnTo>
                    <a:pt x="2390716" y="2390716"/>
                  </a:lnTo>
                  <a:lnTo>
                    <a:pt x="0" y="2390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0" y="1666685"/>
              <a:ext cx="3565389" cy="796519"/>
            </a:xfrm>
            <a:custGeom>
              <a:avLst/>
              <a:gdLst/>
              <a:ahLst/>
              <a:cxnLst/>
              <a:rect l="l" t="t" r="r" b="b"/>
              <a:pathLst>
                <a:path w="3565389" h="796519">
                  <a:moveTo>
                    <a:pt x="0" y="0"/>
                  </a:moveTo>
                  <a:lnTo>
                    <a:pt x="3565389" y="0"/>
                  </a:lnTo>
                  <a:lnTo>
                    <a:pt x="3565389" y="796520"/>
                  </a:lnTo>
                  <a:lnTo>
                    <a:pt x="0" y="796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l="-7026" t="-828" r="-702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728122" y="2178301"/>
              <a:ext cx="2109146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Chart.js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2579041" y="1250761"/>
            <a:ext cx="13693296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TECNOLOGIAS UTILIZADAS</a:t>
            </a:r>
          </a:p>
        </p:txBody>
      </p:sp>
      <p:sp>
        <p:nvSpPr>
          <p:cNvPr id="52" name="AutoShape 52"/>
          <p:cNvSpPr/>
          <p:nvPr/>
        </p:nvSpPr>
        <p:spPr>
          <a:xfrm>
            <a:off x="0" y="9263062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9415463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17796" y="405284"/>
            <a:ext cx="5897168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DIAGRAMAS DE CLASSE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17954" y="329084"/>
            <a:ext cx="4404065" cy="3006087"/>
            <a:chOff x="0" y="0"/>
            <a:chExt cx="5872087" cy="400811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872087" cy="4008117"/>
              <a:chOff x="0" y="0"/>
              <a:chExt cx="1159918" cy="79172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59918" cy="791727"/>
              </a:xfrm>
              <a:custGeom>
                <a:avLst/>
                <a:gdLst/>
                <a:ahLst/>
                <a:cxnLst/>
                <a:rect l="l" t="t" r="r" b="b"/>
                <a:pathLst>
                  <a:path w="1159918" h="791727">
                    <a:moveTo>
                      <a:pt x="137116" y="0"/>
                    </a:moveTo>
                    <a:lnTo>
                      <a:pt x="1022802" y="0"/>
                    </a:lnTo>
                    <a:cubicBezTo>
                      <a:pt x="1098529" y="0"/>
                      <a:pt x="1159918" y="61389"/>
                      <a:pt x="1159918" y="137116"/>
                    </a:cubicBezTo>
                    <a:lnTo>
                      <a:pt x="1159918" y="654610"/>
                    </a:lnTo>
                    <a:cubicBezTo>
                      <a:pt x="1159918" y="730338"/>
                      <a:pt x="1098529" y="791727"/>
                      <a:pt x="1022802" y="791727"/>
                    </a:cubicBezTo>
                    <a:lnTo>
                      <a:pt x="137116" y="791727"/>
                    </a:lnTo>
                    <a:cubicBezTo>
                      <a:pt x="61389" y="791727"/>
                      <a:pt x="0" y="730338"/>
                      <a:pt x="0" y="654610"/>
                    </a:cubicBezTo>
                    <a:lnTo>
                      <a:pt x="0" y="137116"/>
                    </a:lnTo>
                    <a:cubicBezTo>
                      <a:pt x="0" y="61389"/>
                      <a:pt x="61389" y="0"/>
                      <a:pt x="137116" y="0"/>
                    </a:cubicBezTo>
                    <a:close/>
                  </a:path>
                </a:pathLst>
              </a:custGeom>
              <a:solidFill>
                <a:srgbClr val="6D85FF">
                  <a:alpha val="2980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159918" cy="8393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1890222"/>
              <a:ext cx="5872087" cy="2117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4393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ID: Long</a:t>
              </a:r>
            </a:p>
            <a:p>
              <a:pPr marL="561339" lvl="1" indent="-280669" algn="l">
                <a:lnSpc>
                  <a:spcPts val="4393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Nome: String</a:t>
              </a:r>
            </a:p>
            <a:p>
              <a:pPr algn="l">
                <a:lnSpc>
                  <a:spcPts val="4393"/>
                </a:lnSpc>
              </a:pPr>
              <a:endParaRPr lang="en-US" sz="25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404660" y="440696"/>
              <a:ext cx="5062766" cy="1392261"/>
            </a:xfrm>
            <a:custGeom>
              <a:avLst/>
              <a:gdLst/>
              <a:ahLst/>
              <a:cxnLst/>
              <a:rect l="l" t="t" r="r" b="b"/>
              <a:pathLst>
                <a:path w="5062766" h="1392261">
                  <a:moveTo>
                    <a:pt x="0" y="0"/>
                  </a:moveTo>
                  <a:lnTo>
                    <a:pt x="5062766" y="0"/>
                  </a:lnTo>
                  <a:lnTo>
                    <a:pt x="5062766" y="1392260"/>
                  </a:lnTo>
                  <a:lnTo>
                    <a:pt x="0" y="1392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839016" y="838376"/>
              <a:ext cx="4194054" cy="596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Rubik Semi-Bold"/>
                  <a:ea typeface="Rubik Semi-Bold"/>
                  <a:cs typeface="Rubik Semi-Bold"/>
                  <a:sym typeface="Rubik Semi-Bold"/>
                </a:rPr>
                <a:t>ESPECIALIDADE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17796" y="1571491"/>
            <a:ext cx="4404065" cy="7624897"/>
            <a:chOff x="0" y="0"/>
            <a:chExt cx="5872087" cy="1016652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872087" cy="10166529"/>
              <a:chOff x="0" y="0"/>
              <a:chExt cx="1159918" cy="200820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159918" cy="2008203"/>
              </a:xfrm>
              <a:custGeom>
                <a:avLst/>
                <a:gdLst/>
                <a:ahLst/>
                <a:cxnLst/>
                <a:rect l="l" t="t" r="r" b="b"/>
                <a:pathLst>
                  <a:path w="1159918" h="2008203">
                    <a:moveTo>
                      <a:pt x="137116" y="0"/>
                    </a:moveTo>
                    <a:lnTo>
                      <a:pt x="1022802" y="0"/>
                    </a:lnTo>
                    <a:cubicBezTo>
                      <a:pt x="1098529" y="0"/>
                      <a:pt x="1159918" y="61389"/>
                      <a:pt x="1159918" y="137116"/>
                    </a:cubicBezTo>
                    <a:lnTo>
                      <a:pt x="1159918" y="1871087"/>
                    </a:lnTo>
                    <a:cubicBezTo>
                      <a:pt x="1159918" y="1946814"/>
                      <a:pt x="1098529" y="2008203"/>
                      <a:pt x="1022802" y="2008203"/>
                    </a:cubicBezTo>
                    <a:lnTo>
                      <a:pt x="137116" y="2008203"/>
                    </a:lnTo>
                    <a:cubicBezTo>
                      <a:pt x="61389" y="2008203"/>
                      <a:pt x="0" y="1946814"/>
                      <a:pt x="0" y="1871087"/>
                    </a:cubicBezTo>
                    <a:lnTo>
                      <a:pt x="0" y="137116"/>
                    </a:lnTo>
                    <a:cubicBezTo>
                      <a:pt x="0" y="61389"/>
                      <a:pt x="61389" y="0"/>
                      <a:pt x="137116" y="0"/>
                    </a:cubicBezTo>
                    <a:close/>
                  </a:path>
                </a:pathLst>
              </a:custGeom>
              <a:solidFill>
                <a:srgbClr val="6D85FF">
                  <a:alpha val="29804"/>
                </a:srgbClr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159918" cy="20558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1814022"/>
              <a:ext cx="5872087" cy="6769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ID: Long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Nome: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Email: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Senha: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FotoPerfil: Byte[]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CódigoLogin: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ResetToken: String</a:t>
              </a:r>
            </a:p>
            <a:p>
              <a:pPr algn="l">
                <a:lnSpc>
                  <a:spcPts val="5121"/>
                </a:lnSpc>
              </a:pPr>
              <a:endParaRPr lang="en-US" sz="25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04660" y="440696"/>
              <a:ext cx="5062766" cy="1392261"/>
            </a:xfrm>
            <a:custGeom>
              <a:avLst/>
              <a:gdLst/>
              <a:ahLst/>
              <a:cxnLst/>
              <a:rect l="l" t="t" r="r" b="b"/>
              <a:pathLst>
                <a:path w="5062766" h="1392261">
                  <a:moveTo>
                    <a:pt x="0" y="0"/>
                  </a:moveTo>
                  <a:lnTo>
                    <a:pt x="5062766" y="0"/>
                  </a:lnTo>
                  <a:lnTo>
                    <a:pt x="5062766" y="1392260"/>
                  </a:lnTo>
                  <a:lnTo>
                    <a:pt x="0" y="1392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000492" y="774876"/>
              <a:ext cx="3871102" cy="596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Rubik Semi-Bold"/>
                  <a:ea typeface="Rubik Semi-Bold"/>
                  <a:cs typeface="Rubik Semi-Bold"/>
                  <a:sym typeface="Rubik Semi-Bold"/>
                </a:rPr>
                <a:t>REGISTRO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986772"/>
              <a:ext cx="5872087" cy="12483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3847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ResetTokenExpiryDate: LocalDateTime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96847" y="6100034"/>
            <a:ext cx="4646279" cy="3558537"/>
            <a:chOff x="0" y="0"/>
            <a:chExt cx="6195039" cy="474471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195039" cy="4424382"/>
              <a:chOff x="0" y="0"/>
              <a:chExt cx="1223711" cy="87395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23711" cy="873952"/>
              </a:xfrm>
              <a:custGeom>
                <a:avLst/>
                <a:gdLst/>
                <a:ahLst/>
                <a:cxnLst/>
                <a:rect l="l" t="t" r="r" b="b"/>
                <a:pathLst>
                  <a:path w="1223711" h="873952">
                    <a:moveTo>
                      <a:pt x="129968" y="0"/>
                    </a:moveTo>
                    <a:lnTo>
                      <a:pt x="1093743" y="0"/>
                    </a:lnTo>
                    <a:cubicBezTo>
                      <a:pt x="1128213" y="0"/>
                      <a:pt x="1161271" y="13693"/>
                      <a:pt x="1185645" y="38067"/>
                    </a:cubicBezTo>
                    <a:cubicBezTo>
                      <a:pt x="1210018" y="62441"/>
                      <a:pt x="1223711" y="95499"/>
                      <a:pt x="1223711" y="129968"/>
                    </a:cubicBezTo>
                    <a:lnTo>
                      <a:pt x="1223711" y="743984"/>
                    </a:lnTo>
                    <a:cubicBezTo>
                      <a:pt x="1223711" y="815763"/>
                      <a:pt x="1165523" y="873952"/>
                      <a:pt x="1093743" y="873952"/>
                    </a:cubicBezTo>
                    <a:lnTo>
                      <a:pt x="129968" y="873952"/>
                    </a:lnTo>
                    <a:cubicBezTo>
                      <a:pt x="95499" y="873952"/>
                      <a:pt x="62441" y="860259"/>
                      <a:pt x="38067" y="835885"/>
                    </a:cubicBezTo>
                    <a:cubicBezTo>
                      <a:pt x="13693" y="811511"/>
                      <a:pt x="0" y="778453"/>
                      <a:pt x="0" y="743984"/>
                    </a:cubicBezTo>
                    <a:lnTo>
                      <a:pt x="0" y="129968"/>
                    </a:lnTo>
                    <a:cubicBezTo>
                      <a:pt x="0" y="58189"/>
                      <a:pt x="58189" y="0"/>
                      <a:pt x="129968" y="0"/>
                    </a:cubicBezTo>
                    <a:close/>
                  </a:path>
                </a:pathLst>
              </a:custGeom>
              <a:solidFill>
                <a:srgbClr val="6D85FF">
                  <a:alpha val="29804"/>
                </a:srgbClr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1223711" cy="9215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1890222"/>
              <a:ext cx="6195039" cy="2854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4393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ID: Long</a:t>
              </a:r>
            </a:p>
            <a:p>
              <a:pPr marL="561339" lvl="1" indent="-280669" algn="l">
                <a:lnSpc>
                  <a:spcPts val="4393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dataHora: LocalDateTime</a:t>
              </a:r>
            </a:p>
            <a:p>
              <a:pPr marL="561339" lvl="1" indent="-280669" algn="l">
                <a:lnSpc>
                  <a:spcPts val="4393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Observações: String</a:t>
              </a:r>
            </a:p>
            <a:p>
              <a:pPr algn="l">
                <a:lnSpc>
                  <a:spcPts val="4393"/>
                </a:lnSpc>
              </a:pPr>
              <a:endParaRPr lang="en-US" sz="25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426916" y="440696"/>
              <a:ext cx="5341207" cy="1392261"/>
            </a:xfrm>
            <a:custGeom>
              <a:avLst/>
              <a:gdLst/>
              <a:ahLst/>
              <a:cxnLst/>
              <a:rect l="l" t="t" r="r" b="b"/>
              <a:pathLst>
                <a:path w="5341207" h="1392261">
                  <a:moveTo>
                    <a:pt x="0" y="0"/>
                  </a:moveTo>
                  <a:lnTo>
                    <a:pt x="5341207" y="0"/>
                  </a:lnTo>
                  <a:lnTo>
                    <a:pt x="5341207" y="1392260"/>
                  </a:lnTo>
                  <a:lnTo>
                    <a:pt x="0" y="1392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49" b="-274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885160" y="838376"/>
              <a:ext cx="4424718" cy="596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Rubik Semi-Bold"/>
                  <a:ea typeface="Rubik Semi-Bold"/>
                  <a:cs typeface="Rubik Semi-Bold"/>
                  <a:sym typeface="Rubik Semi-Bold"/>
                </a:rPr>
                <a:t>CONSULTA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271289" y="329084"/>
            <a:ext cx="4636449" cy="6437882"/>
            <a:chOff x="0" y="0"/>
            <a:chExt cx="6181932" cy="8583842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6181932" cy="8104584"/>
              <a:chOff x="0" y="0"/>
              <a:chExt cx="1221122" cy="160090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221122" cy="1600905"/>
              </a:xfrm>
              <a:custGeom>
                <a:avLst/>
                <a:gdLst/>
                <a:ahLst/>
                <a:cxnLst/>
                <a:rect l="l" t="t" r="r" b="b"/>
                <a:pathLst>
                  <a:path w="1221122" h="1600905">
                    <a:moveTo>
                      <a:pt x="130244" y="0"/>
                    </a:moveTo>
                    <a:lnTo>
                      <a:pt x="1090878" y="0"/>
                    </a:lnTo>
                    <a:cubicBezTo>
                      <a:pt x="1125421" y="0"/>
                      <a:pt x="1158549" y="13722"/>
                      <a:pt x="1182975" y="38148"/>
                    </a:cubicBezTo>
                    <a:cubicBezTo>
                      <a:pt x="1207400" y="62573"/>
                      <a:pt x="1221122" y="95701"/>
                      <a:pt x="1221122" y="130244"/>
                    </a:cubicBezTo>
                    <a:lnTo>
                      <a:pt x="1221122" y="1470661"/>
                    </a:lnTo>
                    <a:cubicBezTo>
                      <a:pt x="1221122" y="1542593"/>
                      <a:pt x="1162810" y="1600905"/>
                      <a:pt x="1090878" y="1600905"/>
                    </a:cubicBezTo>
                    <a:lnTo>
                      <a:pt x="130244" y="1600905"/>
                    </a:lnTo>
                    <a:cubicBezTo>
                      <a:pt x="95701" y="1600905"/>
                      <a:pt x="62573" y="1587183"/>
                      <a:pt x="38148" y="1562758"/>
                    </a:cubicBezTo>
                    <a:cubicBezTo>
                      <a:pt x="13722" y="1538332"/>
                      <a:pt x="0" y="1505204"/>
                      <a:pt x="0" y="1470661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6D85FF">
                  <a:alpha val="29804"/>
                </a:srgbClr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1221122" cy="16485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1814022"/>
              <a:ext cx="6181932" cy="6769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ID: Long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Nome: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CPF: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Idade: int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Alergias: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HistóricoCirurgias: String</a:t>
              </a:r>
            </a:p>
            <a:p>
              <a:pPr marL="561339" lvl="1" indent="-280669" algn="l">
                <a:lnSpc>
                  <a:spcPts val="5121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Observações: String</a:t>
              </a:r>
            </a:p>
            <a:p>
              <a:pPr algn="l">
                <a:lnSpc>
                  <a:spcPts val="5121"/>
                </a:lnSpc>
              </a:pPr>
              <a:endParaRPr lang="en-US" sz="25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426013" y="440696"/>
              <a:ext cx="5329907" cy="1392261"/>
            </a:xfrm>
            <a:custGeom>
              <a:avLst/>
              <a:gdLst/>
              <a:ahLst/>
              <a:cxnLst/>
              <a:rect l="l" t="t" r="r" b="b"/>
              <a:pathLst>
                <a:path w="5329907" h="1392261">
                  <a:moveTo>
                    <a:pt x="0" y="0"/>
                  </a:moveTo>
                  <a:lnTo>
                    <a:pt x="5329907" y="0"/>
                  </a:lnTo>
                  <a:lnTo>
                    <a:pt x="5329907" y="1392260"/>
                  </a:lnTo>
                  <a:lnTo>
                    <a:pt x="0" y="1392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38" b="-263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053284" y="774876"/>
              <a:ext cx="4075364" cy="596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Rubik Semi-Bold"/>
                  <a:ea typeface="Rubik Semi-Bold"/>
                  <a:cs typeface="Rubik Semi-Bold"/>
                  <a:sym typeface="Rubik Semi-Bold"/>
                </a:rPr>
                <a:t>PACIENTE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H="1" flipV="1">
            <a:off x="5595441" y="2144496"/>
            <a:ext cx="110097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>
            <a:off x="5595441" y="2144496"/>
            <a:ext cx="0" cy="242649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 flipH="1">
            <a:off x="4921861" y="4570994"/>
            <a:ext cx="67357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4921861" y="5364052"/>
            <a:ext cx="1668189" cy="2455067"/>
            <a:chOff x="0" y="0"/>
            <a:chExt cx="2224252" cy="3273423"/>
          </a:xfrm>
        </p:grpSpPr>
        <p:sp>
          <p:nvSpPr>
            <p:cNvPr id="39" name="AutoShape 39"/>
            <p:cNvSpPr/>
            <p:nvPr/>
          </p:nvSpPr>
          <p:spPr>
            <a:xfrm flipH="1" flipV="1">
              <a:off x="359" y="25397"/>
              <a:ext cx="898984" cy="127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924743" y="12697"/>
              <a:ext cx="0" cy="323533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 flipH="1" flipV="1">
              <a:off x="898465" y="3222628"/>
              <a:ext cx="1325300" cy="254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arrow" w="med" len="sm"/>
              <a:tailEnd type="none" w="sm" len="sm"/>
            </a:ln>
          </p:spPr>
        </p:sp>
      </p:grpSp>
      <p:sp>
        <p:nvSpPr>
          <p:cNvPr id="42" name="AutoShape 42"/>
          <p:cNvSpPr/>
          <p:nvPr/>
        </p:nvSpPr>
        <p:spPr>
          <a:xfrm flipH="1" flipV="1">
            <a:off x="4921861" y="5162550"/>
            <a:ext cx="841576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flipH="1">
            <a:off x="9144000" y="4570994"/>
            <a:ext cx="0" cy="128766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4" name="AutoShape 44"/>
          <p:cNvSpPr/>
          <p:nvPr/>
        </p:nvSpPr>
        <p:spPr>
          <a:xfrm flipH="1">
            <a:off x="9144000" y="4570994"/>
            <a:ext cx="41272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>
            <a:off x="13271289" y="4130586"/>
            <a:ext cx="0" cy="103196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25876" y="95631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58260" y="96812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52400" y="9348788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1913179" y="7092088"/>
            <a:ext cx="4337315" cy="856620"/>
          </a:xfrm>
          <a:custGeom>
            <a:avLst/>
            <a:gdLst/>
            <a:ahLst/>
            <a:cxnLst/>
            <a:rect l="l" t="t" r="r" b="b"/>
            <a:pathLst>
              <a:path w="4337315" h="856620">
                <a:moveTo>
                  <a:pt x="0" y="0"/>
                </a:moveTo>
                <a:lnTo>
                  <a:pt x="4337314" y="0"/>
                </a:lnTo>
                <a:lnTo>
                  <a:pt x="4337314" y="856619"/>
                </a:lnTo>
                <a:lnTo>
                  <a:pt x="0" y="856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8835" y="2632612"/>
            <a:ext cx="5242363" cy="533212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251672" y="3833507"/>
            <a:ext cx="7522322" cy="282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TABELAS TÉCNICAS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9191625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54874" y="3753679"/>
            <a:ext cx="17378252" cy="1778909"/>
            <a:chOff x="0" y="0"/>
            <a:chExt cx="23171003" cy="2371878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0" y="0"/>
              <a:ext cx="23171003" cy="2371878"/>
              <a:chOff x="0" y="0"/>
              <a:chExt cx="9558960" cy="97849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3500" y="63500"/>
                <a:ext cx="9431909" cy="290068"/>
              </a:xfrm>
              <a:custGeom>
                <a:avLst/>
                <a:gdLst/>
                <a:ahLst/>
                <a:cxnLst/>
                <a:rect l="l" t="t" r="r" b="b"/>
                <a:pathLst>
                  <a:path w="9431909" h="290068">
                    <a:moveTo>
                      <a:pt x="0" y="0"/>
                    </a:moveTo>
                    <a:lnTo>
                      <a:pt x="9431909" y="0"/>
                    </a:lnTo>
                    <a:lnTo>
                      <a:pt x="9431909" y="290068"/>
                    </a:lnTo>
                    <a:lnTo>
                      <a:pt x="0" y="2900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8" name="Freeform 8"/>
              <p:cNvSpPr/>
              <p:nvPr/>
            </p:nvSpPr>
            <p:spPr>
              <a:xfrm>
                <a:off x="63500" y="344170"/>
                <a:ext cx="9431909" cy="290068"/>
              </a:xfrm>
              <a:custGeom>
                <a:avLst/>
                <a:gdLst/>
                <a:ahLst/>
                <a:cxnLst/>
                <a:rect l="l" t="t" r="r" b="b"/>
                <a:pathLst>
                  <a:path w="9431909" h="290068">
                    <a:moveTo>
                      <a:pt x="0" y="0"/>
                    </a:moveTo>
                    <a:lnTo>
                      <a:pt x="9431909" y="0"/>
                    </a:lnTo>
                    <a:lnTo>
                      <a:pt x="9431909" y="290068"/>
                    </a:lnTo>
                    <a:lnTo>
                      <a:pt x="0" y="2900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63500" y="624967"/>
                <a:ext cx="9431909" cy="290068"/>
              </a:xfrm>
              <a:custGeom>
                <a:avLst/>
                <a:gdLst/>
                <a:ahLst/>
                <a:cxnLst/>
                <a:rect l="l" t="t" r="r" b="b"/>
                <a:pathLst>
                  <a:path w="9431909" h="290068">
                    <a:moveTo>
                      <a:pt x="0" y="0"/>
                    </a:moveTo>
                    <a:lnTo>
                      <a:pt x="9431909" y="0"/>
                    </a:lnTo>
                    <a:lnTo>
                      <a:pt x="9431909" y="290068"/>
                    </a:lnTo>
                    <a:lnTo>
                      <a:pt x="0" y="2900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F8F9"/>
              </a:solidFill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3500" y="63500"/>
                <a:ext cx="9431909" cy="851535"/>
              </a:xfrm>
              <a:custGeom>
                <a:avLst/>
                <a:gdLst/>
                <a:ahLst/>
                <a:cxnLst/>
                <a:rect l="l" t="t" r="r" b="b"/>
                <a:pathLst>
                  <a:path w="9431909" h="851535">
                    <a:moveTo>
                      <a:pt x="9398" y="0"/>
                    </a:moveTo>
                    <a:lnTo>
                      <a:pt x="9398" y="851535"/>
                    </a:lnTo>
                    <a:lnTo>
                      <a:pt x="0" y="851535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9431909" y="0"/>
                    </a:lnTo>
                    <a:lnTo>
                      <a:pt x="9431909" y="9398"/>
                    </a:lnTo>
                    <a:lnTo>
                      <a:pt x="0" y="9398"/>
                    </a:lnTo>
                    <a:close/>
                    <a:moveTo>
                      <a:pt x="0" y="280670"/>
                    </a:moveTo>
                    <a:lnTo>
                      <a:pt x="9431909" y="280670"/>
                    </a:lnTo>
                    <a:lnTo>
                      <a:pt x="9431909" y="290068"/>
                    </a:lnTo>
                    <a:lnTo>
                      <a:pt x="0" y="290068"/>
                    </a:lnTo>
                    <a:close/>
                    <a:moveTo>
                      <a:pt x="0" y="842137"/>
                    </a:moveTo>
                    <a:lnTo>
                      <a:pt x="9431909" y="842137"/>
                    </a:lnTo>
                    <a:lnTo>
                      <a:pt x="9431909" y="851535"/>
                    </a:lnTo>
                    <a:lnTo>
                      <a:pt x="0" y="851535"/>
                    </a:lnTo>
                    <a:close/>
                    <a:moveTo>
                      <a:pt x="9431909" y="0"/>
                    </a:moveTo>
                    <a:lnTo>
                      <a:pt x="9431909" y="851535"/>
                    </a:lnTo>
                    <a:lnTo>
                      <a:pt x="9422511" y="851535"/>
                    </a:lnTo>
                    <a:lnTo>
                      <a:pt x="9422511" y="0"/>
                    </a:lnTo>
                    <a:close/>
                  </a:path>
                </a:pathLst>
              </a:custGeom>
              <a:solidFill>
                <a:srgbClr val="3858FF"/>
              </a:solidFill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20241" y="72898"/>
                <a:ext cx="4079621" cy="271272"/>
              </a:xfrm>
              <a:custGeom>
                <a:avLst/>
                <a:gdLst/>
                <a:ahLst/>
                <a:cxnLst/>
                <a:rect l="l" t="t" r="r" b="b"/>
                <a:pathLst>
                  <a:path w="4079621" h="271272">
                    <a:moveTo>
                      <a:pt x="9398" y="0"/>
                    </a:moveTo>
                    <a:lnTo>
                      <a:pt x="9398" y="271272"/>
                    </a:lnTo>
                    <a:lnTo>
                      <a:pt x="0" y="271272"/>
                    </a:lnTo>
                    <a:lnTo>
                      <a:pt x="0" y="0"/>
                    </a:lnTo>
                    <a:close/>
                    <a:moveTo>
                      <a:pt x="1366139" y="0"/>
                    </a:moveTo>
                    <a:lnTo>
                      <a:pt x="1366139" y="271272"/>
                    </a:lnTo>
                    <a:lnTo>
                      <a:pt x="1356741" y="271272"/>
                    </a:lnTo>
                    <a:lnTo>
                      <a:pt x="1356741" y="0"/>
                    </a:lnTo>
                    <a:close/>
                    <a:moveTo>
                      <a:pt x="2722880" y="0"/>
                    </a:moveTo>
                    <a:lnTo>
                      <a:pt x="2722880" y="271272"/>
                    </a:lnTo>
                    <a:lnTo>
                      <a:pt x="2713482" y="271272"/>
                    </a:lnTo>
                    <a:lnTo>
                      <a:pt x="2713482" y="0"/>
                    </a:lnTo>
                    <a:close/>
                    <a:moveTo>
                      <a:pt x="4079621" y="0"/>
                    </a:moveTo>
                    <a:lnTo>
                      <a:pt x="4079621" y="271272"/>
                    </a:lnTo>
                    <a:lnTo>
                      <a:pt x="4070223" y="271272"/>
                    </a:lnTo>
                    <a:lnTo>
                      <a:pt x="4070223" y="0"/>
                    </a:lnTo>
                    <a:close/>
                  </a:path>
                </a:pathLst>
              </a:custGeom>
              <a:solidFill>
                <a:srgbClr val="3858F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20241" y="353568"/>
                <a:ext cx="4079621" cy="271399"/>
              </a:xfrm>
              <a:custGeom>
                <a:avLst/>
                <a:gdLst/>
                <a:ahLst/>
                <a:cxnLst/>
                <a:rect l="l" t="t" r="r" b="b"/>
                <a:pathLst>
                  <a:path w="4079621" h="271399">
                    <a:moveTo>
                      <a:pt x="9398" y="0"/>
                    </a:moveTo>
                    <a:lnTo>
                      <a:pt x="9398" y="271399"/>
                    </a:lnTo>
                    <a:lnTo>
                      <a:pt x="0" y="271399"/>
                    </a:lnTo>
                    <a:lnTo>
                      <a:pt x="0" y="0"/>
                    </a:lnTo>
                    <a:close/>
                    <a:moveTo>
                      <a:pt x="1366139" y="0"/>
                    </a:moveTo>
                    <a:lnTo>
                      <a:pt x="1366139" y="271399"/>
                    </a:lnTo>
                    <a:lnTo>
                      <a:pt x="1356741" y="271399"/>
                    </a:lnTo>
                    <a:lnTo>
                      <a:pt x="1356741" y="0"/>
                    </a:lnTo>
                    <a:close/>
                    <a:moveTo>
                      <a:pt x="2722880" y="0"/>
                    </a:moveTo>
                    <a:lnTo>
                      <a:pt x="2722880" y="271399"/>
                    </a:lnTo>
                    <a:lnTo>
                      <a:pt x="2713482" y="271399"/>
                    </a:lnTo>
                    <a:lnTo>
                      <a:pt x="2713482" y="0"/>
                    </a:lnTo>
                    <a:close/>
                    <a:moveTo>
                      <a:pt x="4079621" y="0"/>
                    </a:moveTo>
                    <a:lnTo>
                      <a:pt x="4079621" y="271399"/>
                    </a:lnTo>
                    <a:lnTo>
                      <a:pt x="4070223" y="271399"/>
                    </a:lnTo>
                    <a:lnTo>
                      <a:pt x="4070223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771" y="624967"/>
                <a:ext cx="9413241" cy="280670"/>
              </a:xfrm>
              <a:custGeom>
                <a:avLst/>
                <a:gdLst/>
                <a:ahLst/>
                <a:cxnLst/>
                <a:rect l="l" t="t" r="r" b="b"/>
                <a:pathLst>
                  <a:path w="9413241" h="280670">
                    <a:moveTo>
                      <a:pt x="1356868" y="0"/>
                    </a:moveTo>
                    <a:lnTo>
                      <a:pt x="1356868" y="280670"/>
                    </a:lnTo>
                    <a:lnTo>
                      <a:pt x="1347470" y="280670"/>
                    </a:lnTo>
                    <a:lnTo>
                      <a:pt x="1347470" y="0"/>
                    </a:lnTo>
                    <a:close/>
                    <a:moveTo>
                      <a:pt x="2713609" y="0"/>
                    </a:moveTo>
                    <a:lnTo>
                      <a:pt x="2713609" y="280670"/>
                    </a:lnTo>
                    <a:lnTo>
                      <a:pt x="2704211" y="280670"/>
                    </a:lnTo>
                    <a:lnTo>
                      <a:pt x="2704211" y="0"/>
                    </a:lnTo>
                    <a:close/>
                    <a:moveTo>
                      <a:pt x="4070350" y="0"/>
                    </a:moveTo>
                    <a:lnTo>
                      <a:pt x="4070350" y="280670"/>
                    </a:lnTo>
                    <a:lnTo>
                      <a:pt x="4060952" y="280670"/>
                    </a:lnTo>
                    <a:lnTo>
                      <a:pt x="4060952" y="0"/>
                    </a:lnTo>
                    <a:close/>
                    <a:moveTo>
                      <a:pt x="5427091" y="0"/>
                    </a:moveTo>
                    <a:lnTo>
                      <a:pt x="5427091" y="280670"/>
                    </a:lnTo>
                    <a:lnTo>
                      <a:pt x="5417693" y="280670"/>
                    </a:lnTo>
                    <a:lnTo>
                      <a:pt x="5417693" y="0"/>
                    </a:lnTo>
                    <a:close/>
                    <a:moveTo>
                      <a:pt x="0" y="0"/>
                    </a:moveTo>
                    <a:lnTo>
                      <a:pt x="9413241" y="0"/>
                    </a:lnTo>
                    <a:lnTo>
                      <a:pt x="9413241" y="9398"/>
                    </a:lnTo>
                    <a:lnTo>
                      <a:pt x="127" y="9398"/>
                    </a:lnTo>
                    <a:close/>
                  </a:path>
                </a:pathLst>
              </a:custGeom>
              <a:solidFill>
                <a:srgbClr val="F6F8F9"/>
              </a:solidFill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2898" y="63500"/>
                <a:ext cx="9398" cy="290068"/>
              </a:xfrm>
              <a:custGeom>
                <a:avLst/>
                <a:gdLst/>
                <a:ahLst/>
                <a:cxnLst/>
                <a:rect l="l" t="t" r="r" b="b"/>
                <a:pathLst>
                  <a:path w="9398" h="290068">
                    <a:moveTo>
                      <a:pt x="0" y="0"/>
                    </a:moveTo>
                    <a:lnTo>
                      <a:pt x="0" y="290068"/>
                    </a:lnTo>
                    <a:lnTo>
                      <a:pt x="9398" y="290068"/>
                    </a:lnTo>
                    <a:lnTo>
                      <a:pt x="9398" y="0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898" y="72898"/>
                <a:ext cx="1347470" cy="9398"/>
              </a:xfrm>
              <a:custGeom>
                <a:avLst/>
                <a:gdLst/>
                <a:ahLst/>
                <a:cxnLst/>
                <a:rect l="l" t="t" r="r" b="b"/>
                <a:pathLst>
                  <a:path w="1347470" h="9398">
                    <a:moveTo>
                      <a:pt x="0" y="0"/>
                    </a:moveTo>
                    <a:lnTo>
                      <a:pt x="1347470" y="0"/>
                    </a:lnTo>
                    <a:lnTo>
                      <a:pt x="1347470" y="9398"/>
                    </a:lnTo>
                    <a:lnTo>
                      <a:pt x="0" y="9398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429639" y="72898"/>
                <a:ext cx="1347470" cy="9398"/>
              </a:xfrm>
              <a:custGeom>
                <a:avLst/>
                <a:gdLst/>
                <a:ahLst/>
                <a:cxnLst/>
                <a:rect l="l" t="t" r="r" b="b"/>
                <a:pathLst>
                  <a:path w="1347470" h="9398">
                    <a:moveTo>
                      <a:pt x="0" y="0"/>
                    </a:moveTo>
                    <a:lnTo>
                      <a:pt x="1347470" y="0"/>
                    </a:lnTo>
                    <a:lnTo>
                      <a:pt x="1347470" y="9398"/>
                    </a:lnTo>
                    <a:lnTo>
                      <a:pt x="0" y="9398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786380" y="72898"/>
                <a:ext cx="1347470" cy="9398"/>
              </a:xfrm>
              <a:custGeom>
                <a:avLst/>
                <a:gdLst/>
                <a:ahLst/>
                <a:cxnLst/>
                <a:rect l="l" t="t" r="r" b="b"/>
                <a:pathLst>
                  <a:path w="1347470" h="9398">
                    <a:moveTo>
                      <a:pt x="0" y="0"/>
                    </a:moveTo>
                    <a:lnTo>
                      <a:pt x="1347470" y="0"/>
                    </a:lnTo>
                    <a:lnTo>
                      <a:pt x="1347470" y="9398"/>
                    </a:lnTo>
                    <a:lnTo>
                      <a:pt x="0" y="9398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43248" y="72898"/>
                <a:ext cx="1347470" cy="9398"/>
              </a:xfrm>
              <a:custGeom>
                <a:avLst/>
                <a:gdLst/>
                <a:ahLst/>
                <a:cxnLst/>
                <a:rect l="l" t="t" r="r" b="b"/>
                <a:pathLst>
                  <a:path w="1347470" h="9398">
                    <a:moveTo>
                      <a:pt x="0" y="0"/>
                    </a:moveTo>
                    <a:lnTo>
                      <a:pt x="1347470" y="0"/>
                    </a:lnTo>
                    <a:lnTo>
                      <a:pt x="1347470" y="9398"/>
                    </a:lnTo>
                    <a:lnTo>
                      <a:pt x="0" y="9398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499989" y="72898"/>
                <a:ext cx="3986149" cy="9398"/>
              </a:xfrm>
              <a:custGeom>
                <a:avLst/>
                <a:gdLst/>
                <a:ahLst/>
                <a:cxnLst/>
                <a:rect l="l" t="t" r="r" b="b"/>
                <a:pathLst>
                  <a:path w="3986149" h="9398">
                    <a:moveTo>
                      <a:pt x="0" y="0"/>
                    </a:moveTo>
                    <a:lnTo>
                      <a:pt x="3986149" y="0"/>
                    </a:lnTo>
                    <a:lnTo>
                      <a:pt x="3986149" y="9398"/>
                    </a:lnTo>
                    <a:lnTo>
                      <a:pt x="0" y="9398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898" y="344170"/>
                <a:ext cx="9398" cy="290068"/>
              </a:xfrm>
              <a:custGeom>
                <a:avLst/>
                <a:gdLst/>
                <a:ahLst/>
                <a:cxnLst/>
                <a:rect l="l" t="t" r="r" b="b"/>
                <a:pathLst>
                  <a:path w="9398" h="290068">
                    <a:moveTo>
                      <a:pt x="0" y="0"/>
                    </a:moveTo>
                    <a:lnTo>
                      <a:pt x="0" y="290068"/>
                    </a:lnTo>
                    <a:lnTo>
                      <a:pt x="9398" y="290068"/>
                    </a:lnTo>
                    <a:lnTo>
                      <a:pt x="9398" y="0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898" y="624967"/>
                <a:ext cx="9398" cy="280670"/>
              </a:xfrm>
              <a:custGeom>
                <a:avLst/>
                <a:gdLst/>
                <a:ahLst/>
                <a:cxnLst/>
                <a:rect l="l" t="t" r="r" b="b"/>
                <a:pathLst>
                  <a:path w="9398" h="280670">
                    <a:moveTo>
                      <a:pt x="0" y="0"/>
                    </a:moveTo>
                    <a:lnTo>
                      <a:pt x="0" y="280670"/>
                    </a:lnTo>
                    <a:lnTo>
                      <a:pt x="9398" y="280670"/>
                    </a:lnTo>
                    <a:lnTo>
                      <a:pt x="9398" y="0"/>
                    </a:lnTo>
                    <a:close/>
                  </a:path>
                </a:pathLst>
              </a:custGeom>
              <a:solidFill>
                <a:srgbClr val="284E3F"/>
              </a:solidFill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358059" y="126716"/>
              <a:ext cx="2285480" cy="1955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18"/>
                </a:lnSpc>
              </a:pPr>
              <a:r>
                <a:rPr lang="en-US" sz="174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</a:t>
              </a:r>
              <a:r>
                <a:rPr lang="en-US" sz="174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</a:t>
              </a:r>
              <a:r>
                <a:rPr lang="en-US" sz="174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Coluna</a:t>
              </a:r>
              <a:r>
                <a:rPr lang="en-US" sz="174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) 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id </a:t>
              </a:r>
            </a:p>
            <a:p>
              <a:pPr algn="l">
                <a:lnSpc>
                  <a:spcPts val="4018"/>
                </a:lnSpc>
              </a:pP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nome</a:t>
              </a:r>
              <a:endParaRPr lang="en-US" sz="1741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46905" y="126716"/>
              <a:ext cx="2285480" cy="1903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18"/>
                </a:lnSpc>
              </a:pPr>
              <a:r>
                <a:rPr lang="en-US" sz="174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 (Coluna) </a:t>
              </a:r>
              <a:r>
                <a:rPr lang="en-US" sz="174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bigint varchar(255)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35751" y="126716"/>
              <a:ext cx="2285480" cy="1903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018"/>
                </a:lnSpc>
              </a:pPr>
              <a:r>
                <a:rPr lang="en-US" sz="174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 (Coluna) </a:t>
              </a:r>
              <a:r>
                <a:rPr lang="en-US" sz="174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NÃO NÃO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4596" y="126716"/>
              <a:ext cx="2550746" cy="1903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18"/>
                </a:lnSpc>
              </a:pPr>
              <a:r>
                <a:rPr lang="en-US" sz="174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 (Coluna) </a:t>
              </a:r>
              <a:r>
                <a:rPr lang="en-US" sz="174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PRIMARY KEY (PK) UNIQUE (UK)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513442" y="126716"/>
              <a:ext cx="8640227" cy="1903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18"/>
                </a:lnSpc>
              </a:pPr>
              <a:r>
                <a:rPr lang="en-US" sz="174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</a:t>
              </a:r>
              <a:r>
                <a:rPr lang="en-US" sz="174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</a:t>
              </a:r>
              <a:r>
                <a:rPr lang="en-US" sz="174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Coluna</a:t>
              </a:r>
              <a:r>
                <a:rPr lang="en-US" sz="174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)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Identificador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único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(Chave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Primária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) da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especialidade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. O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nome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da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especialidade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(ex: "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Cardiologia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").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Não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pode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se </a:t>
              </a:r>
              <a:r>
                <a:rPr lang="en-US" sz="1741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repetir</a:t>
              </a:r>
              <a:r>
                <a:rPr lang="en-US" sz="1741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077579" y="1962254"/>
            <a:ext cx="4440481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ESPECIALIDADES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77334" y="1875718"/>
            <a:ext cx="8333332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REGISTRO DE ESPECIALIDADES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45656" y="3712576"/>
            <a:ext cx="17396688" cy="1829072"/>
            <a:chOff x="0" y="0"/>
            <a:chExt cx="23195584" cy="2438763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0" y="0"/>
              <a:ext cx="23195584" cy="2438763"/>
              <a:chOff x="0" y="0"/>
              <a:chExt cx="9451975" cy="9937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3500" y="63500"/>
                <a:ext cx="932497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9324975" h="295275">
                    <a:moveTo>
                      <a:pt x="0" y="0"/>
                    </a:moveTo>
                    <a:lnTo>
                      <a:pt x="9324975" y="0"/>
                    </a:lnTo>
                    <a:lnTo>
                      <a:pt x="9324975" y="295275"/>
                    </a:lnTo>
                    <a:lnTo>
                      <a:pt x="0" y="2952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8" name="Freeform 8"/>
              <p:cNvSpPr/>
              <p:nvPr/>
            </p:nvSpPr>
            <p:spPr>
              <a:xfrm>
                <a:off x="63500" y="349250"/>
                <a:ext cx="932497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9324975" h="295275">
                    <a:moveTo>
                      <a:pt x="0" y="0"/>
                    </a:moveTo>
                    <a:lnTo>
                      <a:pt x="9324975" y="0"/>
                    </a:lnTo>
                    <a:lnTo>
                      <a:pt x="9324975" y="295275"/>
                    </a:lnTo>
                    <a:lnTo>
                      <a:pt x="0" y="2952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63500" y="635000"/>
                <a:ext cx="932497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9324975" h="295275">
                    <a:moveTo>
                      <a:pt x="0" y="0"/>
                    </a:moveTo>
                    <a:lnTo>
                      <a:pt x="9324975" y="0"/>
                    </a:lnTo>
                    <a:lnTo>
                      <a:pt x="9324975" y="295275"/>
                    </a:lnTo>
                    <a:lnTo>
                      <a:pt x="0" y="2952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F8F9"/>
              </a:solidFill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3500" y="63500"/>
                <a:ext cx="9324975" cy="866775"/>
              </a:xfrm>
              <a:custGeom>
                <a:avLst/>
                <a:gdLst/>
                <a:ahLst/>
                <a:cxnLst/>
                <a:rect l="l" t="t" r="r" b="b"/>
                <a:pathLst>
                  <a:path w="9324975" h="866775">
                    <a:moveTo>
                      <a:pt x="9525" y="0"/>
                    </a:moveTo>
                    <a:lnTo>
                      <a:pt x="9525" y="866775"/>
                    </a:lnTo>
                    <a:lnTo>
                      <a:pt x="0" y="866775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9324975" y="0"/>
                    </a:lnTo>
                    <a:lnTo>
                      <a:pt x="9324975" y="9525"/>
                    </a:lnTo>
                    <a:lnTo>
                      <a:pt x="0" y="9525"/>
                    </a:lnTo>
                    <a:close/>
                    <a:moveTo>
                      <a:pt x="0" y="285750"/>
                    </a:moveTo>
                    <a:lnTo>
                      <a:pt x="9324975" y="285750"/>
                    </a:lnTo>
                    <a:lnTo>
                      <a:pt x="9324975" y="295275"/>
                    </a:lnTo>
                    <a:lnTo>
                      <a:pt x="0" y="295275"/>
                    </a:lnTo>
                    <a:close/>
                    <a:moveTo>
                      <a:pt x="0" y="857250"/>
                    </a:moveTo>
                    <a:lnTo>
                      <a:pt x="9324975" y="857250"/>
                    </a:lnTo>
                    <a:lnTo>
                      <a:pt x="9324975" y="866775"/>
                    </a:lnTo>
                    <a:lnTo>
                      <a:pt x="0" y="866775"/>
                    </a:lnTo>
                    <a:close/>
                    <a:moveTo>
                      <a:pt x="9324975" y="0"/>
                    </a:moveTo>
                    <a:lnTo>
                      <a:pt x="9324975" y="866775"/>
                    </a:lnTo>
                    <a:lnTo>
                      <a:pt x="9315450" y="866775"/>
                    </a:lnTo>
                    <a:lnTo>
                      <a:pt x="9315450" y="0"/>
                    </a:lnTo>
                    <a:close/>
                  </a:path>
                </a:pathLst>
              </a:custGeom>
              <a:solidFill>
                <a:srgbClr val="3858FF"/>
              </a:solidFill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44625" y="73025"/>
                <a:ext cx="390525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276225">
                    <a:moveTo>
                      <a:pt x="9525" y="0"/>
                    </a:moveTo>
                    <a:lnTo>
                      <a:pt x="9525" y="276225"/>
                    </a:lnTo>
                    <a:lnTo>
                      <a:pt x="0" y="276225"/>
                    </a:lnTo>
                    <a:lnTo>
                      <a:pt x="0" y="0"/>
                    </a:lnTo>
                    <a:close/>
                    <a:moveTo>
                      <a:pt x="1200150" y="0"/>
                    </a:moveTo>
                    <a:lnTo>
                      <a:pt x="1200150" y="276225"/>
                    </a:lnTo>
                    <a:lnTo>
                      <a:pt x="1190625" y="276225"/>
                    </a:lnTo>
                    <a:lnTo>
                      <a:pt x="1190625" y="0"/>
                    </a:lnTo>
                    <a:close/>
                    <a:moveTo>
                      <a:pt x="2162175" y="0"/>
                    </a:moveTo>
                    <a:lnTo>
                      <a:pt x="2162175" y="276225"/>
                    </a:lnTo>
                    <a:lnTo>
                      <a:pt x="2152650" y="276225"/>
                    </a:lnTo>
                    <a:lnTo>
                      <a:pt x="2152650" y="0"/>
                    </a:lnTo>
                    <a:close/>
                    <a:moveTo>
                      <a:pt x="3905250" y="0"/>
                    </a:moveTo>
                    <a:lnTo>
                      <a:pt x="3905250" y="276225"/>
                    </a:lnTo>
                    <a:lnTo>
                      <a:pt x="3895725" y="276225"/>
                    </a:lnTo>
                    <a:lnTo>
                      <a:pt x="3895725" y="0"/>
                    </a:lnTo>
                    <a:close/>
                  </a:path>
                </a:pathLst>
              </a:custGeom>
              <a:solidFill>
                <a:srgbClr val="3858F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44625" y="358775"/>
                <a:ext cx="390525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276225">
                    <a:moveTo>
                      <a:pt x="9525" y="0"/>
                    </a:moveTo>
                    <a:lnTo>
                      <a:pt x="9525" y="276225"/>
                    </a:lnTo>
                    <a:lnTo>
                      <a:pt x="0" y="276225"/>
                    </a:lnTo>
                    <a:lnTo>
                      <a:pt x="0" y="0"/>
                    </a:lnTo>
                    <a:close/>
                    <a:moveTo>
                      <a:pt x="1200150" y="0"/>
                    </a:moveTo>
                    <a:lnTo>
                      <a:pt x="1200150" y="276225"/>
                    </a:lnTo>
                    <a:lnTo>
                      <a:pt x="1190625" y="276225"/>
                    </a:lnTo>
                    <a:lnTo>
                      <a:pt x="1190625" y="0"/>
                    </a:lnTo>
                    <a:close/>
                    <a:moveTo>
                      <a:pt x="2162175" y="0"/>
                    </a:moveTo>
                    <a:lnTo>
                      <a:pt x="2162175" y="276225"/>
                    </a:lnTo>
                    <a:lnTo>
                      <a:pt x="2152650" y="276225"/>
                    </a:lnTo>
                    <a:lnTo>
                      <a:pt x="2152650" y="0"/>
                    </a:lnTo>
                    <a:close/>
                    <a:moveTo>
                      <a:pt x="3905250" y="0"/>
                    </a:moveTo>
                    <a:lnTo>
                      <a:pt x="3905250" y="276225"/>
                    </a:lnTo>
                    <a:lnTo>
                      <a:pt x="3895725" y="276225"/>
                    </a:lnTo>
                    <a:lnTo>
                      <a:pt x="389572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3025" y="635000"/>
                <a:ext cx="93059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305925" h="285750">
                    <a:moveTo>
                      <a:pt x="1381125" y="0"/>
                    </a:moveTo>
                    <a:lnTo>
                      <a:pt x="1381125" y="285750"/>
                    </a:lnTo>
                    <a:lnTo>
                      <a:pt x="1371600" y="285750"/>
                    </a:lnTo>
                    <a:lnTo>
                      <a:pt x="1371600" y="0"/>
                    </a:lnTo>
                    <a:close/>
                    <a:moveTo>
                      <a:pt x="2571750" y="0"/>
                    </a:moveTo>
                    <a:lnTo>
                      <a:pt x="2571750" y="285750"/>
                    </a:lnTo>
                    <a:lnTo>
                      <a:pt x="2562225" y="285750"/>
                    </a:lnTo>
                    <a:lnTo>
                      <a:pt x="2562225" y="0"/>
                    </a:lnTo>
                    <a:close/>
                    <a:moveTo>
                      <a:pt x="3533775" y="0"/>
                    </a:moveTo>
                    <a:lnTo>
                      <a:pt x="3533775" y="285750"/>
                    </a:lnTo>
                    <a:lnTo>
                      <a:pt x="3524250" y="285750"/>
                    </a:lnTo>
                    <a:lnTo>
                      <a:pt x="3524250" y="0"/>
                    </a:lnTo>
                    <a:close/>
                    <a:moveTo>
                      <a:pt x="5276850" y="0"/>
                    </a:moveTo>
                    <a:lnTo>
                      <a:pt x="5276850" y="285750"/>
                    </a:lnTo>
                    <a:lnTo>
                      <a:pt x="5267325" y="285750"/>
                    </a:lnTo>
                    <a:lnTo>
                      <a:pt x="5267325" y="0"/>
                    </a:lnTo>
                    <a:close/>
                    <a:moveTo>
                      <a:pt x="0" y="0"/>
                    </a:moveTo>
                    <a:lnTo>
                      <a:pt x="9305925" y="0"/>
                    </a:lnTo>
                    <a:lnTo>
                      <a:pt x="930592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F6F8F9"/>
              </a:solidFill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3025" y="63500"/>
                <a:ext cx="95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5275">
                    <a:moveTo>
                      <a:pt x="0" y="0"/>
                    </a:moveTo>
                    <a:lnTo>
                      <a:pt x="0" y="295275"/>
                    </a:lnTo>
                    <a:lnTo>
                      <a:pt x="9525" y="29527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3025" y="73025"/>
                <a:ext cx="137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">
                    <a:moveTo>
                      <a:pt x="0" y="0"/>
                    </a:moveTo>
                    <a:lnTo>
                      <a:pt x="1371600" y="0"/>
                    </a:lnTo>
                    <a:lnTo>
                      <a:pt x="137160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454150" y="73025"/>
                <a:ext cx="1181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9525">
                    <a:moveTo>
                      <a:pt x="0" y="0"/>
                    </a:moveTo>
                    <a:lnTo>
                      <a:pt x="1181100" y="0"/>
                    </a:lnTo>
                    <a:lnTo>
                      <a:pt x="118110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3858FF"/>
              </a:solidFill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44775" y="73025"/>
                <a:ext cx="95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">
                    <a:moveTo>
                      <a:pt x="0" y="0"/>
                    </a:moveTo>
                    <a:lnTo>
                      <a:pt x="952500" y="0"/>
                    </a:lnTo>
                    <a:lnTo>
                      <a:pt x="95250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606800" y="73025"/>
                <a:ext cx="1733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9525">
                    <a:moveTo>
                      <a:pt x="0" y="0"/>
                    </a:moveTo>
                    <a:lnTo>
                      <a:pt x="1733550" y="0"/>
                    </a:lnTo>
                    <a:lnTo>
                      <a:pt x="173355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349875" y="73025"/>
                <a:ext cx="40290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29075" h="9525">
                    <a:moveTo>
                      <a:pt x="0" y="0"/>
                    </a:moveTo>
                    <a:lnTo>
                      <a:pt x="4029075" y="0"/>
                    </a:lnTo>
                    <a:lnTo>
                      <a:pt x="402907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3025" y="349250"/>
                <a:ext cx="95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5275">
                    <a:moveTo>
                      <a:pt x="0" y="0"/>
                    </a:moveTo>
                    <a:lnTo>
                      <a:pt x="0" y="295275"/>
                    </a:lnTo>
                    <a:lnTo>
                      <a:pt x="9525" y="29527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3025" y="6350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  <a:lnTo>
                      <a:pt x="9525" y="285750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rgbClr val="6D85FF"/>
              </a:solidFill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366190" y="124090"/>
              <a:ext cx="2355315" cy="1965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41"/>
                </a:lnSpc>
              </a:pPr>
              <a:r>
                <a:rPr lang="en-US" sz="179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 (Coluna) </a:t>
              </a:r>
              <a:r>
                <a:rPr lang="en-US" sz="1794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registro_id especialidade_id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5535" y="124089"/>
              <a:ext cx="1882023" cy="2004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141"/>
                </a:lnSpc>
              </a:pPr>
              <a:r>
                <a:rPr lang="en-US" sz="1794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Tipo (MySQL) </a:t>
              </a:r>
              <a:r>
                <a:rPr lang="en-US" sz="1794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bigint</a:t>
              </a:r>
              <a:r>
                <a:rPr lang="en-US" sz="1794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algn="just">
                <a:lnSpc>
                  <a:spcPts val="4141"/>
                </a:lnSpc>
              </a:pPr>
              <a:r>
                <a:rPr lang="en-US" sz="1794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bigint</a:t>
              </a:r>
              <a:endParaRPr lang="en-US" sz="1794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77385" y="124090"/>
              <a:ext cx="1270490" cy="1965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141"/>
                </a:lnSpc>
              </a:pPr>
              <a:r>
                <a:rPr lang="en-US" sz="179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Nullable? </a:t>
              </a:r>
              <a:r>
                <a:rPr lang="en-US" sz="1794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NÃO NÃO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38240" y="124090"/>
              <a:ext cx="3233389" cy="1965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141"/>
                </a:lnSpc>
              </a:pPr>
              <a:r>
                <a:rPr lang="en-US" sz="179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Chaves / Índices (Keys) </a:t>
              </a:r>
              <a:r>
                <a:rPr lang="en-US" sz="1794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FOREIGN KEY (PK, FK) FOREIGN KEY (PK, FK)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15828" y="124090"/>
              <a:ext cx="8971505" cy="1965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41"/>
                </a:lnSpc>
              </a:pPr>
              <a:r>
                <a:rPr lang="en-US" sz="179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Descrição </a:t>
              </a:r>
              <a:r>
                <a:rPr lang="en-US" sz="1794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 ID do registro (médico). Faz parte da chave primária composta. O ID da especialidades. Faz parte da chave primária composta.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2163" y="2294313"/>
            <a:ext cx="16668048" cy="5305162"/>
            <a:chOff x="0" y="0"/>
            <a:chExt cx="22224063" cy="70735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24063" cy="7073549"/>
            </a:xfrm>
            <a:custGeom>
              <a:avLst/>
              <a:gdLst/>
              <a:ahLst/>
              <a:cxnLst/>
              <a:rect l="l" t="t" r="r" b="b"/>
              <a:pathLst>
                <a:path w="22224063" h="7073549">
                  <a:moveTo>
                    <a:pt x="0" y="0"/>
                  </a:moveTo>
                  <a:lnTo>
                    <a:pt x="22224063" y="0"/>
                  </a:lnTo>
                  <a:lnTo>
                    <a:pt x="22224063" y="7073549"/>
                  </a:lnTo>
                  <a:lnTo>
                    <a:pt x="0" y="7073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389735" y="125879"/>
              <a:ext cx="2694777" cy="666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8"/>
                </a:lnSpc>
              </a:pPr>
              <a:r>
                <a:rPr lang="en-US" sz="190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</a:t>
              </a:r>
              <a:r>
                <a:rPr lang="en-US" sz="190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</a:t>
              </a:r>
              <a:r>
                <a:rPr lang="en-US" sz="190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Coluna</a:t>
              </a:r>
              <a:r>
                <a:rPr lang="en-US" sz="190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) </a:t>
              </a:r>
              <a:r>
                <a:rPr lang="en-US" sz="190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id </a:t>
              </a:r>
            </a:p>
            <a:p>
              <a:pPr algn="l">
                <a:lnSpc>
                  <a:spcPts val="4408"/>
                </a:lnSpc>
              </a:pPr>
              <a:r>
                <a:rPr lang="en-US" sz="190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nome</a:t>
              </a:r>
              <a:r>
                <a:rPr lang="en-US" sz="190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algn="l">
                <a:lnSpc>
                  <a:spcPts val="4408"/>
                </a:lnSpc>
              </a:pPr>
              <a:r>
                <a:rPr lang="en-US" sz="190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cpf</a:t>
              </a:r>
              <a:r>
                <a:rPr lang="en-US" sz="190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algn="l">
                <a:lnSpc>
                  <a:spcPts val="4408"/>
                </a:lnSpc>
              </a:pPr>
              <a:r>
                <a:rPr lang="en-US" sz="190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idade</a:t>
              </a:r>
              <a:r>
                <a:rPr lang="en-US" sz="190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algn="l">
                <a:lnSpc>
                  <a:spcPts val="4408"/>
                </a:lnSpc>
              </a:pPr>
              <a:r>
                <a:rPr lang="en-US" sz="190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alergias</a:t>
              </a:r>
              <a:r>
                <a:rPr lang="en-US" sz="190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90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historico_cirurgias</a:t>
              </a:r>
              <a:r>
                <a:rPr lang="en-US" sz="190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90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observacoes</a:t>
              </a:r>
              <a:r>
                <a:rPr lang="en-US" sz="190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90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medico_id</a:t>
              </a:r>
              <a:endParaRPr lang="en-US" sz="1909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996999" y="125879"/>
              <a:ext cx="2003027" cy="6575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408"/>
                </a:lnSpc>
              </a:pPr>
              <a:r>
                <a:rPr lang="en-US" sz="190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Tipo (MySQL) </a:t>
              </a:r>
              <a:r>
                <a:rPr lang="en-US" sz="1909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bigint varchar(255) varchar(255) int varchar(255) varchar(255) varchar(255) bigint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753531" y="125879"/>
              <a:ext cx="1352177" cy="604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8"/>
                </a:lnSpc>
              </a:pPr>
              <a:r>
                <a:rPr lang="en-US" sz="190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Nullable?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982322" y="872210"/>
              <a:ext cx="676922" cy="5829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408"/>
                </a:lnSpc>
              </a:pPr>
              <a:r>
                <a:rPr lang="en-US" sz="1909">
                  <a:solidFill>
                    <a:srgbClr val="2C481F"/>
                  </a:solidFill>
                  <a:latin typeface="Roboto"/>
                  <a:ea typeface="Roboto"/>
                  <a:cs typeface="Roboto"/>
                  <a:sym typeface="Roboto"/>
                </a:rPr>
                <a:t>NÃO </a:t>
              </a:r>
              <a:r>
                <a:rPr lang="en-US" sz="1909">
                  <a:solidFill>
                    <a:srgbClr val="2A3243"/>
                  </a:solidFill>
                  <a:latin typeface="Roboto"/>
                  <a:ea typeface="Roboto"/>
                  <a:cs typeface="Roboto"/>
                  <a:sym typeface="Roboto"/>
                </a:rPr>
                <a:t>SIM SIM SIM SIM SIM SIM SIM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6422" y="125879"/>
              <a:ext cx="3441281" cy="6575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408"/>
                </a:lnSpc>
              </a:pPr>
              <a:r>
                <a:rPr lang="en-US" sz="190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Chaves / Índices (Keys) </a:t>
              </a:r>
              <a:r>
                <a:rPr lang="en-US" sz="1909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PRIMARY KEY (PK) - - - - - - FOREIGN KEY (FK)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69040" y="125879"/>
              <a:ext cx="7438082" cy="6575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8"/>
                </a:lnSpc>
              </a:pPr>
              <a:r>
                <a:rPr lang="en-US" sz="190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Descrição </a:t>
              </a:r>
              <a:r>
                <a:rPr lang="en-US" sz="1909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Identificador único (Chave Primária) do paciente. Nome completo do paciente. CPF do paciente (usado para busca). Idade do paciente. (Opcional) Texto com as alergias do paciente. (Opcional) Texto com o histórico de cirurgias. (Opcional) Observações gerais sobre o paciente. O ID do registro (médico) que cadastrou este pacie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35928" y="1104900"/>
            <a:ext cx="2820518" cy="54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0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PACIENTE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0" y="9263062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7557" y="2316799"/>
            <a:ext cx="16222686" cy="4810996"/>
          </a:xfrm>
          <a:custGeom>
            <a:avLst/>
            <a:gdLst/>
            <a:ahLst/>
            <a:cxnLst/>
            <a:rect l="l" t="t" r="r" b="b"/>
            <a:pathLst>
              <a:path w="16222686" h="5078143">
                <a:moveTo>
                  <a:pt x="0" y="0"/>
                </a:moveTo>
                <a:lnTo>
                  <a:pt x="16222686" y="0"/>
                </a:lnTo>
                <a:lnTo>
                  <a:pt x="16222686" y="5078143"/>
                </a:lnTo>
                <a:lnTo>
                  <a:pt x="0" y="5078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TextBox 3"/>
          <p:cNvSpPr txBox="1"/>
          <p:nvPr/>
        </p:nvSpPr>
        <p:spPr>
          <a:xfrm>
            <a:off x="1524000" y="2354892"/>
            <a:ext cx="2840926" cy="3155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sz="1828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Atributo</a:t>
            </a:r>
            <a:r>
              <a:rPr lang="en-US" sz="182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828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Coluna</a:t>
            </a:r>
            <a:r>
              <a:rPr lang="en-US" sz="182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id </a:t>
            </a:r>
          </a:p>
          <a:p>
            <a:pPr algn="l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id</a:t>
            </a:r>
          </a:p>
          <a:p>
            <a:pPr algn="l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email </a:t>
            </a:r>
          </a:p>
          <a:p>
            <a:pPr algn="l">
              <a:lnSpc>
                <a:spcPts val="4219"/>
              </a:lnSpc>
            </a:pP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nome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4219"/>
              </a:lnSpc>
            </a:pP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senha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4219"/>
              </a:lnSpc>
            </a:pP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foto_perfil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35109" y="2354892"/>
            <a:ext cx="1437985" cy="3155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9"/>
              </a:lnSpc>
            </a:pPr>
            <a:r>
              <a:rPr lang="en-US" sz="182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Tipo (MySQL) </a:t>
            </a:r>
          </a:p>
          <a:p>
            <a:pPr algn="just">
              <a:lnSpc>
                <a:spcPts val="4219"/>
              </a:lnSpc>
            </a:pPr>
            <a:r>
              <a:rPr lang="pt-BR" sz="2000" dirty="0"/>
              <a:t>bigint</a:t>
            </a:r>
            <a:endParaRPr lang="en-US" sz="1828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varchar(255) varchar(255) varchar(255)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longblob</a:t>
            </a:r>
            <a:endParaRPr lang="en-US" sz="1828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061761" y="2354893"/>
            <a:ext cx="970736" cy="486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sz="182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Nullable?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08106" y="2890688"/>
            <a:ext cx="485966" cy="261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9"/>
              </a:lnSpc>
            </a:pPr>
            <a:r>
              <a:rPr lang="en-US" sz="1828" dirty="0">
                <a:solidFill>
                  <a:srgbClr val="2C481F"/>
                </a:solidFill>
                <a:latin typeface="Roboto"/>
                <a:ea typeface="Roboto"/>
                <a:cs typeface="Roboto"/>
                <a:sym typeface="Roboto"/>
              </a:rPr>
              <a:t>NÃO </a:t>
            </a:r>
            <a:r>
              <a:rPr lang="en-US" sz="1828" dirty="0" err="1">
                <a:solidFill>
                  <a:srgbClr val="2C481F"/>
                </a:solidFill>
                <a:latin typeface="Roboto"/>
                <a:ea typeface="Roboto"/>
                <a:cs typeface="Roboto"/>
                <a:sym typeface="Roboto"/>
              </a:rPr>
              <a:t>NÃO</a:t>
            </a:r>
            <a:r>
              <a:rPr lang="en-US" sz="1828" dirty="0">
                <a:solidFill>
                  <a:srgbClr val="2C481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28" dirty="0" err="1">
                <a:solidFill>
                  <a:srgbClr val="2C481F"/>
                </a:solidFill>
                <a:latin typeface="Roboto"/>
                <a:ea typeface="Roboto"/>
                <a:cs typeface="Roboto"/>
                <a:sym typeface="Roboto"/>
              </a:rPr>
              <a:t>NÃO</a:t>
            </a:r>
            <a:r>
              <a:rPr lang="en-US" sz="1828" dirty="0">
                <a:solidFill>
                  <a:srgbClr val="2C481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sz="1828" dirty="0">
              <a:solidFill>
                <a:srgbClr val="2A3243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4219"/>
              </a:lnSpc>
            </a:pPr>
            <a:r>
              <a:rPr lang="en-US" sz="1828" dirty="0">
                <a:solidFill>
                  <a:srgbClr val="2A3243"/>
                </a:solidFill>
                <a:latin typeface="Roboto"/>
                <a:ea typeface="Roboto"/>
                <a:cs typeface="Roboto"/>
                <a:sym typeface="Roboto"/>
              </a:rPr>
              <a:t>NÃO</a:t>
            </a:r>
          </a:p>
          <a:p>
            <a:pPr algn="just">
              <a:lnSpc>
                <a:spcPts val="4219"/>
              </a:lnSpc>
            </a:pPr>
            <a:r>
              <a:rPr lang="en-US" sz="1828" dirty="0">
                <a:solidFill>
                  <a:srgbClr val="2A3243"/>
                </a:solidFill>
                <a:latin typeface="Roboto"/>
                <a:ea typeface="Roboto"/>
                <a:cs typeface="Roboto"/>
                <a:sym typeface="Roboto"/>
              </a:rPr>
              <a:t>SIM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29886" y="2354893"/>
            <a:ext cx="2470516" cy="153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9"/>
              </a:lnSpc>
            </a:pPr>
            <a:r>
              <a:rPr lang="en-US" sz="182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Chaves / </a:t>
            </a:r>
            <a:r>
              <a:rPr lang="en-US" sz="1828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Índices</a:t>
            </a:r>
            <a:r>
              <a:rPr lang="en-US" sz="182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(Keys) 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PRIMARY KEY</a:t>
            </a:r>
          </a:p>
          <a:p>
            <a:pPr algn="just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UNIQUE KEY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8237" y="2354893"/>
            <a:ext cx="5383671" cy="3155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sz="1828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r>
              <a:rPr lang="en-US" sz="182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sz="1828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ts val="4219"/>
              </a:lnSpc>
            </a:pPr>
            <a:r>
              <a:rPr lang="pt-BR" sz="2000" dirty="0"/>
              <a:t>Identificador único (Chave Primária).</a:t>
            </a:r>
            <a:endParaRPr lang="en-US" sz="1828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Email do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médico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deve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ser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único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). </a:t>
            </a:r>
          </a:p>
          <a:p>
            <a:pPr algn="l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Nome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completo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do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médico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algn="l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Senha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criptografada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BCrypt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) do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médico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algn="l">
              <a:lnSpc>
                <a:spcPts val="4219"/>
              </a:lnSpc>
            </a:pP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Opcional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) Foto do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médico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salva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28" dirty="0" err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como</a:t>
            </a:r>
            <a:r>
              <a:rPr lang="en-US" sz="1828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BLOB.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33741" y="1104900"/>
            <a:ext cx="2820518" cy="54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0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REGISTRO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0" y="9263062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685" y="1104900"/>
            <a:ext cx="3144923" cy="54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0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CONSULTA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393071"/>
            <a:ext cx="16132308" cy="3606259"/>
            <a:chOff x="0" y="0"/>
            <a:chExt cx="21509744" cy="48083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09744" cy="4808345"/>
            </a:xfrm>
            <a:custGeom>
              <a:avLst/>
              <a:gdLst/>
              <a:ahLst/>
              <a:cxnLst/>
              <a:rect l="l" t="t" r="r" b="b"/>
              <a:pathLst>
                <a:path w="21509744" h="4808345">
                  <a:moveTo>
                    <a:pt x="0" y="0"/>
                  </a:moveTo>
                  <a:lnTo>
                    <a:pt x="21509744" y="0"/>
                  </a:lnTo>
                  <a:lnTo>
                    <a:pt x="21509744" y="4808345"/>
                  </a:lnTo>
                  <a:lnTo>
                    <a:pt x="0" y="4808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387621" y="133535"/>
              <a:ext cx="2493160" cy="4407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84"/>
                </a:lnSpc>
              </a:pPr>
              <a:r>
                <a:rPr lang="en-US" sz="189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Atributo</a:t>
              </a:r>
              <a:r>
                <a:rPr lang="en-US" sz="18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</a:t>
              </a:r>
              <a:r>
                <a:rPr lang="en-US" sz="189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Coluna</a:t>
              </a:r>
              <a:r>
                <a:rPr lang="en-US" sz="18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) 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id </a:t>
              </a:r>
            </a:p>
            <a:p>
              <a:pPr algn="l">
                <a:lnSpc>
                  <a:spcPts val="4384"/>
                </a:lnSpc>
              </a:pP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data_hora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observacoes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medico_id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paciente_id</a:t>
              </a:r>
              <a:endParaRPr lang="en-US" sz="1899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975329" y="133535"/>
              <a:ext cx="1992168" cy="4407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Tipo (MySQL)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bigint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datetime(6)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longtext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bigint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algn="just">
                <a:lnSpc>
                  <a:spcPts val="4384"/>
                </a:lnSpc>
              </a:pP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bigint</a:t>
              </a:r>
              <a:endParaRPr lang="en-US" sz="1899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68181" y="133535"/>
              <a:ext cx="1344847" cy="4407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Nullable? 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NÃO </a:t>
              </a:r>
            </a:p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SIM </a:t>
              </a:r>
            </a:p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SIM </a:t>
              </a:r>
            </a:p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NÃO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NÃO</a:t>
              </a:r>
              <a:endParaRPr lang="en-US" sz="1899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67205" y="133535"/>
              <a:ext cx="3422624" cy="4407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Chaves / </a:t>
              </a:r>
              <a:r>
                <a:rPr lang="en-US" sz="189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Índices</a:t>
              </a:r>
              <a:r>
                <a:rPr lang="en-US" sz="18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(Keys) 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PRIMARY KEY (PK)  </a:t>
              </a:r>
              <a:b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b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lang="en-US" sz="1899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FOREIGN KEY</a:t>
              </a:r>
            </a:p>
            <a:p>
              <a:pPr algn="just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FORIGN KEY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68400" y="133535"/>
              <a:ext cx="7434543" cy="44071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84"/>
                </a:lnSpc>
              </a:pPr>
              <a:r>
                <a:rPr lang="en-US" sz="189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Descrição</a:t>
              </a:r>
              <a:r>
                <a:rPr lang="en-US" sz="18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algn="l">
                <a:lnSpc>
                  <a:spcPts val="4384"/>
                </a:lnSpc>
              </a:pP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Identificador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único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(Chave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Primária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) da consulta. </a:t>
              </a:r>
            </a:p>
            <a:p>
              <a:pPr algn="l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Armazena a data e a hora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exata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da consulta. (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Opcional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)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Notas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do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médico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sobre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a consulta. </a:t>
              </a:r>
            </a:p>
            <a:p>
              <a:pPr algn="l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 ID do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registro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(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médico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)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que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fará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o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atendimento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. </a:t>
              </a:r>
            </a:p>
            <a:p>
              <a:pPr algn="l">
                <a:lnSpc>
                  <a:spcPts val="4384"/>
                </a:lnSpc>
              </a:pP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 ID do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paciente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que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será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899" dirty="0" err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atendido</a:t>
              </a:r>
              <a:r>
                <a:rPr lang="en-US" sz="1899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6973476" y="9410700"/>
            <a:ext cx="1013470" cy="509269"/>
          </a:xfrm>
          <a:custGeom>
            <a:avLst/>
            <a:gdLst/>
            <a:ahLst/>
            <a:cxnLst/>
            <a:rect l="l" t="t" r="r" b="b"/>
            <a:pathLst>
              <a:path w="1013470" h="509269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05860" y="9528878"/>
            <a:ext cx="548701" cy="259386"/>
          </a:xfrm>
          <a:custGeom>
            <a:avLst/>
            <a:gdLst/>
            <a:ahLst/>
            <a:cxnLst/>
            <a:rect l="l" t="t" r="r" b="b"/>
            <a:pathLst>
              <a:path w="548701" h="259386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0" y="9263062"/>
            <a:ext cx="18288000" cy="0"/>
          </a:xfrm>
          <a:prstGeom prst="line">
            <a:avLst/>
          </a:prstGeom>
          <a:ln w="9525" cap="flat">
            <a:solidFill>
              <a:srgbClr val="FFFFFF">
                <a:alpha val="3372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71539" y="4910455"/>
            <a:ext cx="3307125" cy="54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099" b="1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660</Words>
  <Application>Microsoft Office PowerPoint</Application>
  <PresentationFormat>Custom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</vt:lpstr>
      <vt:lpstr>Nourd Bold</vt:lpstr>
      <vt:lpstr>Calibri</vt:lpstr>
      <vt:lpstr>Rubik</vt:lpstr>
      <vt:lpstr>Arial</vt:lpstr>
      <vt:lpstr>Rubik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Negócios Plano de Projeto 3D Azul Branco</dc:title>
  <cp:lastModifiedBy>João Pedro</cp:lastModifiedBy>
  <cp:revision>2</cp:revision>
  <dcterms:created xsi:type="dcterms:W3CDTF">2006-08-16T00:00:00Z</dcterms:created>
  <dcterms:modified xsi:type="dcterms:W3CDTF">2025-11-22T19:13:24Z</dcterms:modified>
  <dc:identifier>DAG5L5P8ESw</dc:identifier>
</cp:coreProperties>
</file>
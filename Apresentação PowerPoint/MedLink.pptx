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Nourd Bold" charset="1" panose="00000800000000000000"/>
      <p:regular r:id="rId18"/>
    </p:embeddedFont>
    <p:embeddedFont>
      <p:font typeface="Rubik" charset="1" panose="00000000000000000000"/>
      <p:regular r:id="rId19"/>
    </p:embeddedFont>
    <p:embeddedFont>
      <p:font typeface="Rubik Semi-Bold" charset="1" panose="00000000000000000000"/>
      <p:regular r:id="rId20"/>
    </p:embeddedFont>
    <p:embeddedFont>
      <p:font typeface="Roboto" charset="1" panose="02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15" Target="../media/image21.png" Type="http://schemas.openxmlformats.org/officeDocument/2006/relationships/image"/><Relationship Id="rId16" Target="../media/image22.png" Type="http://schemas.openxmlformats.org/officeDocument/2006/relationships/image"/><Relationship Id="rId17" Target="../media/image23.png" Type="http://schemas.openxmlformats.org/officeDocument/2006/relationships/image"/><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3.png" Type="http://schemas.openxmlformats.org/officeDocument/2006/relationships/image"/><Relationship Id="rId6"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Freeform 2" id="2"/>
          <p:cNvSpPr/>
          <p:nvPr/>
        </p:nvSpPr>
        <p:spPr>
          <a:xfrm flipH="false" flipV="false" rot="0">
            <a:off x="-1407668" y="200080"/>
            <a:ext cx="16012640" cy="16012640"/>
          </a:xfrm>
          <a:custGeom>
            <a:avLst/>
            <a:gdLst/>
            <a:ahLst/>
            <a:cxnLst/>
            <a:rect r="r" b="b" t="t" l="l"/>
            <a:pathLst>
              <a:path h="16012640" w="16012640">
                <a:moveTo>
                  <a:pt x="0" y="0"/>
                </a:moveTo>
                <a:lnTo>
                  <a:pt x="16012640" y="0"/>
                </a:lnTo>
                <a:lnTo>
                  <a:pt x="16012640" y="16012640"/>
                </a:lnTo>
                <a:lnTo>
                  <a:pt x="0" y="160126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56110" y="8811102"/>
            <a:ext cx="2725212" cy="538229"/>
          </a:xfrm>
          <a:custGeom>
            <a:avLst/>
            <a:gdLst/>
            <a:ahLst/>
            <a:cxnLst/>
            <a:rect r="r" b="b" t="t" l="l"/>
            <a:pathLst>
              <a:path h="538229" w="2725212">
                <a:moveTo>
                  <a:pt x="0" y="0"/>
                </a:moveTo>
                <a:lnTo>
                  <a:pt x="2725212" y="0"/>
                </a:lnTo>
                <a:lnTo>
                  <a:pt x="2725212" y="538230"/>
                </a:lnTo>
                <a:lnTo>
                  <a:pt x="0" y="538230"/>
                </a:lnTo>
                <a:lnTo>
                  <a:pt x="0" y="0"/>
                </a:lnTo>
                <a:close/>
              </a:path>
            </a:pathLst>
          </a:custGeom>
          <a:blipFill>
            <a:blip r:embed="rId4"/>
            <a:stretch>
              <a:fillRect l="0" t="0" r="0" b="0"/>
            </a:stretch>
          </a:blipFill>
        </p:spPr>
      </p:sp>
      <p:sp>
        <p:nvSpPr>
          <p:cNvPr name="Freeform 4" id="4"/>
          <p:cNvSpPr/>
          <p:nvPr/>
        </p:nvSpPr>
        <p:spPr>
          <a:xfrm flipH="false" flipV="false" rot="0">
            <a:off x="1027314" y="8206400"/>
            <a:ext cx="1738940" cy="873817"/>
          </a:xfrm>
          <a:custGeom>
            <a:avLst/>
            <a:gdLst/>
            <a:ahLst/>
            <a:cxnLst/>
            <a:rect r="r" b="b" t="t" l="l"/>
            <a:pathLst>
              <a:path h="873817" w="1738940">
                <a:moveTo>
                  <a:pt x="0" y="0"/>
                </a:moveTo>
                <a:lnTo>
                  <a:pt x="1738940" y="0"/>
                </a:lnTo>
                <a:lnTo>
                  <a:pt x="1738940" y="873817"/>
                </a:lnTo>
                <a:lnTo>
                  <a:pt x="0" y="873817"/>
                </a:lnTo>
                <a:lnTo>
                  <a:pt x="0" y="0"/>
                </a:lnTo>
                <a:close/>
              </a:path>
            </a:pathLst>
          </a:custGeom>
          <a:blipFill>
            <a:blip r:embed="rId5"/>
            <a:stretch>
              <a:fillRect l="0" t="0" r="0" b="0"/>
            </a:stretch>
          </a:blipFill>
        </p:spPr>
      </p:sp>
      <p:sp>
        <p:nvSpPr>
          <p:cNvPr name="Freeform 5" id="5"/>
          <p:cNvSpPr/>
          <p:nvPr/>
        </p:nvSpPr>
        <p:spPr>
          <a:xfrm flipH="false" flipV="false" rot="0">
            <a:off x="1426045" y="8409174"/>
            <a:ext cx="941477" cy="445062"/>
          </a:xfrm>
          <a:custGeom>
            <a:avLst/>
            <a:gdLst/>
            <a:ahLst/>
            <a:cxnLst/>
            <a:rect r="r" b="b" t="t" l="l"/>
            <a:pathLst>
              <a:path h="445062" w="941477">
                <a:moveTo>
                  <a:pt x="0" y="0"/>
                </a:moveTo>
                <a:lnTo>
                  <a:pt x="941478" y="0"/>
                </a:lnTo>
                <a:lnTo>
                  <a:pt x="941478" y="445062"/>
                </a:lnTo>
                <a:lnTo>
                  <a:pt x="0" y="445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334419" y="1712961"/>
            <a:ext cx="7367256" cy="7367256"/>
          </a:xfrm>
          <a:custGeom>
            <a:avLst/>
            <a:gdLst/>
            <a:ahLst/>
            <a:cxnLst/>
            <a:rect r="r" b="b" t="t" l="l"/>
            <a:pathLst>
              <a:path h="7367256" w="7367256">
                <a:moveTo>
                  <a:pt x="0" y="0"/>
                </a:moveTo>
                <a:lnTo>
                  <a:pt x="7367256" y="0"/>
                </a:lnTo>
                <a:lnTo>
                  <a:pt x="7367256" y="7367256"/>
                </a:lnTo>
                <a:lnTo>
                  <a:pt x="0" y="7367256"/>
                </a:lnTo>
                <a:lnTo>
                  <a:pt x="0" y="0"/>
                </a:lnTo>
                <a:close/>
              </a:path>
            </a:pathLst>
          </a:custGeom>
          <a:blipFill>
            <a:blip r:embed="rId8"/>
            <a:stretch>
              <a:fillRect l="0" t="0" r="0" b="0"/>
            </a:stretch>
          </a:blipFill>
        </p:spPr>
      </p:sp>
      <p:grpSp>
        <p:nvGrpSpPr>
          <p:cNvPr name="Group 7" id="7"/>
          <p:cNvGrpSpPr/>
          <p:nvPr/>
        </p:nvGrpSpPr>
        <p:grpSpPr>
          <a:xfrm rot="0">
            <a:off x="1028700" y="3775108"/>
            <a:ext cx="8305719" cy="2736784"/>
            <a:chOff x="0" y="0"/>
            <a:chExt cx="11074291" cy="3649045"/>
          </a:xfrm>
        </p:grpSpPr>
        <p:sp>
          <p:nvSpPr>
            <p:cNvPr name="TextBox 8" id="8"/>
            <p:cNvSpPr txBox="true"/>
            <p:nvPr/>
          </p:nvSpPr>
          <p:spPr>
            <a:xfrm rot="0">
              <a:off x="0" y="247650"/>
              <a:ext cx="11074291" cy="2389716"/>
            </a:xfrm>
            <a:prstGeom prst="rect">
              <a:avLst/>
            </a:prstGeom>
          </p:spPr>
          <p:txBody>
            <a:bodyPr anchor="t" rtlCol="false" tIns="0" lIns="0" bIns="0" rIns="0">
              <a:spAutoFit/>
            </a:bodyPr>
            <a:lstStyle/>
            <a:p>
              <a:pPr algn="l">
                <a:lnSpc>
                  <a:spcPts val="12999"/>
                </a:lnSpc>
              </a:pPr>
              <a:r>
                <a:rPr lang="en-US" sz="12999" b="true">
                  <a:solidFill>
                    <a:srgbClr val="FFFFFF"/>
                  </a:solidFill>
                  <a:latin typeface="Nourd Bold"/>
                  <a:ea typeface="Nourd Bold"/>
                  <a:cs typeface="Nourd Bold"/>
                  <a:sym typeface="Nourd Bold"/>
                </a:rPr>
                <a:t>MEDLINK</a:t>
              </a:r>
            </a:p>
          </p:txBody>
        </p:sp>
        <p:sp>
          <p:nvSpPr>
            <p:cNvPr name="TextBox 9" id="9"/>
            <p:cNvSpPr txBox="true"/>
            <p:nvPr/>
          </p:nvSpPr>
          <p:spPr>
            <a:xfrm rot="0">
              <a:off x="0" y="2972770"/>
              <a:ext cx="9178811" cy="676275"/>
            </a:xfrm>
            <a:prstGeom prst="rect">
              <a:avLst/>
            </a:prstGeom>
          </p:spPr>
          <p:txBody>
            <a:bodyPr anchor="t" rtlCol="false" tIns="0" lIns="0" bIns="0" rIns="0">
              <a:spAutoFit/>
            </a:bodyPr>
            <a:lstStyle/>
            <a:p>
              <a:pPr algn="l">
                <a:lnSpc>
                  <a:spcPts val="4200"/>
                </a:lnSpc>
              </a:pPr>
              <a:r>
                <a:rPr lang="en-US" sz="3000">
                  <a:solidFill>
                    <a:srgbClr val="FFFFFF"/>
                  </a:solidFill>
                  <a:latin typeface="Rubik"/>
                  <a:ea typeface="Rubik"/>
                  <a:cs typeface="Rubik"/>
                  <a:sym typeface="Rubik"/>
                </a:rPr>
                <a:t>Seu médico, sua casa, sua agenda.</a:t>
              </a:r>
            </a:p>
          </p:txBody>
        </p:sp>
      </p:grpSp>
      <p:sp>
        <p:nvSpPr>
          <p:cNvPr name="Freeform 10" id="10"/>
          <p:cNvSpPr/>
          <p:nvPr/>
        </p:nvSpPr>
        <p:spPr>
          <a:xfrm flipH="false" flipV="false" rot="0">
            <a:off x="1027314" y="1028700"/>
            <a:ext cx="1707585" cy="1280689"/>
          </a:xfrm>
          <a:custGeom>
            <a:avLst/>
            <a:gdLst/>
            <a:ahLst/>
            <a:cxnLst/>
            <a:rect r="r" b="b" t="t" l="l"/>
            <a:pathLst>
              <a:path h="1280689" w="1707585">
                <a:moveTo>
                  <a:pt x="0" y="0"/>
                </a:moveTo>
                <a:lnTo>
                  <a:pt x="1707585" y="0"/>
                </a:lnTo>
                <a:lnTo>
                  <a:pt x="1707585" y="1280689"/>
                </a:lnTo>
                <a:lnTo>
                  <a:pt x="0" y="1280689"/>
                </a:lnTo>
                <a:lnTo>
                  <a:pt x="0" y="0"/>
                </a:lnTo>
                <a:close/>
              </a:path>
            </a:pathLst>
          </a:custGeom>
          <a:blipFill>
            <a:blip r:embed="rId9"/>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Freeform 2" id="2"/>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2"/>
            <a:stretch>
              <a:fillRect l="0" t="0" r="0" b="0"/>
            </a:stretch>
          </a:blipFill>
        </p:spPr>
      </p:sp>
      <p:sp>
        <p:nvSpPr>
          <p:cNvPr name="Freeform 3" id="3"/>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rot="0">
            <a:off x="0" y="9191625"/>
            <a:ext cx="18288000" cy="0"/>
          </a:xfrm>
          <a:prstGeom prst="line">
            <a:avLst/>
          </a:prstGeom>
          <a:ln cap="flat" w="9525">
            <a:solidFill>
              <a:srgbClr val="FFFFFF">
                <a:alpha val="33725"/>
              </a:srgbClr>
            </a:solidFill>
            <a:prstDash val="solid"/>
            <a:headEnd type="none" len="sm" w="sm"/>
            <a:tailEnd type="none" len="sm" w="sm"/>
          </a:ln>
        </p:spPr>
      </p:sp>
      <p:sp>
        <p:nvSpPr>
          <p:cNvPr name="Freeform 5" id="5"/>
          <p:cNvSpPr/>
          <p:nvPr/>
        </p:nvSpPr>
        <p:spPr>
          <a:xfrm flipH="false" flipV="false" rot="0">
            <a:off x="12147491" y="7002131"/>
            <a:ext cx="4337315" cy="856620"/>
          </a:xfrm>
          <a:custGeom>
            <a:avLst/>
            <a:gdLst/>
            <a:ahLst/>
            <a:cxnLst/>
            <a:rect r="r" b="b" t="t" l="l"/>
            <a:pathLst>
              <a:path h="856620" w="4337315">
                <a:moveTo>
                  <a:pt x="0" y="0"/>
                </a:moveTo>
                <a:lnTo>
                  <a:pt x="4337314" y="0"/>
                </a:lnTo>
                <a:lnTo>
                  <a:pt x="4337314" y="856619"/>
                </a:lnTo>
                <a:lnTo>
                  <a:pt x="0" y="856619"/>
                </a:lnTo>
                <a:lnTo>
                  <a:pt x="0" y="0"/>
                </a:lnTo>
                <a:close/>
              </a:path>
            </a:pathLst>
          </a:custGeom>
          <a:blipFill>
            <a:blip r:embed="rId5"/>
            <a:stretch>
              <a:fillRect l="0" t="0" r="0" b="0"/>
            </a:stretch>
          </a:blipFill>
        </p:spPr>
      </p:sp>
      <p:pic>
        <p:nvPicPr>
          <p:cNvPr name="Picture 6" id="6"/>
          <p:cNvPicPr>
            <a:picLocks noChangeAspect="true"/>
          </p:cNvPicPr>
          <p:nvPr/>
        </p:nvPicPr>
        <p:blipFill>
          <a:blip r:embed="rId6"/>
          <a:stretch>
            <a:fillRect/>
          </a:stretch>
        </p:blipFill>
        <p:spPr>
          <a:xfrm rot="0">
            <a:off x="11651393" y="1750215"/>
            <a:ext cx="5285156" cy="5953176"/>
          </a:xfrm>
          <a:prstGeom prst="rect">
            <a:avLst/>
          </a:prstGeom>
        </p:spPr>
      </p:pic>
      <p:sp>
        <p:nvSpPr>
          <p:cNvPr name="TextBox 7" id="7"/>
          <p:cNvSpPr txBox="true"/>
          <p:nvPr/>
        </p:nvSpPr>
        <p:spPr>
          <a:xfrm rot="0">
            <a:off x="1028700" y="1036643"/>
            <a:ext cx="7656960" cy="1209670"/>
          </a:xfrm>
          <a:prstGeom prst="rect">
            <a:avLst/>
          </a:prstGeom>
        </p:spPr>
        <p:txBody>
          <a:bodyPr anchor="t" rtlCol="false" tIns="0" lIns="0" bIns="0" rIns="0">
            <a:spAutoFit/>
          </a:bodyPr>
          <a:lstStyle/>
          <a:p>
            <a:pPr algn="l" marL="0" indent="0" lvl="0">
              <a:lnSpc>
                <a:spcPts val="9750"/>
              </a:lnSpc>
            </a:pPr>
            <a:r>
              <a:rPr lang="en-US" b="true" sz="7500" u="none">
                <a:solidFill>
                  <a:srgbClr val="FFFFFF"/>
                </a:solidFill>
                <a:latin typeface="Nourd Bold"/>
                <a:ea typeface="Nourd Bold"/>
                <a:cs typeface="Nourd Bold"/>
                <a:sym typeface="Nourd Bold"/>
              </a:rPr>
              <a:t>Equipe</a:t>
            </a:r>
          </a:p>
        </p:txBody>
      </p:sp>
      <p:sp>
        <p:nvSpPr>
          <p:cNvPr name="TextBox 8" id="8"/>
          <p:cNvSpPr txBox="true"/>
          <p:nvPr/>
        </p:nvSpPr>
        <p:spPr>
          <a:xfrm rot="0">
            <a:off x="13337621" y="9500303"/>
            <a:ext cx="3102830" cy="297180"/>
          </a:xfrm>
          <a:prstGeom prst="rect">
            <a:avLst/>
          </a:prstGeom>
        </p:spPr>
        <p:txBody>
          <a:bodyPr anchor="t" rtlCol="false" tIns="0" lIns="0" bIns="0" rIns="0">
            <a:spAutoFit/>
          </a:bodyPr>
          <a:lstStyle/>
          <a:p>
            <a:pPr algn="r">
              <a:lnSpc>
                <a:spcPts val="2520"/>
              </a:lnSpc>
            </a:pPr>
            <a:r>
              <a:rPr lang="en-US" b="true" sz="1800" u="none">
                <a:solidFill>
                  <a:srgbClr val="FFFFFF"/>
                </a:solidFill>
                <a:latin typeface="Nourd Bold"/>
                <a:ea typeface="Nourd Bold"/>
                <a:cs typeface="Nourd Bold"/>
                <a:sym typeface="Nourd Bold"/>
              </a:rPr>
              <a:t>Voltar ao índice</a:t>
            </a:r>
          </a:p>
        </p:txBody>
      </p:sp>
      <p:sp>
        <p:nvSpPr>
          <p:cNvPr name="TextBox 9" id="9"/>
          <p:cNvSpPr txBox="true"/>
          <p:nvPr/>
        </p:nvSpPr>
        <p:spPr>
          <a:xfrm rot="0">
            <a:off x="1181100" y="2523754"/>
            <a:ext cx="12308921" cy="986155"/>
          </a:xfrm>
          <a:prstGeom prst="rect">
            <a:avLst/>
          </a:prstGeom>
        </p:spPr>
        <p:txBody>
          <a:bodyPr anchor="t" rtlCol="false" tIns="0" lIns="0" bIns="0" rIns="0">
            <a:spAutoFit/>
          </a:bodyPr>
          <a:lstStyle/>
          <a:p>
            <a:pPr algn="l">
              <a:lnSpc>
                <a:spcPts val="3919"/>
              </a:lnSpc>
            </a:pPr>
            <a:r>
              <a:rPr lang="en-US" sz="2799">
                <a:solidFill>
                  <a:srgbClr val="FFFFFF"/>
                </a:solidFill>
                <a:latin typeface="Rubik"/>
                <a:ea typeface="Rubik"/>
                <a:cs typeface="Rubik"/>
                <a:sym typeface="Rubik"/>
              </a:rPr>
              <a:t>Ryan Robert Barreto de Almeida</a:t>
            </a:r>
          </a:p>
          <a:p>
            <a:pPr algn="l">
              <a:lnSpc>
                <a:spcPts val="3919"/>
              </a:lnSpc>
            </a:pPr>
            <a:r>
              <a:rPr lang="en-US" sz="2799">
                <a:solidFill>
                  <a:srgbClr val="FFFFFF"/>
                </a:solidFill>
                <a:latin typeface="Rubik"/>
                <a:ea typeface="Rubik"/>
                <a:cs typeface="Rubik"/>
                <a:sym typeface="Rubik"/>
              </a:rPr>
              <a:t>João Pedro Leite</a:t>
            </a:r>
          </a:p>
        </p:txBody>
      </p:sp>
      <p:sp>
        <p:nvSpPr>
          <p:cNvPr name="TextBox 10" id="10"/>
          <p:cNvSpPr txBox="true"/>
          <p:nvPr/>
        </p:nvSpPr>
        <p:spPr>
          <a:xfrm rot="0">
            <a:off x="1028700" y="4505327"/>
            <a:ext cx="7656960" cy="1209670"/>
          </a:xfrm>
          <a:prstGeom prst="rect">
            <a:avLst/>
          </a:prstGeom>
        </p:spPr>
        <p:txBody>
          <a:bodyPr anchor="t" rtlCol="false" tIns="0" lIns="0" bIns="0" rIns="0">
            <a:spAutoFit/>
          </a:bodyPr>
          <a:lstStyle/>
          <a:p>
            <a:pPr algn="l" marL="0" indent="0" lvl="0">
              <a:lnSpc>
                <a:spcPts val="9750"/>
              </a:lnSpc>
            </a:pPr>
            <a:r>
              <a:rPr lang="en-US" b="true" sz="7500">
                <a:solidFill>
                  <a:srgbClr val="FFFFFF"/>
                </a:solidFill>
                <a:latin typeface="Nourd Bold"/>
                <a:ea typeface="Nourd Bold"/>
                <a:cs typeface="Nourd Bold"/>
                <a:sym typeface="Nourd Bold"/>
              </a:rPr>
              <a:t>Professor</a:t>
            </a:r>
          </a:p>
        </p:txBody>
      </p:sp>
      <p:sp>
        <p:nvSpPr>
          <p:cNvPr name="TextBox 11" id="11"/>
          <p:cNvSpPr txBox="true"/>
          <p:nvPr/>
        </p:nvSpPr>
        <p:spPr>
          <a:xfrm rot="0">
            <a:off x="1028700" y="5824352"/>
            <a:ext cx="12308921" cy="490855"/>
          </a:xfrm>
          <a:prstGeom prst="rect">
            <a:avLst/>
          </a:prstGeom>
        </p:spPr>
        <p:txBody>
          <a:bodyPr anchor="t" rtlCol="false" tIns="0" lIns="0" bIns="0" rIns="0">
            <a:spAutoFit/>
          </a:bodyPr>
          <a:lstStyle/>
          <a:p>
            <a:pPr algn="l">
              <a:lnSpc>
                <a:spcPts val="3919"/>
              </a:lnSpc>
            </a:pPr>
            <a:r>
              <a:rPr lang="en-US" sz="2799">
                <a:solidFill>
                  <a:srgbClr val="FFFFFF"/>
                </a:solidFill>
                <a:latin typeface="Rubik"/>
                <a:ea typeface="Rubik"/>
                <a:cs typeface="Rubik"/>
                <a:sym typeface="Rubik"/>
              </a:rPr>
              <a:t>Heleno Cardoso</a:t>
            </a:r>
          </a:p>
        </p:txBody>
      </p:sp>
      <p:sp>
        <p:nvSpPr>
          <p:cNvPr name="TextBox 12" id="12"/>
          <p:cNvSpPr txBox="true"/>
          <p:nvPr/>
        </p:nvSpPr>
        <p:spPr>
          <a:xfrm rot="0">
            <a:off x="6442514" y="9509500"/>
            <a:ext cx="5704977" cy="490855"/>
          </a:xfrm>
          <a:prstGeom prst="rect">
            <a:avLst/>
          </a:prstGeom>
        </p:spPr>
        <p:txBody>
          <a:bodyPr anchor="t" rtlCol="false" tIns="0" lIns="0" bIns="0" rIns="0">
            <a:spAutoFit/>
          </a:bodyPr>
          <a:lstStyle/>
          <a:p>
            <a:pPr algn="l">
              <a:lnSpc>
                <a:spcPts val="3919"/>
              </a:lnSpc>
            </a:pPr>
            <a:r>
              <a:rPr lang="en-US" sz="2799">
                <a:solidFill>
                  <a:srgbClr val="FFFFFF"/>
                </a:solidFill>
                <a:latin typeface="Rubik"/>
                <a:ea typeface="Rubik"/>
                <a:cs typeface="Rubik"/>
                <a:sym typeface="Rubik"/>
              </a:rPr>
              <a:t>Universidade Uniruy Wyden, 2025.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grpSp>
        <p:nvGrpSpPr>
          <p:cNvPr name="Group 2" id="2"/>
          <p:cNvGrpSpPr/>
          <p:nvPr/>
        </p:nvGrpSpPr>
        <p:grpSpPr>
          <a:xfrm rot="0">
            <a:off x="923258" y="4492205"/>
            <a:ext cx="7843358" cy="4114800"/>
            <a:chOff x="0" y="0"/>
            <a:chExt cx="2065740" cy="1083733"/>
          </a:xfrm>
        </p:grpSpPr>
        <p:sp>
          <p:nvSpPr>
            <p:cNvPr name="Freeform 3" id="3"/>
            <p:cNvSpPr/>
            <p:nvPr/>
          </p:nvSpPr>
          <p:spPr>
            <a:xfrm flipH="false" flipV="false" rot="0">
              <a:off x="0" y="0"/>
              <a:ext cx="2065740" cy="1083733"/>
            </a:xfrm>
            <a:custGeom>
              <a:avLst/>
              <a:gdLst/>
              <a:ahLst/>
              <a:cxnLst/>
              <a:rect r="r" b="b" t="t" l="l"/>
              <a:pathLst>
                <a:path h="1083733" w="2065740">
                  <a:moveTo>
                    <a:pt x="49353" y="0"/>
                  </a:moveTo>
                  <a:lnTo>
                    <a:pt x="2016387" y="0"/>
                  </a:lnTo>
                  <a:cubicBezTo>
                    <a:pt x="2043644" y="0"/>
                    <a:pt x="2065740" y="22096"/>
                    <a:pt x="2065740" y="49353"/>
                  </a:cubicBezTo>
                  <a:lnTo>
                    <a:pt x="2065740" y="1034380"/>
                  </a:lnTo>
                  <a:cubicBezTo>
                    <a:pt x="2065740" y="1061637"/>
                    <a:pt x="2043644" y="1083733"/>
                    <a:pt x="2016387" y="1083733"/>
                  </a:cubicBezTo>
                  <a:lnTo>
                    <a:pt x="49353" y="1083733"/>
                  </a:lnTo>
                  <a:cubicBezTo>
                    <a:pt x="22096" y="1083733"/>
                    <a:pt x="0" y="1061637"/>
                    <a:pt x="0" y="1034380"/>
                  </a:cubicBezTo>
                  <a:lnTo>
                    <a:pt x="0" y="49353"/>
                  </a:lnTo>
                  <a:cubicBezTo>
                    <a:pt x="0" y="22096"/>
                    <a:pt x="22096" y="0"/>
                    <a:pt x="49353" y="0"/>
                  </a:cubicBezTo>
                  <a:close/>
                </a:path>
              </a:pathLst>
            </a:custGeom>
            <a:solidFill>
              <a:srgbClr val="6D85FF">
                <a:alpha val="29804"/>
              </a:srgbClr>
            </a:solidFill>
          </p:spPr>
        </p:sp>
        <p:sp>
          <p:nvSpPr>
            <p:cNvPr name="TextBox 4" id="4"/>
            <p:cNvSpPr txBox="true"/>
            <p:nvPr/>
          </p:nvSpPr>
          <p:spPr>
            <a:xfrm>
              <a:off x="0" y="-47625"/>
              <a:ext cx="2065740" cy="1131358"/>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9415942" y="4492205"/>
            <a:ext cx="7843358" cy="4114800"/>
            <a:chOff x="0" y="0"/>
            <a:chExt cx="2065740" cy="1083733"/>
          </a:xfrm>
        </p:grpSpPr>
        <p:sp>
          <p:nvSpPr>
            <p:cNvPr name="Freeform 6" id="6"/>
            <p:cNvSpPr/>
            <p:nvPr/>
          </p:nvSpPr>
          <p:spPr>
            <a:xfrm flipH="false" flipV="false" rot="0">
              <a:off x="0" y="0"/>
              <a:ext cx="2065740" cy="1083733"/>
            </a:xfrm>
            <a:custGeom>
              <a:avLst/>
              <a:gdLst/>
              <a:ahLst/>
              <a:cxnLst/>
              <a:rect r="r" b="b" t="t" l="l"/>
              <a:pathLst>
                <a:path h="1083733" w="2065740">
                  <a:moveTo>
                    <a:pt x="49353" y="0"/>
                  </a:moveTo>
                  <a:lnTo>
                    <a:pt x="2016387" y="0"/>
                  </a:lnTo>
                  <a:cubicBezTo>
                    <a:pt x="2043644" y="0"/>
                    <a:pt x="2065740" y="22096"/>
                    <a:pt x="2065740" y="49353"/>
                  </a:cubicBezTo>
                  <a:lnTo>
                    <a:pt x="2065740" y="1034380"/>
                  </a:lnTo>
                  <a:cubicBezTo>
                    <a:pt x="2065740" y="1061637"/>
                    <a:pt x="2043644" y="1083733"/>
                    <a:pt x="2016387" y="1083733"/>
                  </a:cubicBezTo>
                  <a:lnTo>
                    <a:pt x="49353" y="1083733"/>
                  </a:lnTo>
                  <a:cubicBezTo>
                    <a:pt x="22096" y="1083733"/>
                    <a:pt x="0" y="1061637"/>
                    <a:pt x="0" y="1034380"/>
                  </a:cubicBezTo>
                  <a:lnTo>
                    <a:pt x="0" y="49353"/>
                  </a:lnTo>
                  <a:cubicBezTo>
                    <a:pt x="0" y="22096"/>
                    <a:pt x="22096" y="0"/>
                    <a:pt x="49353" y="0"/>
                  </a:cubicBezTo>
                  <a:close/>
                </a:path>
              </a:pathLst>
            </a:custGeom>
            <a:solidFill>
              <a:srgbClr val="6D85FF">
                <a:alpha val="29804"/>
              </a:srgbClr>
            </a:solidFill>
          </p:spPr>
        </p:sp>
        <p:sp>
          <p:nvSpPr>
            <p:cNvPr name="TextBox 7" id="7"/>
            <p:cNvSpPr txBox="true"/>
            <p:nvPr/>
          </p:nvSpPr>
          <p:spPr>
            <a:xfrm>
              <a:off x="0" y="-47625"/>
              <a:ext cx="2065740" cy="1131358"/>
            </a:xfrm>
            <a:prstGeom prst="rect">
              <a:avLst/>
            </a:prstGeom>
          </p:spPr>
          <p:txBody>
            <a:bodyPr anchor="ctr" rtlCol="false" tIns="50800" lIns="50800" bIns="50800" rIns="50800"/>
            <a:lstStyle/>
            <a:p>
              <a:pPr algn="ctr">
                <a:lnSpc>
                  <a:spcPts val="3499"/>
                </a:lnSpc>
              </a:pPr>
            </a:p>
          </p:txBody>
        </p:sp>
      </p:grpSp>
      <p:sp>
        <p:nvSpPr>
          <p:cNvPr name="Freeform 8" id="8"/>
          <p:cNvSpPr/>
          <p:nvPr/>
        </p:nvSpPr>
        <p:spPr>
          <a:xfrm flipH="false" flipV="false" rot="0">
            <a:off x="10245401" y="4913938"/>
            <a:ext cx="3797075" cy="1044196"/>
          </a:xfrm>
          <a:custGeom>
            <a:avLst/>
            <a:gdLst/>
            <a:ahLst/>
            <a:cxnLst/>
            <a:rect r="r" b="b" t="t" l="l"/>
            <a:pathLst>
              <a:path h="1044196" w="3797075">
                <a:moveTo>
                  <a:pt x="0" y="0"/>
                </a:moveTo>
                <a:lnTo>
                  <a:pt x="3797075" y="0"/>
                </a:lnTo>
                <a:lnTo>
                  <a:pt x="3797075" y="1044195"/>
                </a:lnTo>
                <a:lnTo>
                  <a:pt x="0" y="1044195"/>
                </a:lnTo>
                <a:lnTo>
                  <a:pt x="0" y="0"/>
                </a:lnTo>
                <a:close/>
              </a:path>
            </a:pathLst>
          </a:custGeom>
          <a:blipFill>
            <a:blip r:embed="rId2"/>
            <a:stretch>
              <a:fillRect l="0" t="0" r="0" b="0"/>
            </a:stretch>
          </a:blipFill>
        </p:spPr>
      </p:sp>
      <p:sp>
        <p:nvSpPr>
          <p:cNvPr name="Freeform 9" id="9"/>
          <p:cNvSpPr/>
          <p:nvPr/>
        </p:nvSpPr>
        <p:spPr>
          <a:xfrm flipH="false" flipV="false" rot="0">
            <a:off x="13867584" y="3517877"/>
            <a:ext cx="3391716" cy="669864"/>
          </a:xfrm>
          <a:custGeom>
            <a:avLst/>
            <a:gdLst/>
            <a:ahLst/>
            <a:cxnLst/>
            <a:rect r="r" b="b" t="t" l="l"/>
            <a:pathLst>
              <a:path h="669864" w="3391716">
                <a:moveTo>
                  <a:pt x="0" y="0"/>
                </a:moveTo>
                <a:lnTo>
                  <a:pt x="3391716" y="0"/>
                </a:lnTo>
                <a:lnTo>
                  <a:pt x="3391716" y="669864"/>
                </a:lnTo>
                <a:lnTo>
                  <a:pt x="0" y="669864"/>
                </a:lnTo>
                <a:lnTo>
                  <a:pt x="0" y="0"/>
                </a:lnTo>
                <a:close/>
              </a:path>
            </a:pathLst>
          </a:custGeom>
          <a:blipFill>
            <a:blip r:embed="rId3"/>
            <a:stretch>
              <a:fillRect l="0" t="0" r="0" b="0"/>
            </a:stretch>
          </a:blipFill>
        </p:spPr>
      </p:sp>
      <p:sp>
        <p:nvSpPr>
          <p:cNvPr name="Freeform 10" id="10"/>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4"/>
            <a:stretch>
              <a:fillRect l="0" t="0" r="0" b="0"/>
            </a:stretch>
          </a:blipFill>
        </p:spPr>
      </p:sp>
      <p:sp>
        <p:nvSpPr>
          <p:cNvPr name="Freeform 11" id="11"/>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2" id="12"/>
          <p:cNvSpPr/>
          <p:nvPr/>
        </p:nvSpPr>
        <p:spPr>
          <a:xfrm rot="0">
            <a:off x="0" y="9191625"/>
            <a:ext cx="18288000" cy="0"/>
          </a:xfrm>
          <a:prstGeom prst="line">
            <a:avLst/>
          </a:prstGeom>
          <a:ln cap="flat" w="9525">
            <a:solidFill>
              <a:srgbClr val="FFFFFF">
                <a:alpha val="33725"/>
              </a:srgbClr>
            </a:solidFill>
            <a:prstDash val="solid"/>
            <a:headEnd type="none" len="sm" w="sm"/>
            <a:tailEnd type="none" len="sm" w="sm"/>
          </a:ln>
        </p:spPr>
      </p:sp>
      <p:pic>
        <p:nvPicPr>
          <p:cNvPr name="Picture 13" id="13"/>
          <p:cNvPicPr>
            <a:picLocks noChangeAspect="true"/>
          </p:cNvPicPr>
          <p:nvPr/>
        </p:nvPicPr>
        <p:blipFill>
          <a:blip r:embed="rId7"/>
          <a:stretch>
            <a:fillRect/>
          </a:stretch>
        </p:blipFill>
        <p:spPr>
          <a:xfrm rot="0">
            <a:off x="13942119" y="-236612"/>
            <a:ext cx="3242648" cy="4150792"/>
          </a:xfrm>
          <a:prstGeom prst="rect">
            <a:avLst/>
          </a:prstGeom>
        </p:spPr>
      </p:pic>
      <p:grpSp>
        <p:nvGrpSpPr>
          <p:cNvPr name="Group 14" id="14"/>
          <p:cNvGrpSpPr/>
          <p:nvPr/>
        </p:nvGrpSpPr>
        <p:grpSpPr>
          <a:xfrm rot="0">
            <a:off x="1494737" y="4913938"/>
            <a:ext cx="3797075" cy="1044196"/>
            <a:chOff x="0" y="0"/>
            <a:chExt cx="5062766" cy="1392261"/>
          </a:xfrm>
        </p:grpSpPr>
        <p:sp>
          <p:nvSpPr>
            <p:cNvPr name="Freeform 15" id="15"/>
            <p:cNvSpPr/>
            <p:nvPr/>
          </p:nvSpPr>
          <p:spPr>
            <a:xfrm flipH="false" flipV="false" rot="0">
              <a:off x="0" y="0"/>
              <a:ext cx="5062766" cy="1392261"/>
            </a:xfrm>
            <a:custGeom>
              <a:avLst/>
              <a:gdLst/>
              <a:ahLst/>
              <a:cxnLst/>
              <a:rect r="r" b="b" t="t" l="l"/>
              <a:pathLst>
                <a:path h="1392261" w="5062766">
                  <a:moveTo>
                    <a:pt x="0" y="0"/>
                  </a:moveTo>
                  <a:lnTo>
                    <a:pt x="5062766" y="0"/>
                  </a:lnTo>
                  <a:lnTo>
                    <a:pt x="5062766" y="1392261"/>
                  </a:lnTo>
                  <a:lnTo>
                    <a:pt x="0" y="1392261"/>
                  </a:lnTo>
                  <a:lnTo>
                    <a:pt x="0" y="0"/>
                  </a:lnTo>
                  <a:close/>
                </a:path>
              </a:pathLst>
            </a:custGeom>
            <a:blipFill>
              <a:blip r:embed="rId2"/>
              <a:stretch>
                <a:fillRect l="0" t="0" r="0" b="0"/>
              </a:stretch>
            </a:blipFill>
          </p:spPr>
        </p:sp>
        <p:sp>
          <p:nvSpPr>
            <p:cNvPr name="TextBox 16" id="16"/>
            <p:cNvSpPr txBox="true"/>
            <p:nvPr/>
          </p:nvSpPr>
          <p:spPr>
            <a:xfrm rot="0">
              <a:off x="595832" y="334180"/>
              <a:ext cx="3871102" cy="5969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000000"/>
                  </a:solidFill>
                  <a:latin typeface="Rubik Semi-Bold"/>
                  <a:ea typeface="Rubik Semi-Bold"/>
                  <a:cs typeface="Rubik Semi-Bold"/>
                  <a:sym typeface="Rubik Semi-Bold"/>
                </a:rPr>
                <a:t>OBJETIVOS</a:t>
              </a:r>
            </a:p>
          </p:txBody>
        </p:sp>
      </p:grpSp>
      <p:sp>
        <p:nvSpPr>
          <p:cNvPr name="TextBox 17" id="17"/>
          <p:cNvSpPr txBox="true"/>
          <p:nvPr/>
        </p:nvSpPr>
        <p:spPr>
          <a:xfrm rot="0">
            <a:off x="1028700" y="830521"/>
            <a:ext cx="12308921" cy="1209670"/>
          </a:xfrm>
          <a:prstGeom prst="rect">
            <a:avLst/>
          </a:prstGeom>
        </p:spPr>
        <p:txBody>
          <a:bodyPr anchor="t" rtlCol="false" tIns="0" lIns="0" bIns="0" rIns="0">
            <a:spAutoFit/>
          </a:bodyPr>
          <a:lstStyle/>
          <a:p>
            <a:pPr algn="l" marL="0" indent="0" lvl="0">
              <a:lnSpc>
                <a:spcPts val="9750"/>
              </a:lnSpc>
            </a:pPr>
            <a:r>
              <a:rPr lang="en-US" b="true" sz="7500">
                <a:solidFill>
                  <a:srgbClr val="FFFFFF"/>
                </a:solidFill>
                <a:latin typeface="Nourd Bold"/>
                <a:ea typeface="Nourd Bold"/>
                <a:cs typeface="Nourd Bold"/>
                <a:sym typeface="Nourd Bold"/>
              </a:rPr>
              <a:t> MOTIVAÇÃO</a:t>
            </a:r>
          </a:p>
        </p:txBody>
      </p:sp>
      <p:sp>
        <p:nvSpPr>
          <p:cNvPr name="TextBox 18" id="18"/>
          <p:cNvSpPr txBox="true"/>
          <p:nvPr/>
        </p:nvSpPr>
        <p:spPr>
          <a:xfrm rot="0">
            <a:off x="1028700" y="2371354"/>
            <a:ext cx="12308921" cy="1481455"/>
          </a:xfrm>
          <a:prstGeom prst="rect">
            <a:avLst/>
          </a:prstGeom>
        </p:spPr>
        <p:txBody>
          <a:bodyPr anchor="t" rtlCol="false" tIns="0" lIns="0" bIns="0" rIns="0">
            <a:spAutoFit/>
          </a:bodyPr>
          <a:lstStyle/>
          <a:p>
            <a:pPr algn="l">
              <a:lnSpc>
                <a:spcPts val="3919"/>
              </a:lnSpc>
            </a:pPr>
            <a:r>
              <a:rPr lang="en-US" sz="2799">
                <a:solidFill>
                  <a:srgbClr val="FFFFFF"/>
                </a:solidFill>
                <a:latin typeface="Rubik"/>
                <a:ea typeface="Rubik"/>
                <a:cs typeface="Rubik"/>
                <a:sym typeface="Rubik"/>
              </a:rPr>
              <a:t>A motivação para o desenvolvimento desta aplicação surgiu da necessidade de simplificar processos burocráticos e descentralizados ainda comuns na área da saúde.</a:t>
            </a:r>
          </a:p>
        </p:txBody>
      </p:sp>
      <p:sp>
        <p:nvSpPr>
          <p:cNvPr name="TextBox 19" id="19"/>
          <p:cNvSpPr txBox="true"/>
          <p:nvPr/>
        </p:nvSpPr>
        <p:spPr>
          <a:xfrm rot="0">
            <a:off x="1028700" y="6056980"/>
            <a:ext cx="7072690" cy="2176463"/>
          </a:xfrm>
          <a:prstGeom prst="rect">
            <a:avLst/>
          </a:prstGeom>
        </p:spPr>
        <p:txBody>
          <a:bodyPr anchor="t" rtlCol="false" tIns="0" lIns="0" bIns="0" rIns="0">
            <a:spAutoFit/>
          </a:bodyPr>
          <a:lstStyle/>
          <a:p>
            <a:pPr algn="just" marL="539748" indent="-269874" lvl="1">
              <a:lnSpc>
                <a:spcPts val="3474"/>
              </a:lnSpc>
              <a:buFont typeface="Arial"/>
              <a:buChar char="•"/>
            </a:pPr>
            <a:r>
              <a:rPr lang="en-US" sz="2499">
                <a:solidFill>
                  <a:srgbClr val="FFFFFF"/>
                </a:solidFill>
                <a:latin typeface="Rubik"/>
                <a:ea typeface="Rubik"/>
                <a:cs typeface="Rubik"/>
                <a:sym typeface="Rubik"/>
              </a:rPr>
              <a:t>Desenvolver um site para agendamento de consultas médicas de forma prática e rápida;</a:t>
            </a:r>
          </a:p>
          <a:p>
            <a:pPr algn="l" marL="539748" indent="-269874" lvl="1">
              <a:lnSpc>
                <a:spcPts val="3499"/>
              </a:lnSpc>
              <a:buFont typeface="Arial"/>
              <a:buChar char="•"/>
            </a:pPr>
            <a:r>
              <a:rPr lang="en-US" sz="2499">
                <a:solidFill>
                  <a:srgbClr val="FFFFFF"/>
                </a:solidFill>
                <a:latin typeface="Rubik"/>
                <a:ea typeface="Rubik"/>
                <a:cs typeface="Rubik"/>
                <a:sym typeface="Rubik"/>
              </a:rPr>
              <a:t>Promover o acesso à saúde com conforto e conveniência;</a:t>
            </a:r>
          </a:p>
        </p:txBody>
      </p:sp>
      <p:sp>
        <p:nvSpPr>
          <p:cNvPr name="TextBox 20" id="20"/>
          <p:cNvSpPr txBox="true"/>
          <p:nvPr/>
        </p:nvSpPr>
        <p:spPr>
          <a:xfrm rot="0">
            <a:off x="10692275" y="5164573"/>
            <a:ext cx="2903326" cy="447675"/>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000000"/>
                </a:solidFill>
                <a:latin typeface="Rubik Semi-Bold"/>
                <a:ea typeface="Rubik Semi-Bold"/>
                <a:cs typeface="Rubik Semi-Bold"/>
                <a:sym typeface="Rubik Semi-Bold"/>
              </a:rPr>
              <a:t>METAS</a:t>
            </a:r>
          </a:p>
        </p:txBody>
      </p:sp>
      <p:sp>
        <p:nvSpPr>
          <p:cNvPr name="TextBox 21" id="21"/>
          <p:cNvSpPr txBox="true"/>
          <p:nvPr/>
        </p:nvSpPr>
        <p:spPr>
          <a:xfrm rot="0">
            <a:off x="9415942" y="6056980"/>
            <a:ext cx="7072690" cy="217487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FFFFFF"/>
                </a:solidFill>
                <a:latin typeface="Rubik"/>
                <a:ea typeface="Rubik"/>
                <a:cs typeface="Rubik"/>
                <a:sym typeface="Rubik"/>
              </a:rPr>
              <a:t>Centralizar e otimizar todo o fluxo de agendamento;</a:t>
            </a:r>
          </a:p>
          <a:p>
            <a:pPr algn="l" marL="539748" indent="-269874" lvl="1">
              <a:lnSpc>
                <a:spcPts val="3499"/>
              </a:lnSpc>
              <a:buFont typeface="Arial"/>
              <a:buChar char="•"/>
            </a:pPr>
            <a:r>
              <a:rPr lang="en-US" sz="2499">
                <a:solidFill>
                  <a:srgbClr val="FFFFFF"/>
                </a:solidFill>
                <a:latin typeface="Rubik"/>
                <a:ea typeface="Rubik"/>
                <a:cs typeface="Rubik"/>
                <a:sym typeface="Rubik"/>
              </a:rPr>
              <a:t>Promover um cuidado mais eficiente e acessível;</a:t>
            </a:r>
          </a:p>
          <a:p>
            <a:pPr algn="l">
              <a:lnSpc>
                <a:spcPts val="34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grpSp>
        <p:nvGrpSpPr>
          <p:cNvPr name="Group 2" id="2"/>
          <p:cNvGrpSpPr/>
          <p:nvPr/>
        </p:nvGrpSpPr>
        <p:grpSpPr>
          <a:xfrm rot="0">
            <a:off x="501872" y="3250168"/>
            <a:ext cx="17284256" cy="2592814"/>
            <a:chOff x="0" y="0"/>
            <a:chExt cx="4552232" cy="682881"/>
          </a:xfrm>
        </p:grpSpPr>
        <p:sp>
          <p:nvSpPr>
            <p:cNvPr name="Freeform 3" id="3"/>
            <p:cNvSpPr/>
            <p:nvPr/>
          </p:nvSpPr>
          <p:spPr>
            <a:xfrm flipH="false" flipV="false" rot="0">
              <a:off x="0" y="0"/>
              <a:ext cx="4552232" cy="682881"/>
            </a:xfrm>
            <a:custGeom>
              <a:avLst/>
              <a:gdLst/>
              <a:ahLst/>
              <a:cxnLst/>
              <a:rect r="r" b="b" t="t" l="l"/>
              <a:pathLst>
                <a:path h="682881" w="4552232">
                  <a:moveTo>
                    <a:pt x="34938" y="0"/>
                  </a:moveTo>
                  <a:lnTo>
                    <a:pt x="4517295" y="0"/>
                  </a:lnTo>
                  <a:cubicBezTo>
                    <a:pt x="4526561" y="0"/>
                    <a:pt x="4535447" y="3681"/>
                    <a:pt x="4541999" y="10233"/>
                  </a:cubicBezTo>
                  <a:cubicBezTo>
                    <a:pt x="4548551" y="16785"/>
                    <a:pt x="4552232" y="25672"/>
                    <a:pt x="4552232" y="34938"/>
                  </a:cubicBezTo>
                  <a:lnTo>
                    <a:pt x="4552232" y="647944"/>
                  </a:lnTo>
                  <a:cubicBezTo>
                    <a:pt x="4552232" y="667239"/>
                    <a:pt x="4536590" y="682881"/>
                    <a:pt x="4517295" y="682881"/>
                  </a:cubicBezTo>
                  <a:lnTo>
                    <a:pt x="34938" y="682881"/>
                  </a:lnTo>
                  <a:cubicBezTo>
                    <a:pt x="15642" y="682881"/>
                    <a:pt x="0" y="667239"/>
                    <a:pt x="0" y="647944"/>
                  </a:cubicBezTo>
                  <a:lnTo>
                    <a:pt x="0" y="34938"/>
                  </a:lnTo>
                  <a:cubicBezTo>
                    <a:pt x="0" y="15642"/>
                    <a:pt x="15642" y="0"/>
                    <a:pt x="34938" y="0"/>
                  </a:cubicBezTo>
                  <a:close/>
                </a:path>
              </a:pathLst>
            </a:custGeom>
            <a:solidFill>
              <a:srgbClr val="6D85FF">
                <a:alpha val="29804"/>
              </a:srgbClr>
            </a:solidFill>
          </p:spPr>
        </p:sp>
        <p:sp>
          <p:nvSpPr>
            <p:cNvPr name="TextBox 4" id="4"/>
            <p:cNvSpPr txBox="true"/>
            <p:nvPr/>
          </p:nvSpPr>
          <p:spPr>
            <a:xfrm>
              <a:off x="0" y="-47625"/>
              <a:ext cx="4552232" cy="730506"/>
            </a:xfrm>
            <a:prstGeom prst="rect">
              <a:avLst/>
            </a:prstGeom>
          </p:spPr>
          <p:txBody>
            <a:bodyPr anchor="ctr" rtlCol="false" tIns="50800" lIns="50800" bIns="50800" rIns="50800"/>
            <a:lstStyle/>
            <a:p>
              <a:pPr algn="ctr">
                <a:lnSpc>
                  <a:spcPts val="3499"/>
                </a:lnSpc>
              </a:pPr>
            </a:p>
          </p:txBody>
        </p:sp>
      </p:grpSp>
      <p:sp>
        <p:nvSpPr>
          <p:cNvPr name="Freeform 5" id="5"/>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2"/>
            <a:stretch>
              <a:fillRect l="0" t="0" r="0" b="0"/>
            </a:stretch>
          </a:blipFill>
        </p:spPr>
      </p:sp>
      <p:sp>
        <p:nvSpPr>
          <p:cNvPr name="Freeform 6" id="6"/>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0" y="9263062"/>
            <a:ext cx="18288000" cy="0"/>
          </a:xfrm>
          <a:prstGeom prst="line">
            <a:avLst/>
          </a:prstGeom>
          <a:ln cap="flat" w="9525">
            <a:solidFill>
              <a:srgbClr val="FFFFFF">
                <a:alpha val="33725"/>
              </a:srgbClr>
            </a:solidFill>
            <a:prstDash val="solid"/>
            <a:headEnd type="none" len="sm" w="sm"/>
            <a:tailEnd type="none" len="sm" w="sm"/>
          </a:ln>
        </p:spPr>
      </p:sp>
      <p:grpSp>
        <p:nvGrpSpPr>
          <p:cNvPr name="Group 8" id="8"/>
          <p:cNvGrpSpPr/>
          <p:nvPr/>
        </p:nvGrpSpPr>
        <p:grpSpPr>
          <a:xfrm rot="0">
            <a:off x="1135472" y="3212907"/>
            <a:ext cx="1982423" cy="2159645"/>
            <a:chOff x="0" y="0"/>
            <a:chExt cx="2643230" cy="2879527"/>
          </a:xfrm>
        </p:grpSpPr>
        <p:sp>
          <p:nvSpPr>
            <p:cNvPr name="Freeform 9" id="9"/>
            <p:cNvSpPr/>
            <p:nvPr/>
          </p:nvSpPr>
          <p:spPr>
            <a:xfrm flipH="false" flipV="false" rot="0">
              <a:off x="427599" y="2014208"/>
              <a:ext cx="2215631" cy="692599"/>
            </a:xfrm>
            <a:custGeom>
              <a:avLst/>
              <a:gdLst/>
              <a:ahLst/>
              <a:cxnLst/>
              <a:rect r="r" b="b" t="t" l="l"/>
              <a:pathLst>
                <a:path h="692599" w="2215631">
                  <a:moveTo>
                    <a:pt x="0" y="0"/>
                  </a:moveTo>
                  <a:lnTo>
                    <a:pt x="2215631" y="0"/>
                  </a:lnTo>
                  <a:lnTo>
                    <a:pt x="2215631" y="692599"/>
                  </a:lnTo>
                  <a:lnTo>
                    <a:pt x="0" y="692599"/>
                  </a:lnTo>
                  <a:lnTo>
                    <a:pt x="0" y="0"/>
                  </a:lnTo>
                  <a:close/>
                </a:path>
              </a:pathLst>
            </a:custGeom>
            <a:blipFill>
              <a:blip r:embed="rId5">
                <a:alphaModFix amt="25000"/>
              </a:blip>
              <a:stretch>
                <a:fillRect l="-29138" t="0" r="-29138" b="0"/>
              </a:stretch>
            </a:blipFill>
          </p:spPr>
        </p:sp>
        <p:sp>
          <p:nvSpPr>
            <p:cNvPr name="Freeform 10" id="10"/>
            <p:cNvSpPr/>
            <p:nvPr/>
          </p:nvSpPr>
          <p:spPr>
            <a:xfrm flipH="false" flipV="false" rot="0">
              <a:off x="278554" y="0"/>
              <a:ext cx="1471690" cy="2329344"/>
            </a:xfrm>
            <a:custGeom>
              <a:avLst/>
              <a:gdLst/>
              <a:ahLst/>
              <a:cxnLst/>
              <a:rect r="r" b="b" t="t" l="l"/>
              <a:pathLst>
                <a:path h="2329344" w="1471690">
                  <a:moveTo>
                    <a:pt x="0" y="0"/>
                  </a:moveTo>
                  <a:lnTo>
                    <a:pt x="1471690" y="0"/>
                  </a:lnTo>
                  <a:lnTo>
                    <a:pt x="1471690" y="2329344"/>
                  </a:lnTo>
                  <a:lnTo>
                    <a:pt x="0" y="2329344"/>
                  </a:lnTo>
                  <a:lnTo>
                    <a:pt x="0" y="0"/>
                  </a:lnTo>
                  <a:close/>
                </a:path>
              </a:pathLst>
            </a:custGeom>
            <a:blipFill>
              <a:blip r:embed="rId6"/>
              <a:stretch>
                <a:fillRect l="-29138" t="0" r="-29138" b="0"/>
              </a:stretch>
            </a:blipFill>
          </p:spPr>
        </p:sp>
        <p:sp>
          <p:nvSpPr>
            <p:cNvPr name="TextBox 11" id="11"/>
            <p:cNvSpPr txBox="true"/>
            <p:nvPr/>
          </p:nvSpPr>
          <p:spPr>
            <a:xfrm rot="0">
              <a:off x="0" y="2366870"/>
              <a:ext cx="2215631"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Java 21+</a:t>
              </a:r>
            </a:p>
          </p:txBody>
        </p:sp>
      </p:grpSp>
      <p:grpSp>
        <p:nvGrpSpPr>
          <p:cNvPr name="Group 12" id="12"/>
          <p:cNvGrpSpPr/>
          <p:nvPr/>
        </p:nvGrpSpPr>
        <p:grpSpPr>
          <a:xfrm rot="0">
            <a:off x="3702742" y="3349679"/>
            <a:ext cx="2630123" cy="2022872"/>
            <a:chOff x="0" y="0"/>
            <a:chExt cx="3506830" cy="2697163"/>
          </a:xfrm>
        </p:grpSpPr>
        <p:sp>
          <p:nvSpPr>
            <p:cNvPr name="Freeform 13" id="13"/>
            <p:cNvSpPr/>
            <p:nvPr/>
          </p:nvSpPr>
          <p:spPr>
            <a:xfrm flipH="false" flipV="false" rot="0">
              <a:off x="0" y="1549057"/>
              <a:ext cx="3506830" cy="692599"/>
            </a:xfrm>
            <a:custGeom>
              <a:avLst/>
              <a:gdLst/>
              <a:ahLst/>
              <a:cxnLst/>
              <a:rect r="r" b="b" t="t" l="l"/>
              <a:pathLst>
                <a:path h="692599" w="3506830">
                  <a:moveTo>
                    <a:pt x="0" y="0"/>
                  </a:moveTo>
                  <a:lnTo>
                    <a:pt x="3506830" y="0"/>
                  </a:lnTo>
                  <a:lnTo>
                    <a:pt x="3506830" y="692599"/>
                  </a:lnTo>
                  <a:lnTo>
                    <a:pt x="0" y="692599"/>
                  </a:lnTo>
                  <a:lnTo>
                    <a:pt x="0" y="0"/>
                  </a:lnTo>
                  <a:close/>
                </a:path>
              </a:pathLst>
            </a:custGeom>
            <a:blipFill>
              <a:blip r:embed="rId5">
                <a:alphaModFix amt="25000"/>
              </a:blip>
              <a:stretch>
                <a:fillRect l="0" t="0" r="0" b="0"/>
              </a:stretch>
            </a:blipFill>
          </p:spPr>
        </p:sp>
        <p:sp>
          <p:nvSpPr>
            <p:cNvPr name="Freeform 14" id="14"/>
            <p:cNvSpPr/>
            <p:nvPr/>
          </p:nvSpPr>
          <p:spPr>
            <a:xfrm flipH="false" flipV="false" rot="0">
              <a:off x="516662" y="0"/>
              <a:ext cx="2069104" cy="2069104"/>
            </a:xfrm>
            <a:custGeom>
              <a:avLst/>
              <a:gdLst/>
              <a:ahLst/>
              <a:cxnLst/>
              <a:rect r="r" b="b" t="t" l="l"/>
              <a:pathLst>
                <a:path h="2069104" w="2069104">
                  <a:moveTo>
                    <a:pt x="0" y="0"/>
                  </a:moveTo>
                  <a:lnTo>
                    <a:pt x="2069105" y="0"/>
                  </a:lnTo>
                  <a:lnTo>
                    <a:pt x="2069105" y="2069104"/>
                  </a:lnTo>
                  <a:lnTo>
                    <a:pt x="0" y="2069104"/>
                  </a:lnTo>
                  <a:lnTo>
                    <a:pt x="0" y="0"/>
                  </a:lnTo>
                  <a:close/>
                </a:path>
              </a:pathLst>
            </a:custGeom>
            <a:blipFill>
              <a:blip r:embed="rId7"/>
              <a:stretch>
                <a:fillRect l="0" t="0" r="0" b="0"/>
              </a:stretch>
            </a:blipFill>
          </p:spPr>
        </p:sp>
        <p:sp>
          <p:nvSpPr>
            <p:cNvPr name="TextBox 15" id="15"/>
            <p:cNvSpPr txBox="true"/>
            <p:nvPr/>
          </p:nvSpPr>
          <p:spPr>
            <a:xfrm rot="0">
              <a:off x="0" y="2184506"/>
              <a:ext cx="3506830"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OpendJDK</a:t>
              </a:r>
            </a:p>
          </p:txBody>
        </p:sp>
      </p:grpSp>
      <p:grpSp>
        <p:nvGrpSpPr>
          <p:cNvPr name="Group 16" id="16"/>
          <p:cNvGrpSpPr/>
          <p:nvPr/>
        </p:nvGrpSpPr>
        <p:grpSpPr>
          <a:xfrm rot="0">
            <a:off x="14523028" y="6138266"/>
            <a:ext cx="2736272" cy="2466714"/>
            <a:chOff x="0" y="0"/>
            <a:chExt cx="3648363" cy="3288952"/>
          </a:xfrm>
        </p:grpSpPr>
        <p:sp>
          <p:nvSpPr>
            <p:cNvPr name="Freeform 17" id="17"/>
            <p:cNvSpPr/>
            <p:nvPr/>
          </p:nvSpPr>
          <p:spPr>
            <a:xfrm flipH="false" flipV="false" rot="0">
              <a:off x="107359" y="1610571"/>
              <a:ext cx="2939805" cy="692599"/>
            </a:xfrm>
            <a:custGeom>
              <a:avLst/>
              <a:gdLst/>
              <a:ahLst/>
              <a:cxnLst/>
              <a:rect r="r" b="b" t="t" l="l"/>
              <a:pathLst>
                <a:path h="692599" w="2939805">
                  <a:moveTo>
                    <a:pt x="0" y="0"/>
                  </a:moveTo>
                  <a:lnTo>
                    <a:pt x="2939805" y="0"/>
                  </a:lnTo>
                  <a:lnTo>
                    <a:pt x="2939805" y="692599"/>
                  </a:lnTo>
                  <a:lnTo>
                    <a:pt x="0" y="692599"/>
                  </a:lnTo>
                  <a:lnTo>
                    <a:pt x="0" y="0"/>
                  </a:lnTo>
                  <a:close/>
                </a:path>
              </a:pathLst>
            </a:custGeom>
            <a:blipFill>
              <a:blip r:embed="rId5">
                <a:alphaModFix amt="25000"/>
              </a:blip>
              <a:stretch>
                <a:fillRect l="-9643" t="0" r="-9643" b="0"/>
              </a:stretch>
            </a:blipFill>
          </p:spPr>
        </p:sp>
        <p:sp>
          <p:nvSpPr>
            <p:cNvPr name="Freeform 18" id="18"/>
            <p:cNvSpPr/>
            <p:nvPr/>
          </p:nvSpPr>
          <p:spPr>
            <a:xfrm flipH="false" flipV="false" rot="0">
              <a:off x="0" y="0"/>
              <a:ext cx="3154523" cy="2118786"/>
            </a:xfrm>
            <a:custGeom>
              <a:avLst/>
              <a:gdLst/>
              <a:ahLst/>
              <a:cxnLst/>
              <a:rect r="r" b="b" t="t" l="l"/>
              <a:pathLst>
                <a:path h="2118786" w="3154523">
                  <a:moveTo>
                    <a:pt x="0" y="0"/>
                  </a:moveTo>
                  <a:lnTo>
                    <a:pt x="3154523" y="0"/>
                  </a:lnTo>
                  <a:lnTo>
                    <a:pt x="3154523" y="2118786"/>
                  </a:lnTo>
                  <a:lnTo>
                    <a:pt x="0" y="2118786"/>
                  </a:lnTo>
                  <a:lnTo>
                    <a:pt x="0" y="0"/>
                  </a:lnTo>
                  <a:close/>
                </a:path>
              </a:pathLst>
            </a:custGeom>
            <a:blipFill>
              <a:blip r:embed="rId8"/>
              <a:stretch>
                <a:fillRect l="-9643" t="0" r="-9643" b="0"/>
              </a:stretch>
            </a:blipFill>
          </p:spPr>
        </p:sp>
        <p:sp>
          <p:nvSpPr>
            <p:cNvPr name="TextBox 19" id="19"/>
            <p:cNvSpPr txBox="true"/>
            <p:nvPr/>
          </p:nvSpPr>
          <p:spPr>
            <a:xfrm rot="0">
              <a:off x="0" y="2242896"/>
              <a:ext cx="3648363" cy="10460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Spring framework - 3.5.7</a:t>
              </a:r>
            </a:p>
          </p:txBody>
        </p:sp>
      </p:grpSp>
      <p:grpSp>
        <p:nvGrpSpPr>
          <p:cNvPr name="Group 20" id="20"/>
          <p:cNvGrpSpPr/>
          <p:nvPr/>
        </p:nvGrpSpPr>
        <p:grpSpPr>
          <a:xfrm rot="0">
            <a:off x="6913890" y="3349679"/>
            <a:ext cx="4040252" cy="2242393"/>
            <a:chOff x="0" y="0"/>
            <a:chExt cx="5387002" cy="2989857"/>
          </a:xfrm>
        </p:grpSpPr>
        <p:sp>
          <p:nvSpPr>
            <p:cNvPr name="Freeform 21" id="21"/>
            <p:cNvSpPr/>
            <p:nvPr/>
          </p:nvSpPr>
          <p:spPr>
            <a:xfrm flipH="false" flipV="false" rot="0">
              <a:off x="680336" y="1246838"/>
              <a:ext cx="3565389" cy="692599"/>
            </a:xfrm>
            <a:custGeom>
              <a:avLst/>
              <a:gdLst/>
              <a:ahLst/>
              <a:cxnLst/>
              <a:rect r="r" b="b" t="t" l="l"/>
              <a:pathLst>
                <a:path h="692599" w="3565389">
                  <a:moveTo>
                    <a:pt x="0" y="0"/>
                  </a:moveTo>
                  <a:lnTo>
                    <a:pt x="3565390" y="0"/>
                  </a:lnTo>
                  <a:lnTo>
                    <a:pt x="3565390" y="692599"/>
                  </a:lnTo>
                  <a:lnTo>
                    <a:pt x="0" y="692599"/>
                  </a:lnTo>
                  <a:lnTo>
                    <a:pt x="0" y="0"/>
                  </a:lnTo>
                  <a:close/>
                </a:path>
              </a:pathLst>
            </a:custGeom>
            <a:blipFill>
              <a:blip r:embed="rId5">
                <a:alphaModFix amt="25000"/>
              </a:blip>
              <a:stretch>
                <a:fillRect l="0" t="-834" r="0" b="-834"/>
              </a:stretch>
            </a:blipFill>
          </p:spPr>
        </p:sp>
        <p:sp>
          <p:nvSpPr>
            <p:cNvPr name="Freeform 22" id="22"/>
            <p:cNvSpPr/>
            <p:nvPr/>
          </p:nvSpPr>
          <p:spPr>
            <a:xfrm flipH="false" flipV="false" rot="0">
              <a:off x="1122808" y="0"/>
              <a:ext cx="3122918" cy="1593137"/>
            </a:xfrm>
            <a:custGeom>
              <a:avLst/>
              <a:gdLst/>
              <a:ahLst/>
              <a:cxnLst/>
              <a:rect r="r" b="b" t="t" l="l"/>
              <a:pathLst>
                <a:path h="1593137" w="3122918">
                  <a:moveTo>
                    <a:pt x="0" y="0"/>
                  </a:moveTo>
                  <a:lnTo>
                    <a:pt x="3122918" y="0"/>
                  </a:lnTo>
                  <a:lnTo>
                    <a:pt x="3122918" y="1593137"/>
                  </a:lnTo>
                  <a:lnTo>
                    <a:pt x="0" y="1593137"/>
                  </a:lnTo>
                  <a:lnTo>
                    <a:pt x="0" y="0"/>
                  </a:lnTo>
                  <a:close/>
                </a:path>
              </a:pathLst>
            </a:custGeom>
            <a:blipFill>
              <a:blip r:embed="rId9"/>
              <a:stretch>
                <a:fillRect l="0" t="-828" r="0" b="0"/>
              </a:stretch>
            </a:blipFill>
          </p:spPr>
        </p:sp>
        <p:sp>
          <p:nvSpPr>
            <p:cNvPr name="TextBox 23" id="23"/>
            <p:cNvSpPr txBox="true"/>
            <p:nvPr/>
          </p:nvSpPr>
          <p:spPr>
            <a:xfrm rot="0">
              <a:off x="0" y="1943801"/>
              <a:ext cx="5387002" cy="10460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Banco de dados MySQL - 8.0.33</a:t>
              </a:r>
            </a:p>
          </p:txBody>
        </p:sp>
      </p:grpSp>
      <p:grpSp>
        <p:nvGrpSpPr>
          <p:cNvPr name="Group 24" id="24"/>
          <p:cNvGrpSpPr/>
          <p:nvPr/>
        </p:nvGrpSpPr>
        <p:grpSpPr>
          <a:xfrm rot="0">
            <a:off x="501872" y="6036570"/>
            <a:ext cx="17284256" cy="2592814"/>
            <a:chOff x="0" y="0"/>
            <a:chExt cx="4552232" cy="682881"/>
          </a:xfrm>
        </p:grpSpPr>
        <p:sp>
          <p:nvSpPr>
            <p:cNvPr name="Freeform 25" id="25"/>
            <p:cNvSpPr/>
            <p:nvPr/>
          </p:nvSpPr>
          <p:spPr>
            <a:xfrm flipH="false" flipV="false" rot="0">
              <a:off x="0" y="0"/>
              <a:ext cx="4552232" cy="682881"/>
            </a:xfrm>
            <a:custGeom>
              <a:avLst/>
              <a:gdLst/>
              <a:ahLst/>
              <a:cxnLst/>
              <a:rect r="r" b="b" t="t" l="l"/>
              <a:pathLst>
                <a:path h="682881" w="4552232">
                  <a:moveTo>
                    <a:pt x="34938" y="0"/>
                  </a:moveTo>
                  <a:lnTo>
                    <a:pt x="4517295" y="0"/>
                  </a:lnTo>
                  <a:cubicBezTo>
                    <a:pt x="4526561" y="0"/>
                    <a:pt x="4535447" y="3681"/>
                    <a:pt x="4541999" y="10233"/>
                  </a:cubicBezTo>
                  <a:cubicBezTo>
                    <a:pt x="4548551" y="16785"/>
                    <a:pt x="4552232" y="25672"/>
                    <a:pt x="4552232" y="34938"/>
                  </a:cubicBezTo>
                  <a:lnTo>
                    <a:pt x="4552232" y="647944"/>
                  </a:lnTo>
                  <a:cubicBezTo>
                    <a:pt x="4552232" y="667239"/>
                    <a:pt x="4536590" y="682881"/>
                    <a:pt x="4517295" y="682881"/>
                  </a:cubicBezTo>
                  <a:lnTo>
                    <a:pt x="34938" y="682881"/>
                  </a:lnTo>
                  <a:cubicBezTo>
                    <a:pt x="15642" y="682881"/>
                    <a:pt x="0" y="667239"/>
                    <a:pt x="0" y="647944"/>
                  </a:cubicBezTo>
                  <a:lnTo>
                    <a:pt x="0" y="34938"/>
                  </a:lnTo>
                  <a:cubicBezTo>
                    <a:pt x="0" y="15642"/>
                    <a:pt x="15642" y="0"/>
                    <a:pt x="34938" y="0"/>
                  </a:cubicBezTo>
                  <a:close/>
                </a:path>
              </a:pathLst>
            </a:custGeom>
            <a:solidFill>
              <a:srgbClr val="6D85FF">
                <a:alpha val="29804"/>
              </a:srgbClr>
            </a:solidFill>
          </p:spPr>
        </p:sp>
        <p:sp>
          <p:nvSpPr>
            <p:cNvPr name="TextBox 26" id="26"/>
            <p:cNvSpPr txBox="true"/>
            <p:nvPr/>
          </p:nvSpPr>
          <p:spPr>
            <a:xfrm>
              <a:off x="0" y="-47625"/>
              <a:ext cx="4552232" cy="730506"/>
            </a:xfrm>
            <a:prstGeom prst="rect">
              <a:avLst/>
            </a:prstGeom>
          </p:spPr>
          <p:txBody>
            <a:bodyPr anchor="ctr" rtlCol="false" tIns="50800" lIns="50800" bIns="50800" rIns="50800"/>
            <a:lstStyle/>
            <a:p>
              <a:pPr algn="ctr">
                <a:lnSpc>
                  <a:spcPts val="3499"/>
                </a:lnSpc>
              </a:pPr>
            </a:p>
          </p:txBody>
        </p:sp>
      </p:grpSp>
      <p:grpSp>
        <p:nvGrpSpPr>
          <p:cNvPr name="Group 27" id="27"/>
          <p:cNvGrpSpPr/>
          <p:nvPr/>
        </p:nvGrpSpPr>
        <p:grpSpPr>
          <a:xfrm rot="0">
            <a:off x="11398157" y="3573551"/>
            <a:ext cx="2674042" cy="1910946"/>
            <a:chOff x="0" y="0"/>
            <a:chExt cx="3565389" cy="2547928"/>
          </a:xfrm>
        </p:grpSpPr>
        <p:sp>
          <p:nvSpPr>
            <p:cNvPr name="Freeform 28" id="28"/>
            <p:cNvSpPr/>
            <p:nvPr/>
          </p:nvSpPr>
          <p:spPr>
            <a:xfrm flipH="false" flipV="false" rot="0">
              <a:off x="0" y="1446626"/>
              <a:ext cx="3565389" cy="692599"/>
            </a:xfrm>
            <a:custGeom>
              <a:avLst/>
              <a:gdLst/>
              <a:ahLst/>
              <a:cxnLst/>
              <a:rect r="r" b="b" t="t" l="l"/>
              <a:pathLst>
                <a:path h="692599" w="3565389">
                  <a:moveTo>
                    <a:pt x="0" y="0"/>
                  </a:moveTo>
                  <a:lnTo>
                    <a:pt x="3565389" y="0"/>
                  </a:lnTo>
                  <a:lnTo>
                    <a:pt x="3565389" y="692599"/>
                  </a:lnTo>
                  <a:lnTo>
                    <a:pt x="0" y="692599"/>
                  </a:lnTo>
                  <a:lnTo>
                    <a:pt x="0" y="0"/>
                  </a:lnTo>
                  <a:close/>
                </a:path>
              </a:pathLst>
            </a:custGeom>
            <a:blipFill>
              <a:blip r:embed="rId5">
                <a:alphaModFix amt="25000"/>
              </a:blip>
              <a:stretch>
                <a:fillRect l="0" t="-834" r="0" b="-834"/>
              </a:stretch>
            </a:blipFill>
          </p:spPr>
        </p:sp>
        <p:sp>
          <p:nvSpPr>
            <p:cNvPr name="Freeform 29" id="29"/>
            <p:cNvSpPr/>
            <p:nvPr/>
          </p:nvSpPr>
          <p:spPr>
            <a:xfrm flipH="false" flipV="false" rot="0">
              <a:off x="727694" y="0"/>
              <a:ext cx="1938003" cy="1938003"/>
            </a:xfrm>
            <a:custGeom>
              <a:avLst/>
              <a:gdLst/>
              <a:ahLst/>
              <a:cxnLst/>
              <a:rect r="r" b="b" t="t" l="l"/>
              <a:pathLst>
                <a:path h="1938003" w="1938003">
                  <a:moveTo>
                    <a:pt x="0" y="0"/>
                  </a:moveTo>
                  <a:lnTo>
                    <a:pt x="1938003" y="0"/>
                  </a:lnTo>
                  <a:lnTo>
                    <a:pt x="1938003" y="1938003"/>
                  </a:lnTo>
                  <a:lnTo>
                    <a:pt x="0" y="193800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0" id="30"/>
            <p:cNvSpPr txBox="true"/>
            <p:nvPr/>
          </p:nvSpPr>
          <p:spPr>
            <a:xfrm rot="0">
              <a:off x="642123" y="2035271"/>
              <a:ext cx="2109146"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HTML5</a:t>
              </a:r>
            </a:p>
          </p:txBody>
        </p:sp>
      </p:grpSp>
      <p:grpSp>
        <p:nvGrpSpPr>
          <p:cNvPr name="Group 31" id="31"/>
          <p:cNvGrpSpPr/>
          <p:nvPr/>
        </p:nvGrpSpPr>
        <p:grpSpPr>
          <a:xfrm rot="0">
            <a:off x="14299434" y="3573551"/>
            <a:ext cx="2674042" cy="1946048"/>
            <a:chOff x="0" y="0"/>
            <a:chExt cx="3565389" cy="2594731"/>
          </a:xfrm>
        </p:grpSpPr>
        <p:sp>
          <p:nvSpPr>
            <p:cNvPr name="Freeform 32" id="32"/>
            <p:cNvSpPr/>
            <p:nvPr/>
          </p:nvSpPr>
          <p:spPr>
            <a:xfrm flipH="false" flipV="false" rot="0">
              <a:off x="1093521" y="0"/>
              <a:ext cx="1417240" cy="1999517"/>
            </a:xfrm>
            <a:custGeom>
              <a:avLst/>
              <a:gdLst/>
              <a:ahLst/>
              <a:cxnLst/>
              <a:rect r="r" b="b" t="t" l="l"/>
              <a:pathLst>
                <a:path h="1999517" w="1417240">
                  <a:moveTo>
                    <a:pt x="0" y="0"/>
                  </a:moveTo>
                  <a:lnTo>
                    <a:pt x="1417240" y="0"/>
                  </a:lnTo>
                  <a:lnTo>
                    <a:pt x="1417240" y="1999517"/>
                  </a:lnTo>
                  <a:lnTo>
                    <a:pt x="0" y="1999517"/>
                  </a:lnTo>
                  <a:lnTo>
                    <a:pt x="0" y="0"/>
                  </a:lnTo>
                  <a:close/>
                </a:path>
              </a:pathLst>
            </a:custGeom>
            <a:blipFill>
              <a:blip r:embed="rId12"/>
              <a:stretch>
                <a:fillRect l="0" t="0" r="0" b="0"/>
              </a:stretch>
            </a:blipFill>
          </p:spPr>
        </p:sp>
        <p:sp>
          <p:nvSpPr>
            <p:cNvPr name="Freeform 33" id="33"/>
            <p:cNvSpPr/>
            <p:nvPr/>
          </p:nvSpPr>
          <p:spPr>
            <a:xfrm flipH="false" flipV="false" rot="0">
              <a:off x="0" y="1446626"/>
              <a:ext cx="3565389" cy="692599"/>
            </a:xfrm>
            <a:custGeom>
              <a:avLst/>
              <a:gdLst/>
              <a:ahLst/>
              <a:cxnLst/>
              <a:rect r="r" b="b" t="t" l="l"/>
              <a:pathLst>
                <a:path h="692599" w="3565389">
                  <a:moveTo>
                    <a:pt x="0" y="0"/>
                  </a:moveTo>
                  <a:lnTo>
                    <a:pt x="3565389" y="0"/>
                  </a:lnTo>
                  <a:lnTo>
                    <a:pt x="3565389" y="692599"/>
                  </a:lnTo>
                  <a:lnTo>
                    <a:pt x="0" y="692599"/>
                  </a:lnTo>
                  <a:lnTo>
                    <a:pt x="0" y="0"/>
                  </a:lnTo>
                  <a:close/>
                </a:path>
              </a:pathLst>
            </a:custGeom>
            <a:blipFill>
              <a:blip r:embed="rId5">
                <a:alphaModFix amt="25000"/>
              </a:blip>
              <a:stretch>
                <a:fillRect l="0" t="-834" r="0" b="-834"/>
              </a:stretch>
            </a:blipFill>
          </p:spPr>
        </p:sp>
        <p:sp>
          <p:nvSpPr>
            <p:cNvPr name="TextBox 34" id="34"/>
            <p:cNvSpPr txBox="true"/>
            <p:nvPr/>
          </p:nvSpPr>
          <p:spPr>
            <a:xfrm rot="0">
              <a:off x="747568" y="2082075"/>
              <a:ext cx="2109146"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CSS3</a:t>
              </a:r>
            </a:p>
          </p:txBody>
        </p:sp>
      </p:grpSp>
      <p:grpSp>
        <p:nvGrpSpPr>
          <p:cNvPr name="Group 35" id="35"/>
          <p:cNvGrpSpPr/>
          <p:nvPr/>
        </p:nvGrpSpPr>
        <p:grpSpPr>
          <a:xfrm rot="0">
            <a:off x="1028700" y="6525998"/>
            <a:ext cx="2674042" cy="1840028"/>
            <a:chOff x="0" y="0"/>
            <a:chExt cx="3565389" cy="2453370"/>
          </a:xfrm>
        </p:grpSpPr>
        <p:sp>
          <p:nvSpPr>
            <p:cNvPr name="Freeform 36" id="36"/>
            <p:cNvSpPr/>
            <p:nvPr/>
          </p:nvSpPr>
          <p:spPr>
            <a:xfrm flipH="false" flipV="false" rot="0">
              <a:off x="922159" y="0"/>
              <a:ext cx="1799950" cy="1799950"/>
            </a:xfrm>
            <a:custGeom>
              <a:avLst/>
              <a:gdLst/>
              <a:ahLst/>
              <a:cxnLst/>
              <a:rect r="r" b="b" t="t" l="l"/>
              <a:pathLst>
                <a:path h="1799950" w="1799950">
                  <a:moveTo>
                    <a:pt x="0" y="0"/>
                  </a:moveTo>
                  <a:lnTo>
                    <a:pt x="1799950" y="0"/>
                  </a:lnTo>
                  <a:lnTo>
                    <a:pt x="1799950" y="1799950"/>
                  </a:lnTo>
                  <a:lnTo>
                    <a:pt x="0" y="179995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612964" y="1940714"/>
              <a:ext cx="2109146"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JS</a:t>
              </a:r>
            </a:p>
          </p:txBody>
        </p:sp>
        <p:sp>
          <p:nvSpPr>
            <p:cNvPr name="Freeform 38" id="38"/>
            <p:cNvSpPr/>
            <p:nvPr/>
          </p:nvSpPr>
          <p:spPr>
            <a:xfrm flipH="false" flipV="false" rot="0">
              <a:off x="0" y="1453651"/>
              <a:ext cx="3565389" cy="692599"/>
            </a:xfrm>
            <a:custGeom>
              <a:avLst/>
              <a:gdLst/>
              <a:ahLst/>
              <a:cxnLst/>
              <a:rect r="r" b="b" t="t" l="l"/>
              <a:pathLst>
                <a:path h="692599" w="3565389">
                  <a:moveTo>
                    <a:pt x="0" y="0"/>
                  </a:moveTo>
                  <a:lnTo>
                    <a:pt x="3565389" y="0"/>
                  </a:lnTo>
                  <a:lnTo>
                    <a:pt x="3565389" y="692599"/>
                  </a:lnTo>
                  <a:lnTo>
                    <a:pt x="0" y="692599"/>
                  </a:lnTo>
                  <a:lnTo>
                    <a:pt x="0" y="0"/>
                  </a:lnTo>
                  <a:close/>
                </a:path>
              </a:pathLst>
            </a:custGeom>
            <a:blipFill>
              <a:blip r:embed="rId5">
                <a:alphaModFix amt="25000"/>
              </a:blip>
              <a:stretch>
                <a:fillRect l="0" t="-834" r="0" b="-834"/>
              </a:stretch>
            </a:blipFill>
          </p:spPr>
        </p:sp>
      </p:grpSp>
      <p:grpSp>
        <p:nvGrpSpPr>
          <p:cNvPr name="Group 39" id="39"/>
          <p:cNvGrpSpPr/>
          <p:nvPr/>
        </p:nvGrpSpPr>
        <p:grpSpPr>
          <a:xfrm rot="0">
            <a:off x="4524986" y="6525998"/>
            <a:ext cx="2674042" cy="1840028"/>
            <a:chOff x="0" y="0"/>
            <a:chExt cx="3565389" cy="2453370"/>
          </a:xfrm>
        </p:grpSpPr>
        <p:sp>
          <p:nvSpPr>
            <p:cNvPr name="TextBox 40" id="40"/>
            <p:cNvSpPr txBox="true"/>
            <p:nvPr/>
          </p:nvSpPr>
          <p:spPr>
            <a:xfrm rot="0">
              <a:off x="601586" y="1940714"/>
              <a:ext cx="2109146"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Thymeleaf</a:t>
              </a:r>
            </a:p>
          </p:txBody>
        </p:sp>
        <p:sp>
          <p:nvSpPr>
            <p:cNvPr name="Freeform 41" id="41"/>
            <p:cNvSpPr/>
            <p:nvPr/>
          </p:nvSpPr>
          <p:spPr>
            <a:xfrm flipH="false" flipV="false" rot="0">
              <a:off x="0" y="1462467"/>
              <a:ext cx="3565389" cy="796519"/>
            </a:xfrm>
            <a:custGeom>
              <a:avLst/>
              <a:gdLst/>
              <a:ahLst/>
              <a:cxnLst/>
              <a:rect r="r" b="b" t="t" l="l"/>
              <a:pathLst>
                <a:path h="796519" w="3565389">
                  <a:moveTo>
                    <a:pt x="0" y="0"/>
                  </a:moveTo>
                  <a:lnTo>
                    <a:pt x="3565389" y="0"/>
                  </a:lnTo>
                  <a:lnTo>
                    <a:pt x="3565389" y="796519"/>
                  </a:lnTo>
                  <a:lnTo>
                    <a:pt x="0" y="796519"/>
                  </a:lnTo>
                  <a:lnTo>
                    <a:pt x="0" y="0"/>
                  </a:lnTo>
                  <a:close/>
                </a:path>
              </a:pathLst>
            </a:custGeom>
            <a:blipFill>
              <a:blip r:embed="rId5">
                <a:alphaModFix amt="25000"/>
              </a:blip>
              <a:stretch>
                <a:fillRect l="-7026" t="-828" r="-7026" b="0"/>
              </a:stretch>
            </a:blipFill>
          </p:spPr>
        </p:sp>
        <p:sp>
          <p:nvSpPr>
            <p:cNvPr name="Freeform 42" id="42"/>
            <p:cNvSpPr/>
            <p:nvPr/>
          </p:nvSpPr>
          <p:spPr>
            <a:xfrm flipH="false" flipV="false" rot="0">
              <a:off x="854657" y="0"/>
              <a:ext cx="1856075" cy="1860727"/>
            </a:xfrm>
            <a:custGeom>
              <a:avLst/>
              <a:gdLst/>
              <a:ahLst/>
              <a:cxnLst/>
              <a:rect r="r" b="b" t="t" l="l"/>
              <a:pathLst>
                <a:path h="1860727" w="1856075">
                  <a:moveTo>
                    <a:pt x="0" y="0"/>
                  </a:moveTo>
                  <a:lnTo>
                    <a:pt x="1856075" y="0"/>
                  </a:lnTo>
                  <a:lnTo>
                    <a:pt x="1856075" y="1860727"/>
                  </a:lnTo>
                  <a:lnTo>
                    <a:pt x="0" y="1860727"/>
                  </a:lnTo>
                  <a:lnTo>
                    <a:pt x="0" y="0"/>
                  </a:lnTo>
                  <a:close/>
                </a:path>
              </a:pathLst>
            </a:custGeom>
            <a:blipFill>
              <a:blip r:embed="rId15"/>
              <a:stretch>
                <a:fillRect l="0" t="0" r="0" b="0"/>
              </a:stretch>
            </a:blipFill>
          </p:spPr>
        </p:sp>
      </p:grpSp>
      <p:grpSp>
        <p:nvGrpSpPr>
          <p:cNvPr name="Group 43" id="43"/>
          <p:cNvGrpSpPr/>
          <p:nvPr/>
        </p:nvGrpSpPr>
        <p:grpSpPr>
          <a:xfrm rot="0">
            <a:off x="7856253" y="6525998"/>
            <a:ext cx="2674042" cy="1840028"/>
            <a:chOff x="0" y="0"/>
            <a:chExt cx="3565389" cy="2453370"/>
          </a:xfrm>
        </p:grpSpPr>
        <p:sp>
          <p:nvSpPr>
            <p:cNvPr name="TextBox 44" id="44"/>
            <p:cNvSpPr txBox="true"/>
            <p:nvPr/>
          </p:nvSpPr>
          <p:spPr>
            <a:xfrm rot="0">
              <a:off x="656926" y="1940714"/>
              <a:ext cx="2109146"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Maven</a:t>
              </a:r>
            </a:p>
          </p:txBody>
        </p:sp>
        <p:sp>
          <p:nvSpPr>
            <p:cNvPr name="Freeform 45" id="45"/>
            <p:cNvSpPr/>
            <p:nvPr/>
          </p:nvSpPr>
          <p:spPr>
            <a:xfrm flipH="false" flipV="false" rot="0">
              <a:off x="0" y="1471283"/>
              <a:ext cx="3565389" cy="796519"/>
            </a:xfrm>
            <a:custGeom>
              <a:avLst/>
              <a:gdLst/>
              <a:ahLst/>
              <a:cxnLst/>
              <a:rect r="r" b="b" t="t" l="l"/>
              <a:pathLst>
                <a:path h="796519" w="3565389">
                  <a:moveTo>
                    <a:pt x="0" y="0"/>
                  </a:moveTo>
                  <a:lnTo>
                    <a:pt x="3565389" y="0"/>
                  </a:lnTo>
                  <a:lnTo>
                    <a:pt x="3565389" y="796520"/>
                  </a:lnTo>
                  <a:lnTo>
                    <a:pt x="0" y="796520"/>
                  </a:lnTo>
                  <a:lnTo>
                    <a:pt x="0" y="0"/>
                  </a:lnTo>
                  <a:close/>
                </a:path>
              </a:pathLst>
            </a:custGeom>
            <a:blipFill>
              <a:blip r:embed="rId5">
                <a:alphaModFix amt="25000"/>
              </a:blip>
              <a:stretch>
                <a:fillRect l="-7026" t="-828" r="-7026" b="0"/>
              </a:stretch>
            </a:blipFill>
          </p:spPr>
        </p:sp>
        <p:sp>
          <p:nvSpPr>
            <p:cNvPr name="Freeform 46" id="46"/>
            <p:cNvSpPr/>
            <p:nvPr/>
          </p:nvSpPr>
          <p:spPr>
            <a:xfrm flipH="false" flipV="false" rot="0">
              <a:off x="656926" y="0"/>
              <a:ext cx="2289982" cy="1799950"/>
            </a:xfrm>
            <a:custGeom>
              <a:avLst/>
              <a:gdLst/>
              <a:ahLst/>
              <a:cxnLst/>
              <a:rect r="r" b="b" t="t" l="l"/>
              <a:pathLst>
                <a:path h="1799950" w="2289982">
                  <a:moveTo>
                    <a:pt x="0" y="0"/>
                  </a:moveTo>
                  <a:lnTo>
                    <a:pt x="2289982" y="0"/>
                  </a:lnTo>
                  <a:lnTo>
                    <a:pt x="2289982" y="1799950"/>
                  </a:lnTo>
                  <a:lnTo>
                    <a:pt x="0" y="1799950"/>
                  </a:lnTo>
                  <a:lnTo>
                    <a:pt x="0" y="0"/>
                  </a:lnTo>
                  <a:close/>
                </a:path>
              </a:pathLst>
            </a:custGeom>
            <a:blipFill>
              <a:blip r:embed="rId16"/>
              <a:stretch>
                <a:fillRect l="0" t="0" r="-4801" b="0"/>
              </a:stretch>
            </a:blipFill>
          </p:spPr>
        </p:sp>
      </p:grpSp>
      <p:grpSp>
        <p:nvGrpSpPr>
          <p:cNvPr name="Group 47" id="47"/>
          <p:cNvGrpSpPr/>
          <p:nvPr/>
        </p:nvGrpSpPr>
        <p:grpSpPr>
          <a:xfrm rot="0">
            <a:off x="11187520" y="6347807"/>
            <a:ext cx="2674042" cy="2018218"/>
            <a:chOff x="0" y="0"/>
            <a:chExt cx="3565389" cy="2690958"/>
          </a:xfrm>
        </p:grpSpPr>
        <p:sp>
          <p:nvSpPr>
            <p:cNvPr name="Freeform 48" id="48"/>
            <p:cNvSpPr/>
            <p:nvPr/>
          </p:nvSpPr>
          <p:spPr>
            <a:xfrm flipH="false" flipV="false" rot="0">
              <a:off x="515719" y="0"/>
              <a:ext cx="2390716" cy="2390716"/>
            </a:xfrm>
            <a:custGeom>
              <a:avLst/>
              <a:gdLst/>
              <a:ahLst/>
              <a:cxnLst/>
              <a:rect r="r" b="b" t="t" l="l"/>
              <a:pathLst>
                <a:path h="2390716" w="2390716">
                  <a:moveTo>
                    <a:pt x="0" y="0"/>
                  </a:moveTo>
                  <a:lnTo>
                    <a:pt x="2390716" y="0"/>
                  </a:lnTo>
                  <a:lnTo>
                    <a:pt x="2390716" y="2390716"/>
                  </a:lnTo>
                  <a:lnTo>
                    <a:pt x="0" y="2390716"/>
                  </a:lnTo>
                  <a:lnTo>
                    <a:pt x="0" y="0"/>
                  </a:lnTo>
                  <a:close/>
                </a:path>
              </a:pathLst>
            </a:custGeom>
            <a:blipFill>
              <a:blip r:embed="rId17"/>
              <a:stretch>
                <a:fillRect l="0" t="0" r="0" b="0"/>
              </a:stretch>
            </a:blipFill>
          </p:spPr>
        </p:sp>
        <p:sp>
          <p:nvSpPr>
            <p:cNvPr name="Freeform 49" id="49"/>
            <p:cNvSpPr/>
            <p:nvPr/>
          </p:nvSpPr>
          <p:spPr>
            <a:xfrm flipH="false" flipV="false" rot="0">
              <a:off x="0" y="1666685"/>
              <a:ext cx="3565389" cy="796519"/>
            </a:xfrm>
            <a:custGeom>
              <a:avLst/>
              <a:gdLst/>
              <a:ahLst/>
              <a:cxnLst/>
              <a:rect r="r" b="b" t="t" l="l"/>
              <a:pathLst>
                <a:path h="796519" w="3565389">
                  <a:moveTo>
                    <a:pt x="0" y="0"/>
                  </a:moveTo>
                  <a:lnTo>
                    <a:pt x="3565389" y="0"/>
                  </a:lnTo>
                  <a:lnTo>
                    <a:pt x="3565389" y="796520"/>
                  </a:lnTo>
                  <a:lnTo>
                    <a:pt x="0" y="796520"/>
                  </a:lnTo>
                  <a:lnTo>
                    <a:pt x="0" y="0"/>
                  </a:lnTo>
                  <a:close/>
                </a:path>
              </a:pathLst>
            </a:custGeom>
            <a:blipFill>
              <a:blip r:embed="rId5">
                <a:alphaModFix amt="25000"/>
              </a:blip>
              <a:stretch>
                <a:fillRect l="-7026" t="-828" r="-7026" b="0"/>
              </a:stretch>
            </a:blipFill>
          </p:spPr>
        </p:sp>
        <p:sp>
          <p:nvSpPr>
            <p:cNvPr name="TextBox 50" id="50"/>
            <p:cNvSpPr txBox="true"/>
            <p:nvPr/>
          </p:nvSpPr>
          <p:spPr>
            <a:xfrm rot="0">
              <a:off x="728122" y="2178301"/>
              <a:ext cx="2109146" cy="512657"/>
            </a:xfrm>
            <a:prstGeom prst="rect">
              <a:avLst/>
            </a:prstGeom>
          </p:spPr>
          <p:txBody>
            <a:bodyPr anchor="t" rtlCol="false" tIns="0" lIns="0" bIns="0" rIns="0">
              <a:spAutoFit/>
            </a:bodyPr>
            <a:lstStyle/>
            <a:p>
              <a:pPr algn="ctr">
                <a:lnSpc>
                  <a:spcPts val="3220"/>
                </a:lnSpc>
              </a:pPr>
              <a:r>
                <a:rPr lang="en-US" sz="2300">
                  <a:solidFill>
                    <a:srgbClr val="FFFFFF"/>
                  </a:solidFill>
                  <a:latin typeface="Rubik"/>
                  <a:ea typeface="Rubik"/>
                  <a:cs typeface="Rubik"/>
                  <a:sym typeface="Rubik"/>
                </a:rPr>
                <a:t>Chart.js</a:t>
              </a:r>
            </a:p>
          </p:txBody>
        </p:sp>
      </p:grpSp>
      <p:sp>
        <p:nvSpPr>
          <p:cNvPr name="TextBox 51" id="51"/>
          <p:cNvSpPr txBox="true"/>
          <p:nvPr/>
        </p:nvSpPr>
        <p:spPr>
          <a:xfrm rot="0">
            <a:off x="2579041" y="1250761"/>
            <a:ext cx="13693296" cy="1209670"/>
          </a:xfrm>
          <a:prstGeom prst="rect">
            <a:avLst/>
          </a:prstGeom>
        </p:spPr>
        <p:txBody>
          <a:bodyPr anchor="t" rtlCol="false" tIns="0" lIns="0" bIns="0" rIns="0">
            <a:spAutoFit/>
          </a:bodyPr>
          <a:lstStyle/>
          <a:p>
            <a:pPr algn="l" marL="0" indent="0" lvl="0">
              <a:lnSpc>
                <a:spcPts val="9750"/>
              </a:lnSpc>
            </a:pPr>
            <a:r>
              <a:rPr lang="en-US" b="true" sz="7500">
                <a:solidFill>
                  <a:srgbClr val="FFFFFF"/>
                </a:solidFill>
                <a:latin typeface="Nourd Bold"/>
                <a:ea typeface="Nourd Bold"/>
                <a:cs typeface="Nourd Bold"/>
                <a:sym typeface="Nourd Bold"/>
              </a:rPr>
              <a:t>TECNOLOGIAS UTILIZADAS</a:t>
            </a:r>
          </a:p>
        </p:txBody>
      </p:sp>
      <p:sp>
        <p:nvSpPr>
          <p:cNvPr name="AutoShape 52" id="52"/>
          <p:cNvSpPr/>
          <p:nvPr/>
        </p:nvSpPr>
        <p:spPr>
          <a:xfrm>
            <a:off x="0" y="9263062"/>
            <a:ext cx="18288000" cy="0"/>
          </a:xfrm>
          <a:prstGeom prst="line">
            <a:avLst/>
          </a:prstGeom>
          <a:ln cap="flat" w="9525">
            <a:solidFill>
              <a:srgbClr val="FFFFFF">
                <a:alpha val="33725"/>
              </a:srgbClr>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Freeform 2" id="2"/>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2"/>
            <a:stretch>
              <a:fillRect l="0" t="0" r="0" b="0"/>
            </a:stretch>
          </a:blipFill>
        </p:spPr>
      </p:sp>
      <p:sp>
        <p:nvSpPr>
          <p:cNvPr name="Freeform 3" id="3"/>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0" y="9415463"/>
            <a:ext cx="18288000" cy="0"/>
          </a:xfrm>
          <a:prstGeom prst="line">
            <a:avLst/>
          </a:prstGeom>
          <a:ln cap="flat" w="9525">
            <a:solidFill>
              <a:srgbClr val="FFFFFF">
                <a:alpha val="33725"/>
              </a:srgbClr>
            </a:solidFill>
            <a:prstDash val="solid"/>
            <a:headEnd type="none" len="sm" w="sm"/>
            <a:tailEnd type="none" len="sm" w="sm"/>
          </a:ln>
        </p:spPr>
      </p:sp>
      <p:sp>
        <p:nvSpPr>
          <p:cNvPr name="TextBox 5" id="5"/>
          <p:cNvSpPr txBox="true"/>
          <p:nvPr/>
        </p:nvSpPr>
        <p:spPr>
          <a:xfrm rot="0">
            <a:off x="517796" y="405284"/>
            <a:ext cx="5897168" cy="1035050"/>
          </a:xfrm>
          <a:prstGeom prst="rect">
            <a:avLst/>
          </a:prstGeom>
        </p:spPr>
        <p:txBody>
          <a:bodyPr anchor="t" rtlCol="false" tIns="0" lIns="0" bIns="0" rIns="0">
            <a:spAutoFit/>
          </a:bodyPr>
          <a:lstStyle/>
          <a:p>
            <a:pPr algn="l">
              <a:lnSpc>
                <a:spcPts val="3999"/>
              </a:lnSpc>
            </a:pPr>
            <a:r>
              <a:rPr lang="en-US" b="true" sz="3999">
                <a:solidFill>
                  <a:srgbClr val="FFFFFF"/>
                </a:solidFill>
                <a:latin typeface="Nourd Bold"/>
                <a:ea typeface="Nourd Bold"/>
                <a:cs typeface="Nourd Bold"/>
                <a:sym typeface="Nourd Bold"/>
              </a:rPr>
              <a:t>DIAGRAMAS DE CLASSE</a:t>
            </a:r>
          </a:p>
        </p:txBody>
      </p:sp>
      <p:grpSp>
        <p:nvGrpSpPr>
          <p:cNvPr name="Group 6" id="6"/>
          <p:cNvGrpSpPr/>
          <p:nvPr/>
        </p:nvGrpSpPr>
        <p:grpSpPr>
          <a:xfrm rot="0">
            <a:off x="6817954" y="329084"/>
            <a:ext cx="4404065" cy="3006087"/>
            <a:chOff x="0" y="0"/>
            <a:chExt cx="5872087" cy="4008117"/>
          </a:xfrm>
        </p:grpSpPr>
        <p:grpSp>
          <p:nvGrpSpPr>
            <p:cNvPr name="Group 7" id="7"/>
            <p:cNvGrpSpPr/>
            <p:nvPr/>
          </p:nvGrpSpPr>
          <p:grpSpPr>
            <a:xfrm rot="0">
              <a:off x="0" y="0"/>
              <a:ext cx="5872087" cy="4008117"/>
              <a:chOff x="0" y="0"/>
              <a:chExt cx="1159918" cy="791727"/>
            </a:xfrm>
          </p:grpSpPr>
          <p:sp>
            <p:nvSpPr>
              <p:cNvPr name="Freeform 8" id="8"/>
              <p:cNvSpPr/>
              <p:nvPr/>
            </p:nvSpPr>
            <p:spPr>
              <a:xfrm flipH="false" flipV="false" rot="0">
                <a:off x="0" y="0"/>
                <a:ext cx="1159918" cy="791727"/>
              </a:xfrm>
              <a:custGeom>
                <a:avLst/>
                <a:gdLst/>
                <a:ahLst/>
                <a:cxnLst/>
                <a:rect r="r" b="b" t="t" l="l"/>
                <a:pathLst>
                  <a:path h="791727" w="1159918">
                    <a:moveTo>
                      <a:pt x="137116" y="0"/>
                    </a:moveTo>
                    <a:lnTo>
                      <a:pt x="1022802" y="0"/>
                    </a:lnTo>
                    <a:cubicBezTo>
                      <a:pt x="1098529" y="0"/>
                      <a:pt x="1159918" y="61389"/>
                      <a:pt x="1159918" y="137116"/>
                    </a:cubicBezTo>
                    <a:lnTo>
                      <a:pt x="1159918" y="654610"/>
                    </a:lnTo>
                    <a:cubicBezTo>
                      <a:pt x="1159918" y="730338"/>
                      <a:pt x="1098529" y="791727"/>
                      <a:pt x="1022802" y="791727"/>
                    </a:cubicBezTo>
                    <a:lnTo>
                      <a:pt x="137116" y="791727"/>
                    </a:lnTo>
                    <a:cubicBezTo>
                      <a:pt x="61389" y="791727"/>
                      <a:pt x="0" y="730338"/>
                      <a:pt x="0" y="654610"/>
                    </a:cubicBezTo>
                    <a:lnTo>
                      <a:pt x="0" y="137116"/>
                    </a:lnTo>
                    <a:cubicBezTo>
                      <a:pt x="0" y="61389"/>
                      <a:pt x="61389" y="0"/>
                      <a:pt x="137116" y="0"/>
                    </a:cubicBezTo>
                    <a:close/>
                  </a:path>
                </a:pathLst>
              </a:custGeom>
              <a:solidFill>
                <a:srgbClr val="6D85FF">
                  <a:alpha val="29804"/>
                </a:srgbClr>
              </a:solidFill>
            </p:spPr>
          </p:sp>
          <p:sp>
            <p:nvSpPr>
              <p:cNvPr name="TextBox 9" id="9"/>
              <p:cNvSpPr txBox="true"/>
              <p:nvPr/>
            </p:nvSpPr>
            <p:spPr>
              <a:xfrm>
                <a:off x="0" y="-47625"/>
                <a:ext cx="1159918" cy="839352"/>
              </a:xfrm>
              <a:prstGeom prst="rect">
                <a:avLst/>
              </a:prstGeom>
            </p:spPr>
            <p:txBody>
              <a:bodyPr anchor="ctr" rtlCol="false" tIns="50800" lIns="50800" bIns="50800" rIns="50800"/>
              <a:lstStyle/>
              <a:p>
                <a:pPr algn="ctr">
                  <a:lnSpc>
                    <a:spcPts val="3499"/>
                  </a:lnSpc>
                </a:pPr>
              </a:p>
            </p:txBody>
          </p:sp>
        </p:grpSp>
        <p:sp>
          <p:nvSpPr>
            <p:cNvPr name="TextBox 10" id="10"/>
            <p:cNvSpPr txBox="true"/>
            <p:nvPr/>
          </p:nvSpPr>
          <p:spPr>
            <a:xfrm rot="0">
              <a:off x="0" y="1890222"/>
              <a:ext cx="5872087" cy="2117895"/>
            </a:xfrm>
            <a:prstGeom prst="rect">
              <a:avLst/>
            </a:prstGeom>
          </p:spPr>
          <p:txBody>
            <a:bodyPr anchor="t" rtlCol="false" tIns="0" lIns="0" bIns="0" rIns="0">
              <a:spAutoFit/>
            </a:bodyPr>
            <a:lstStyle/>
            <a:p>
              <a:pPr algn="l" marL="561339" indent="-280669" lvl="1">
                <a:lnSpc>
                  <a:spcPts val="4393"/>
                </a:lnSpc>
                <a:buFont typeface="Arial"/>
                <a:buChar char="•"/>
              </a:pPr>
              <a:r>
                <a:rPr lang="en-US" sz="2599">
                  <a:solidFill>
                    <a:srgbClr val="FFFFFF"/>
                  </a:solidFill>
                  <a:latin typeface="Rubik"/>
                  <a:ea typeface="Rubik"/>
                  <a:cs typeface="Rubik"/>
                  <a:sym typeface="Rubik"/>
                </a:rPr>
                <a:t>ID: Long</a:t>
              </a:r>
            </a:p>
            <a:p>
              <a:pPr algn="l" marL="561339" indent="-280669" lvl="1">
                <a:lnSpc>
                  <a:spcPts val="4393"/>
                </a:lnSpc>
                <a:buFont typeface="Arial"/>
                <a:buChar char="•"/>
              </a:pPr>
              <a:r>
                <a:rPr lang="en-US" sz="2599">
                  <a:solidFill>
                    <a:srgbClr val="FFFFFF"/>
                  </a:solidFill>
                  <a:latin typeface="Rubik"/>
                  <a:ea typeface="Rubik"/>
                  <a:cs typeface="Rubik"/>
                  <a:sym typeface="Rubik"/>
                </a:rPr>
                <a:t>Nome: String</a:t>
              </a:r>
            </a:p>
            <a:p>
              <a:pPr algn="l">
                <a:lnSpc>
                  <a:spcPts val="4393"/>
                </a:lnSpc>
              </a:pPr>
            </a:p>
          </p:txBody>
        </p:sp>
        <p:sp>
          <p:nvSpPr>
            <p:cNvPr name="Freeform 11" id="11"/>
            <p:cNvSpPr/>
            <p:nvPr/>
          </p:nvSpPr>
          <p:spPr>
            <a:xfrm flipH="false" flipV="false" rot="0">
              <a:off x="404660" y="440696"/>
              <a:ext cx="5062766" cy="1392261"/>
            </a:xfrm>
            <a:custGeom>
              <a:avLst/>
              <a:gdLst/>
              <a:ahLst/>
              <a:cxnLst/>
              <a:rect r="r" b="b" t="t" l="l"/>
              <a:pathLst>
                <a:path h="1392261" w="5062766">
                  <a:moveTo>
                    <a:pt x="0" y="0"/>
                  </a:moveTo>
                  <a:lnTo>
                    <a:pt x="5062766" y="0"/>
                  </a:lnTo>
                  <a:lnTo>
                    <a:pt x="5062766" y="1392260"/>
                  </a:lnTo>
                  <a:lnTo>
                    <a:pt x="0" y="1392260"/>
                  </a:lnTo>
                  <a:lnTo>
                    <a:pt x="0" y="0"/>
                  </a:lnTo>
                  <a:close/>
                </a:path>
              </a:pathLst>
            </a:custGeom>
            <a:blipFill>
              <a:blip r:embed="rId5"/>
              <a:stretch>
                <a:fillRect l="0" t="0" r="0" b="0"/>
              </a:stretch>
            </a:blipFill>
          </p:spPr>
        </p:sp>
        <p:sp>
          <p:nvSpPr>
            <p:cNvPr name="TextBox 12" id="12"/>
            <p:cNvSpPr txBox="true"/>
            <p:nvPr/>
          </p:nvSpPr>
          <p:spPr>
            <a:xfrm rot="0">
              <a:off x="839016" y="838376"/>
              <a:ext cx="4194054" cy="5969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000000"/>
                  </a:solidFill>
                  <a:latin typeface="Rubik Semi-Bold"/>
                  <a:ea typeface="Rubik Semi-Bold"/>
                  <a:cs typeface="Rubik Semi-Bold"/>
                  <a:sym typeface="Rubik Semi-Bold"/>
                </a:rPr>
                <a:t>ESPECIALIDADE</a:t>
              </a:r>
            </a:p>
          </p:txBody>
        </p:sp>
      </p:grpSp>
      <p:grpSp>
        <p:nvGrpSpPr>
          <p:cNvPr name="Group 13" id="13"/>
          <p:cNvGrpSpPr/>
          <p:nvPr/>
        </p:nvGrpSpPr>
        <p:grpSpPr>
          <a:xfrm rot="0">
            <a:off x="517796" y="1571491"/>
            <a:ext cx="4404065" cy="7624897"/>
            <a:chOff x="0" y="0"/>
            <a:chExt cx="5872087" cy="10166529"/>
          </a:xfrm>
        </p:grpSpPr>
        <p:grpSp>
          <p:nvGrpSpPr>
            <p:cNvPr name="Group 14" id="14"/>
            <p:cNvGrpSpPr/>
            <p:nvPr/>
          </p:nvGrpSpPr>
          <p:grpSpPr>
            <a:xfrm rot="0">
              <a:off x="0" y="0"/>
              <a:ext cx="5872087" cy="10166529"/>
              <a:chOff x="0" y="0"/>
              <a:chExt cx="1159918" cy="2008203"/>
            </a:xfrm>
          </p:grpSpPr>
          <p:sp>
            <p:nvSpPr>
              <p:cNvPr name="Freeform 15" id="15"/>
              <p:cNvSpPr/>
              <p:nvPr/>
            </p:nvSpPr>
            <p:spPr>
              <a:xfrm flipH="false" flipV="false" rot="0">
                <a:off x="0" y="0"/>
                <a:ext cx="1159918" cy="2008203"/>
              </a:xfrm>
              <a:custGeom>
                <a:avLst/>
                <a:gdLst/>
                <a:ahLst/>
                <a:cxnLst/>
                <a:rect r="r" b="b" t="t" l="l"/>
                <a:pathLst>
                  <a:path h="2008203" w="1159918">
                    <a:moveTo>
                      <a:pt x="137116" y="0"/>
                    </a:moveTo>
                    <a:lnTo>
                      <a:pt x="1022802" y="0"/>
                    </a:lnTo>
                    <a:cubicBezTo>
                      <a:pt x="1098529" y="0"/>
                      <a:pt x="1159918" y="61389"/>
                      <a:pt x="1159918" y="137116"/>
                    </a:cubicBezTo>
                    <a:lnTo>
                      <a:pt x="1159918" y="1871087"/>
                    </a:lnTo>
                    <a:cubicBezTo>
                      <a:pt x="1159918" y="1946814"/>
                      <a:pt x="1098529" y="2008203"/>
                      <a:pt x="1022802" y="2008203"/>
                    </a:cubicBezTo>
                    <a:lnTo>
                      <a:pt x="137116" y="2008203"/>
                    </a:lnTo>
                    <a:cubicBezTo>
                      <a:pt x="61389" y="2008203"/>
                      <a:pt x="0" y="1946814"/>
                      <a:pt x="0" y="1871087"/>
                    </a:cubicBezTo>
                    <a:lnTo>
                      <a:pt x="0" y="137116"/>
                    </a:lnTo>
                    <a:cubicBezTo>
                      <a:pt x="0" y="61389"/>
                      <a:pt x="61389" y="0"/>
                      <a:pt x="137116" y="0"/>
                    </a:cubicBezTo>
                    <a:close/>
                  </a:path>
                </a:pathLst>
              </a:custGeom>
              <a:solidFill>
                <a:srgbClr val="6D85FF">
                  <a:alpha val="29804"/>
                </a:srgbClr>
              </a:solidFill>
            </p:spPr>
          </p:sp>
          <p:sp>
            <p:nvSpPr>
              <p:cNvPr name="TextBox 16" id="16"/>
              <p:cNvSpPr txBox="true"/>
              <p:nvPr/>
            </p:nvSpPr>
            <p:spPr>
              <a:xfrm>
                <a:off x="0" y="-47625"/>
                <a:ext cx="1159918" cy="2055828"/>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0" y="1814022"/>
              <a:ext cx="5872087" cy="6769820"/>
            </a:xfrm>
            <a:prstGeom prst="rect">
              <a:avLst/>
            </a:prstGeom>
          </p:spPr>
          <p:txBody>
            <a:bodyPr anchor="t" rtlCol="false" tIns="0" lIns="0" bIns="0" rIns="0">
              <a:spAutoFit/>
            </a:bodyPr>
            <a:lstStyle/>
            <a:p>
              <a:pPr algn="l" marL="561339" indent="-280669" lvl="1">
                <a:lnSpc>
                  <a:spcPts val="5121"/>
                </a:lnSpc>
                <a:buFont typeface="Arial"/>
                <a:buChar char="•"/>
              </a:pPr>
              <a:r>
                <a:rPr lang="en-US" sz="2599">
                  <a:solidFill>
                    <a:srgbClr val="FFFFFF"/>
                  </a:solidFill>
                  <a:latin typeface="Rubik"/>
                  <a:ea typeface="Rubik"/>
                  <a:cs typeface="Rubik"/>
                  <a:sym typeface="Rubik"/>
                </a:rPr>
                <a:t>ID: Long</a:t>
              </a:r>
            </a:p>
            <a:p>
              <a:pPr algn="l" marL="561339" indent="-280669" lvl="1">
                <a:lnSpc>
                  <a:spcPts val="5121"/>
                </a:lnSpc>
                <a:buFont typeface="Arial"/>
                <a:buChar char="•"/>
              </a:pPr>
              <a:r>
                <a:rPr lang="en-US" sz="2599">
                  <a:solidFill>
                    <a:srgbClr val="FFFFFF"/>
                  </a:solidFill>
                  <a:latin typeface="Rubik"/>
                  <a:ea typeface="Rubik"/>
                  <a:cs typeface="Rubik"/>
                  <a:sym typeface="Rubik"/>
                </a:rPr>
                <a:t>Nome: String</a:t>
              </a:r>
            </a:p>
            <a:p>
              <a:pPr algn="l" marL="561339" indent="-280669" lvl="1">
                <a:lnSpc>
                  <a:spcPts val="5121"/>
                </a:lnSpc>
                <a:buFont typeface="Arial"/>
                <a:buChar char="•"/>
              </a:pPr>
              <a:r>
                <a:rPr lang="en-US" sz="2599">
                  <a:solidFill>
                    <a:srgbClr val="FFFFFF"/>
                  </a:solidFill>
                  <a:latin typeface="Rubik"/>
                  <a:ea typeface="Rubik"/>
                  <a:cs typeface="Rubik"/>
                  <a:sym typeface="Rubik"/>
                </a:rPr>
                <a:t>Email: String</a:t>
              </a:r>
            </a:p>
            <a:p>
              <a:pPr algn="l" marL="561339" indent="-280669" lvl="1">
                <a:lnSpc>
                  <a:spcPts val="5121"/>
                </a:lnSpc>
                <a:buFont typeface="Arial"/>
                <a:buChar char="•"/>
              </a:pPr>
              <a:r>
                <a:rPr lang="en-US" sz="2599">
                  <a:solidFill>
                    <a:srgbClr val="FFFFFF"/>
                  </a:solidFill>
                  <a:latin typeface="Rubik"/>
                  <a:ea typeface="Rubik"/>
                  <a:cs typeface="Rubik"/>
                  <a:sym typeface="Rubik"/>
                </a:rPr>
                <a:t>Senha: String</a:t>
              </a:r>
            </a:p>
            <a:p>
              <a:pPr algn="l" marL="561339" indent="-280669" lvl="1">
                <a:lnSpc>
                  <a:spcPts val="5121"/>
                </a:lnSpc>
                <a:buFont typeface="Arial"/>
                <a:buChar char="•"/>
              </a:pPr>
              <a:r>
                <a:rPr lang="en-US" sz="2599">
                  <a:solidFill>
                    <a:srgbClr val="FFFFFF"/>
                  </a:solidFill>
                  <a:latin typeface="Rubik"/>
                  <a:ea typeface="Rubik"/>
                  <a:cs typeface="Rubik"/>
                  <a:sym typeface="Rubik"/>
                </a:rPr>
                <a:t>FotoPerfil: Byte[]</a:t>
              </a:r>
            </a:p>
            <a:p>
              <a:pPr algn="l" marL="561339" indent="-280669" lvl="1">
                <a:lnSpc>
                  <a:spcPts val="5121"/>
                </a:lnSpc>
                <a:buFont typeface="Arial"/>
                <a:buChar char="•"/>
              </a:pPr>
              <a:r>
                <a:rPr lang="en-US" sz="2599">
                  <a:solidFill>
                    <a:srgbClr val="FFFFFF"/>
                  </a:solidFill>
                  <a:latin typeface="Rubik"/>
                  <a:ea typeface="Rubik"/>
                  <a:cs typeface="Rubik"/>
                  <a:sym typeface="Rubik"/>
                </a:rPr>
                <a:t>CódigoLogin: String</a:t>
              </a:r>
            </a:p>
            <a:p>
              <a:pPr algn="l" marL="561339" indent="-280669" lvl="1">
                <a:lnSpc>
                  <a:spcPts val="5121"/>
                </a:lnSpc>
                <a:buFont typeface="Arial"/>
                <a:buChar char="•"/>
              </a:pPr>
              <a:r>
                <a:rPr lang="en-US" sz="2599">
                  <a:solidFill>
                    <a:srgbClr val="FFFFFF"/>
                  </a:solidFill>
                  <a:latin typeface="Rubik"/>
                  <a:ea typeface="Rubik"/>
                  <a:cs typeface="Rubik"/>
                  <a:sym typeface="Rubik"/>
                </a:rPr>
                <a:t>ResetToken: String</a:t>
              </a:r>
            </a:p>
            <a:p>
              <a:pPr algn="l">
                <a:lnSpc>
                  <a:spcPts val="5121"/>
                </a:lnSpc>
              </a:pPr>
            </a:p>
          </p:txBody>
        </p:sp>
        <p:sp>
          <p:nvSpPr>
            <p:cNvPr name="Freeform 18" id="18"/>
            <p:cNvSpPr/>
            <p:nvPr/>
          </p:nvSpPr>
          <p:spPr>
            <a:xfrm flipH="false" flipV="false" rot="0">
              <a:off x="404660" y="440696"/>
              <a:ext cx="5062766" cy="1392261"/>
            </a:xfrm>
            <a:custGeom>
              <a:avLst/>
              <a:gdLst/>
              <a:ahLst/>
              <a:cxnLst/>
              <a:rect r="r" b="b" t="t" l="l"/>
              <a:pathLst>
                <a:path h="1392261" w="5062766">
                  <a:moveTo>
                    <a:pt x="0" y="0"/>
                  </a:moveTo>
                  <a:lnTo>
                    <a:pt x="5062766" y="0"/>
                  </a:lnTo>
                  <a:lnTo>
                    <a:pt x="5062766" y="1392260"/>
                  </a:lnTo>
                  <a:lnTo>
                    <a:pt x="0" y="1392260"/>
                  </a:lnTo>
                  <a:lnTo>
                    <a:pt x="0" y="0"/>
                  </a:lnTo>
                  <a:close/>
                </a:path>
              </a:pathLst>
            </a:custGeom>
            <a:blipFill>
              <a:blip r:embed="rId5"/>
              <a:stretch>
                <a:fillRect l="0" t="0" r="0" b="0"/>
              </a:stretch>
            </a:blipFill>
          </p:spPr>
        </p:sp>
        <p:sp>
          <p:nvSpPr>
            <p:cNvPr name="TextBox 19" id="19"/>
            <p:cNvSpPr txBox="true"/>
            <p:nvPr/>
          </p:nvSpPr>
          <p:spPr>
            <a:xfrm rot="0">
              <a:off x="1000492" y="774876"/>
              <a:ext cx="3871102" cy="5969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000000"/>
                  </a:solidFill>
                  <a:latin typeface="Rubik Semi-Bold"/>
                  <a:ea typeface="Rubik Semi-Bold"/>
                  <a:cs typeface="Rubik Semi-Bold"/>
                  <a:sym typeface="Rubik Semi-Bold"/>
                </a:rPr>
                <a:t>REGISTRO</a:t>
              </a:r>
            </a:p>
          </p:txBody>
        </p:sp>
        <p:sp>
          <p:nvSpPr>
            <p:cNvPr name="TextBox 20" id="20"/>
            <p:cNvSpPr txBox="true"/>
            <p:nvPr/>
          </p:nvSpPr>
          <p:spPr>
            <a:xfrm rot="0">
              <a:off x="0" y="7986772"/>
              <a:ext cx="5872087" cy="1248326"/>
            </a:xfrm>
            <a:prstGeom prst="rect">
              <a:avLst/>
            </a:prstGeom>
          </p:spPr>
          <p:txBody>
            <a:bodyPr anchor="t" rtlCol="false" tIns="0" lIns="0" bIns="0" rIns="0">
              <a:spAutoFit/>
            </a:bodyPr>
            <a:lstStyle/>
            <a:p>
              <a:pPr algn="l" marL="561339" indent="-280669" lvl="1">
                <a:lnSpc>
                  <a:spcPts val="3847"/>
                </a:lnSpc>
                <a:buFont typeface="Arial"/>
                <a:buChar char="•"/>
              </a:pPr>
              <a:r>
                <a:rPr lang="en-US" sz="2599">
                  <a:solidFill>
                    <a:srgbClr val="FFFFFF"/>
                  </a:solidFill>
                  <a:latin typeface="Rubik"/>
                  <a:ea typeface="Rubik"/>
                  <a:cs typeface="Rubik"/>
                  <a:sym typeface="Rubik"/>
                </a:rPr>
                <a:t>ResetTokenExpiryDate: LocalDateTime</a:t>
              </a:r>
            </a:p>
          </p:txBody>
        </p:sp>
      </p:grpSp>
      <p:grpSp>
        <p:nvGrpSpPr>
          <p:cNvPr name="Group 21" id="21"/>
          <p:cNvGrpSpPr/>
          <p:nvPr/>
        </p:nvGrpSpPr>
        <p:grpSpPr>
          <a:xfrm rot="0">
            <a:off x="6696847" y="6100034"/>
            <a:ext cx="4646279" cy="3558537"/>
            <a:chOff x="0" y="0"/>
            <a:chExt cx="6195039" cy="4744717"/>
          </a:xfrm>
        </p:grpSpPr>
        <p:grpSp>
          <p:nvGrpSpPr>
            <p:cNvPr name="Group 22" id="22"/>
            <p:cNvGrpSpPr/>
            <p:nvPr/>
          </p:nvGrpSpPr>
          <p:grpSpPr>
            <a:xfrm rot="0">
              <a:off x="0" y="0"/>
              <a:ext cx="6195039" cy="4424382"/>
              <a:chOff x="0" y="0"/>
              <a:chExt cx="1223711" cy="873952"/>
            </a:xfrm>
          </p:grpSpPr>
          <p:sp>
            <p:nvSpPr>
              <p:cNvPr name="Freeform 23" id="23"/>
              <p:cNvSpPr/>
              <p:nvPr/>
            </p:nvSpPr>
            <p:spPr>
              <a:xfrm flipH="false" flipV="false" rot="0">
                <a:off x="0" y="0"/>
                <a:ext cx="1223711" cy="873952"/>
              </a:xfrm>
              <a:custGeom>
                <a:avLst/>
                <a:gdLst/>
                <a:ahLst/>
                <a:cxnLst/>
                <a:rect r="r" b="b" t="t" l="l"/>
                <a:pathLst>
                  <a:path h="873952" w="1223711">
                    <a:moveTo>
                      <a:pt x="129968" y="0"/>
                    </a:moveTo>
                    <a:lnTo>
                      <a:pt x="1093743" y="0"/>
                    </a:lnTo>
                    <a:cubicBezTo>
                      <a:pt x="1128213" y="0"/>
                      <a:pt x="1161271" y="13693"/>
                      <a:pt x="1185645" y="38067"/>
                    </a:cubicBezTo>
                    <a:cubicBezTo>
                      <a:pt x="1210018" y="62441"/>
                      <a:pt x="1223711" y="95499"/>
                      <a:pt x="1223711" y="129968"/>
                    </a:cubicBezTo>
                    <a:lnTo>
                      <a:pt x="1223711" y="743984"/>
                    </a:lnTo>
                    <a:cubicBezTo>
                      <a:pt x="1223711" y="815763"/>
                      <a:pt x="1165523" y="873952"/>
                      <a:pt x="1093743" y="873952"/>
                    </a:cubicBezTo>
                    <a:lnTo>
                      <a:pt x="129968" y="873952"/>
                    </a:lnTo>
                    <a:cubicBezTo>
                      <a:pt x="95499" y="873952"/>
                      <a:pt x="62441" y="860259"/>
                      <a:pt x="38067" y="835885"/>
                    </a:cubicBezTo>
                    <a:cubicBezTo>
                      <a:pt x="13693" y="811511"/>
                      <a:pt x="0" y="778453"/>
                      <a:pt x="0" y="743984"/>
                    </a:cubicBezTo>
                    <a:lnTo>
                      <a:pt x="0" y="129968"/>
                    </a:lnTo>
                    <a:cubicBezTo>
                      <a:pt x="0" y="58189"/>
                      <a:pt x="58189" y="0"/>
                      <a:pt x="129968" y="0"/>
                    </a:cubicBezTo>
                    <a:close/>
                  </a:path>
                </a:pathLst>
              </a:custGeom>
              <a:solidFill>
                <a:srgbClr val="6D85FF">
                  <a:alpha val="29804"/>
                </a:srgbClr>
              </a:solidFill>
            </p:spPr>
          </p:sp>
          <p:sp>
            <p:nvSpPr>
              <p:cNvPr name="TextBox 24" id="24"/>
              <p:cNvSpPr txBox="true"/>
              <p:nvPr/>
            </p:nvSpPr>
            <p:spPr>
              <a:xfrm>
                <a:off x="0" y="-47625"/>
                <a:ext cx="1223711" cy="921577"/>
              </a:xfrm>
              <a:prstGeom prst="rect">
                <a:avLst/>
              </a:prstGeom>
            </p:spPr>
            <p:txBody>
              <a:bodyPr anchor="ctr" rtlCol="false" tIns="50800" lIns="50800" bIns="50800" rIns="50800"/>
              <a:lstStyle/>
              <a:p>
                <a:pPr algn="ctr">
                  <a:lnSpc>
                    <a:spcPts val="3499"/>
                  </a:lnSpc>
                </a:pPr>
              </a:p>
            </p:txBody>
          </p:sp>
        </p:grpSp>
        <p:sp>
          <p:nvSpPr>
            <p:cNvPr name="TextBox 25" id="25"/>
            <p:cNvSpPr txBox="true"/>
            <p:nvPr/>
          </p:nvSpPr>
          <p:spPr>
            <a:xfrm rot="0">
              <a:off x="0" y="1890222"/>
              <a:ext cx="6195039" cy="2854495"/>
            </a:xfrm>
            <a:prstGeom prst="rect">
              <a:avLst/>
            </a:prstGeom>
          </p:spPr>
          <p:txBody>
            <a:bodyPr anchor="t" rtlCol="false" tIns="0" lIns="0" bIns="0" rIns="0">
              <a:spAutoFit/>
            </a:bodyPr>
            <a:lstStyle/>
            <a:p>
              <a:pPr algn="l" marL="561339" indent="-280669" lvl="1">
                <a:lnSpc>
                  <a:spcPts val="4393"/>
                </a:lnSpc>
                <a:buFont typeface="Arial"/>
                <a:buChar char="•"/>
              </a:pPr>
              <a:r>
                <a:rPr lang="en-US" sz="2599">
                  <a:solidFill>
                    <a:srgbClr val="FFFFFF"/>
                  </a:solidFill>
                  <a:latin typeface="Rubik"/>
                  <a:ea typeface="Rubik"/>
                  <a:cs typeface="Rubik"/>
                  <a:sym typeface="Rubik"/>
                </a:rPr>
                <a:t>ID: Long</a:t>
              </a:r>
            </a:p>
            <a:p>
              <a:pPr algn="l" marL="561339" indent="-280669" lvl="1">
                <a:lnSpc>
                  <a:spcPts val="4393"/>
                </a:lnSpc>
                <a:buFont typeface="Arial"/>
                <a:buChar char="•"/>
              </a:pPr>
              <a:r>
                <a:rPr lang="en-US" sz="2599">
                  <a:solidFill>
                    <a:srgbClr val="FFFFFF"/>
                  </a:solidFill>
                  <a:latin typeface="Rubik"/>
                  <a:ea typeface="Rubik"/>
                  <a:cs typeface="Rubik"/>
                  <a:sym typeface="Rubik"/>
                </a:rPr>
                <a:t>dataHora: LocalDateTime</a:t>
              </a:r>
            </a:p>
            <a:p>
              <a:pPr algn="l" marL="561339" indent="-280669" lvl="1">
                <a:lnSpc>
                  <a:spcPts val="4393"/>
                </a:lnSpc>
                <a:buFont typeface="Arial"/>
                <a:buChar char="•"/>
              </a:pPr>
              <a:r>
                <a:rPr lang="en-US" sz="2599">
                  <a:solidFill>
                    <a:srgbClr val="FFFFFF"/>
                  </a:solidFill>
                  <a:latin typeface="Rubik"/>
                  <a:ea typeface="Rubik"/>
                  <a:cs typeface="Rubik"/>
                  <a:sym typeface="Rubik"/>
                </a:rPr>
                <a:t>Observações: String</a:t>
              </a:r>
            </a:p>
            <a:p>
              <a:pPr algn="l">
                <a:lnSpc>
                  <a:spcPts val="4393"/>
                </a:lnSpc>
              </a:pPr>
            </a:p>
          </p:txBody>
        </p:sp>
        <p:sp>
          <p:nvSpPr>
            <p:cNvPr name="Freeform 26" id="26"/>
            <p:cNvSpPr/>
            <p:nvPr/>
          </p:nvSpPr>
          <p:spPr>
            <a:xfrm flipH="false" flipV="false" rot="0">
              <a:off x="426916" y="440696"/>
              <a:ext cx="5341207" cy="1392261"/>
            </a:xfrm>
            <a:custGeom>
              <a:avLst/>
              <a:gdLst/>
              <a:ahLst/>
              <a:cxnLst/>
              <a:rect r="r" b="b" t="t" l="l"/>
              <a:pathLst>
                <a:path h="1392261" w="5341207">
                  <a:moveTo>
                    <a:pt x="0" y="0"/>
                  </a:moveTo>
                  <a:lnTo>
                    <a:pt x="5341207" y="0"/>
                  </a:lnTo>
                  <a:lnTo>
                    <a:pt x="5341207" y="1392260"/>
                  </a:lnTo>
                  <a:lnTo>
                    <a:pt x="0" y="1392260"/>
                  </a:lnTo>
                  <a:lnTo>
                    <a:pt x="0" y="0"/>
                  </a:lnTo>
                  <a:close/>
                </a:path>
              </a:pathLst>
            </a:custGeom>
            <a:blipFill>
              <a:blip r:embed="rId5"/>
              <a:stretch>
                <a:fillRect l="0" t="-2749" r="0" b="-2749"/>
              </a:stretch>
            </a:blipFill>
          </p:spPr>
        </p:sp>
        <p:sp>
          <p:nvSpPr>
            <p:cNvPr name="TextBox 27" id="27"/>
            <p:cNvSpPr txBox="true"/>
            <p:nvPr/>
          </p:nvSpPr>
          <p:spPr>
            <a:xfrm rot="0">
              <a:off x="885160" y="838376"/>
              <a:ext cx="4424718" cy="5969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000000"/>
                  </a:solidFill>
                  <a:latin typeface="Rubik Semi-Bold"/>
                  <a:ea typeface="Rubik Semi-Bold"/>
                  <a:cs typeface="Rubik Semi-Bold"/>
                  <a:sym typeface="Rubik Semi-Bold"/>
                </a:rPr>
                <a:t>CONSULTA</a:t>
              </a:r>
            </a:p>
          </p:txBody>
        </p:sp>
      </p:grpSp>
      <p:grpSp>
        <p:nvGrpSpPr>
          <p:cNvPr name="Group 28" id="28"/>
          <p:cNvGrpSpPr/>
          <p:nvPr/>
        </p:nvGrpSpPr>
        <p:grpSpPr>
          <a:xfrm rot="0">
            <a:off x="13271289" y="329084"/>
            <a:ext cx="4636449" cy="6437882"/>
            <a:chOff x="0" y="0"/>
            <a:chExt cx="6181932" cy="8583842"/>
          </a:xfrm>
        </p:grpSpPr>
        <p:grpSp>
          <p:nvGrpSpPr>
            <p:cNvPr name="Group 29" id="29"/>
            <p:cNvGrpSpPr/>
            <p:nvPr/>
          </p:nvGrpSpPr>
          <p:grpSpPr>
            <a:xfrm rot="0">
              <a:off x="0" y="0"/>
              <a:ext cx="6181932" cy="8104584"/>
              <a:chOff x="0" y="0"/>
              <a:chExt cx="1221122" cy="1600905"/>
            </a:xfrm>
          </p:grpSpPr>
          <p:sp>
            <p:nvSpPr>
              <p:cNvPr name="Freeform 30" id="30"/>
              <p:cNvSpPr/>
              <p:nvPr/>
            </p:nvSpPr>
            <p:spPr>
              <a:xfrm flipH="false" flipV="false" rot="0">
                <a:off x="0" y="0"/>
                <a:ext cx="1221122" cy="1600905"/>
              </a:xfrm>
              <a:custGeom>
                <a:avLst/>
                <a:gdLst/>
                <a:ahLst/>
                <a:cxnLst/>
                <a:rect r="r" b="b" t="t" l="l"/>
                <a:pathLst>
                  <a:path h="1600905" w="1221122">
                    <a:moveTo>
                      <a:pt x="130244" y="0"/>
                    </a:moveTo>
                    <a:lnTo>
                      <a:pt x="1090878" y="0"/>
                    </a:lnTo>
                    <a:cubicBezTo>
                      <a:pt x="1125421" y="0"/>
                      <a:pt x="1158549" y="13722"/>
                      <a:pt x="1182975" y="38148"/>
                    </a:cubicBezTo>
                    <a:cubicBezTo>
                      <a:pt x="1207400" y="62573"/>
                      <a:pt x="1221122" y="95701"/>
                      <a:pt x="1221122" y="130244"/>
                    </a:cubicBezTo>
                    <a:lnTo>
                      <a:pt x="1221122" y="1470661"/>
                    </a:lnTo>
                    <a:cubicBezTo>
                      <a:pt x="1221122" y="1542593"/>
                      <a:pt x="1162810" y="1600905"/>
                      <a:pt x="1090878" y="1600905"/>
                    </a:cubicBezTo>
                    <a:lnTo>
                      <a:pt x="130244" y="1600905"/>
                    </a:lnTo>
                    <a:cubicBezTo>
                      <a:pt x="95701" y="1600905"/>
                      <a:pt x="62573" y="1587183"/>
                      <a:pt x="38148" y="1562758"/>
                    </a:cubicBezTo>
                    <a:cubicBezTo>
                      <a:pt x="13722" y="1538332"/>
                      <a:pt x="0" y="1505204"/>
                      <a:pt x="0" y="1470661"/>
                    </a:cubicBezTo>
                    <a:lnTo>
                      <a:pt x="0" y="130244"/>
                    </a:lnTo>
                    <a:cubicBezTo>
                      <a:pt x="0" y="95701"/>
                      <a:pt x="13722" y="62573"/>
                      <a:pt x="38148" y="38148"/>
                    </a:cubicBezTo>
                    <a:cubicBezTo>
                      <a:pt x="62573" y="13722"/>
                      <a:pt x="95701" y="0"/>
                      <a:pt x="130244" y="0"/>
                    </a:cubicBezTo>
                    <a:close/>
                  </a:path>
                </a:pathLst>
              </a:custGeom>
              <a:solidFill>
                <a:srgbClr val="6D85FF">
                  <a:alpha val="29804"/>
                </a:srgbClr>
              </a:solidFill>
            </p:spPr>
          </p:sp>
          <p:sp>
            <p:nvSpPr>
              <p:cNvPr name="TextBox 31" id="31"/>
              <p:cNvSpPr txBox="true"/>
              <p:nvPr/>
            </p:nvSpPr>
            <p:spPr>
              <a:xfrm>
                <a:off x="0" y="-47625"/>
                <a:ext cx="1221122" cy="1648530"/>
              </a:xfrm>
              <a:prstGeom prst="rect">
                <a:avLst/>
              </a:prstGeom>
            </p:spPr>
            <p:txBody>
              <a:bodyPr anchor="ctr" rtlCol="false" tIns="50800" lIns="50800" bIns="50800" rIns="50800"/>
              <a:lstStyle/>
              <a:p>
                <a:pPr algn="ctr">
                  <a:lnSpc>
                    <a:spcPts val="3499"/>
                  </a:lnSpc>
                </a:pPr>
              </a:p>
            </p:txBody>
          </p:sp>
        </p:grpSp>
        <p:sp>
          <p:nvSpPr>
            <p:cNvPr name="TextBox 32" id="32"/>
            <p:cNvSpPr txBox="true"/>
            <p:nvPr/>
          </p:nvSpPr>
          <p:spPr>
            <a:xfrm rot="0">
              <a:off x="0" y="1814022"/>
              <a:ext cx="6181932" cy="6769820"/>
            </a:xfrm>
            <a:prstGeom prst="rect">
              <a:avLst/>
            </a:prstGeom>
          </p:spPr>
          <p:txBody>
            <a:bodyPr anchor="t" rtlCol="false" tIns="0" lIns="0" bIns="0" rIns="0">
              <a:spAutoFit/>
            </a:bodyPr>
            <a:lstStyle/>
            <a:p>
              <a:pPr algn="l" marL="561339" indent="-280669" lvl="1">
                <a:lnSpc>
                  <a:spcPts val="5121"/>
                </a:lnSpc>
                <a:buFont typeface="Arial"/>
                <a:buChar char="•"/>
              </a:pPr>
              <a:r>
                <a:rPr lang="en-US" sz="2599">
                  <a:solidFill>
                    <a:srgbClr val="FFFFFF"/>
                  </a:solidFill>
                  <a:latin typeface="Rubik"/>
                  <a:ea typeface="Rubik"/>
                  <a:cs typeface="Rubik"/>
                  <a:sym typeface="Rubik"/>
                </a:rPr>
                <a:t>ID: Long</a:t>
              </a:r>
            </a:p>
            <a:p>
              <a:pPr algn="l" marL="561339" indent="-280669" lvl="1">
                <a:lnSpc>
                  <a:spcPts val="5121"/>
                </a:lnSpc>
                <a:buFont typeface="Arial"/>
                <a:buChar char="•"/>
              </a:pPr>
              <a:r>
                <a:rPr lang="en-US" sz="2599">
                  <a:solidFill>
                    <a:srgbClr val="FFFFFF"/>
                  </a:solidFill>
                  <a:latin typeface="Rubik"/>
                  <a:ea typeface="Rubik"/>
                  <a:cs typeface="Rubik"/>
                  <a:sym typeface="Rubik"/>
                </a:rPr>
                <a:t>Nome: String</a:t>
              </a:r>
            </a:p>
            <a:p>
              <a:pPr algn="l" marL="561339" indent="-280669" lvl="1">
                <a:lnSpc>
                  <a:spcPts val="5121"/>
                </a:lnSpc>
                <a:buFont typeface="Arial"/>
                <a:buChar char="•"/>
              </a:pPr>
              <a:r>
                <a:rPr lang="en-US" sz="2599">
                  <a:solidFill>
                    <a:srgbClr val="FFFFFF"/>
                  </a:solidFill>
                  <a:latin typeface="Rubik"/>
                  <a:ea typeface="Rubik"/>
                  <a:cs typeface="Rubik"/>
                  <a:sym typeface="Rubik"/>
                </a:rPr>
                <a:t>CPF: String</a:t>
              </a:r>
            </a:p>
            <a:p>
              <a:pPr algn="l" marL="561339" indent="-280669" lvl="1">
                <a:lnSpc>
                  <a:spcPts val="5121"/>
                </a:lnSpc>
                <a:buFont typeface="Arial"/>
                <a:buChar char="•"/>
              </a:pPr>
              <a:r>
                <a:rPr lang="en-US" sz="2599">
                  <a:solidFill>
                    <a:srgbClr val="FFFFFF"/>
                  </a:solidFill>
                  <a:latin typeface="Rubik"/>
                  <a:ea typeface="Rubik"/>
                  <a:cs typeface="Rubik"/>
                  <a:sym typeface="Rubik"/>
                </a:rPr>
                <a:t>Idade: int</a:t>
              </a:r>
            </a:p>
            <a:p>
              <a:pPr algn="l" marL="561339" indent="-280669" lvl="1">
                <a:lnSpc>
                  <a:spcPts val="5121"/>
                </a:lnSpc>
                <a:buFont typeface="Arial"/>
                <a:buChar char="•"/>
              </a:pPr>
              <a:r>
                <a:rPr lang="en-US" sz="2599">
                  <a:solidFill>
                    <a:srgbClr val="FFFFFF"/>
                  </a:solidFill>
                  <a:latin typeface="Rubik"/>
                  <a:ea typeface="Rubik"/>
                  <a:cs typeface="Rubik"/>
                  <a:sym typeface="Rubik"/>
                </a:rPr>
                <a:t>Alergias: String</a:t>
              </a:r>
            </a:p>
            <a:p>
              <a:pPr algn="l" marL="561339" indent="-280669" lvl="1">
                <a:lnSpc>
                  <a:spcPts val="5121"/>
                </a:lnSpc>
                <a:buFont typeface="Arial"/>
                <a:buChar char="•"/>
              </a:pPr>
              <a:r>
                <a:rPr lang="en-US" sz="2599">
                  <a:solidFill>
                    <a:srgbClr val="FFFFFF"/>
                  </a:solidFill>
                  <a:latin typeface="Rubik"/>
                  <a:ea typeface="Rubik"/>
                  <a:cs typeface="Rubik"/>
                  <a:sym typeface="Rubik"/>
                </a:rPr>
                <a:t>HistóricoCirurgias: String</a:t>
              </a:r>
            </a:p>
            <a:p>
              <a:pPr algn="l" marL="561339" indent="-280669" lvl="1">
                <a:lnSpc>
                  <a:spcPts val="5121"/>
                </a:lnSpc>
                <a:buFont typeface="Arial"/>
                <a:buChar char="•"/>
              </a:pPr>
              <a:r>
                <a:rPr lang="en-US" sz="2599">
                  <a:solidFill>
                    <a:srgbClr val="FFFFFF"/>
                  </a:solidFill>
                  <a:latin typeface="Rubik"/>
                  <a:ea typeface="Rubik"/>
                  <a:cs typeface="Rubik"/>
                  <a:sym typeface="Rubik"/>
                </a:rPr>
                <a:t>Observações: String</a:t>
              </a:r>
            </a:p>
            <a:p>
              <a:pPr algn="l">
                <a:lnSpc>
                  <a:spcPts val="5121"/>
                </a:lnSpc>
              </a:pPr>
            </a:p>
          </p:txBody>
        </p:sp>
        <p:sp>
          <p:nvSpPr>
            <p:cNvPr name="Freeform 33" id="33"/>
            <p:cNvSpPr/>
            <p:nvPr/>
          </p:nvSpPr>
          <p:spPr>
            <a:xfrm flipH="false" flipV="false" rot="0">
              <a:off x="426013" y="440696"/>
              <a:ext cx="5329907" cy="1392261"/>
            </a:xfrm>
            <a:custGeom>
              <a:avLst/>
              <a:gdLst/>
              <a:ahLst/>
              <a:cxnLst/>
              <a:rect r="r" b="b" t="t" l="l"/>
              <a:pathLst>
                <a:path h="1392261" w="5329907">
                  <a:moveTo>
                    <a:pt x="0" y="0"/>
                  </a:moveTo>
                  <a:lnTo>
                    <a:pt x="5329907" y="0"/>
                  </a:lnTo>
                  <a:lnTo>
                    <a:pt x="5329907" y="1392260"/>
                  </a:lnTo>
                  <a:lnTo>
                    <a:pt x="0" y="1392260"/>
                  </a:lnTo>
                  <a:lnTo>
                    <a:pt x="0" y="0"/>
                  </a:lnTo>
                  <a:close/>
                </a:path>
              </a:pathLst>
            </a:custGeom>
            <a:blipFill>
              <a:blip r:embed="rId5"/>
              <a:stretch>
                <a:fillRect l="0" t="-2638" r="0" b="-2638"/>
              </a:stretch>
            </a:blipFill>
          </p:spPr>
        </p:sp>
        <p:sp>
          <p:nvSpPr>
            <p:cNvPr name="TextBox 34" id="34"/>
            <p:cNvSpPr txBox="true"/>
            <p:nvPr/>
          </p:nvSpPr>
          <p:spPr>
            <a:xfrm rot="0">
              <a:off x="1053284" y="774876"/>
              <a:ext cx="4075364" cy="596900"/>
            </a:xfrm>
            <a:prstGeom prst="rect">
              <a:avLst/>
            </a:prstGeom>
          </p:spPr>
          <p:txBody>
            <a:bodyPr anchor="t" rtlCol="false" tIns="0" lIns="0" bIns="0" rIns="0">
              <a:spAutoFit/>
            </a:bodyPr>
            <a:lstStyle/>
            <a:p>
              <a:pPr algn="ctr" marL="0" indent="0" lvl="0">
                <a:lnSpc>
                  <a:spcPts val="3599"/>
                </a:lnSpc>
                <a:spcBef>
                  <a:spcPct val="0"/>
                </a:spcBef>
              </a:pPr>
              <a:r>
                <a:rPr lang="en-US" b="true" sz="2999">
                  <a:solidFill>
                    <a:srgbClr val="000000"/>
                  </a:solidFill>
                  <a:latin typeface="Rubik Semi-Bold"/>
                  <a:ea typeface="Rubik Semi-Bold"/>
                  <a:cs typeface="Rubik Semi-Bold"/>
                  <a:sym typeface="Rubik Semi-Bold"/>
                </a:rPr>
                <a:t>PACIENTE</a:t>
              </a:r>
            </a:p>
          </p:txBody>
        </p:sp>
      </p:grpSp>
      <p:sp>
        <p:nvSpPr>
          <p:cNvPr name="AutoShape 35" id="35"/>
          <p:cNvSpPr/>
          <p:nvPr/>
        </p:nvSpPr>
        <p:spPr>
          <a:xfrm flipH="true" flipV="true">
            <a:off x="5595441" y="2144496"/>
            <a:ext cx="1100974" cy="0"/>
          </a:xfrm>
          <a:prstGeom prst="line">
            <a:avLst/>
          </a:prstGeom>
          <a:ln cap="flat" w="38100">
            <a:solidFill>
              <a:srgbClr val="FFFFFF"/>
            </a:solidFill>
            <a:prstDash val="solid"/>
            <a:headEnd type="arrow" len="sm" w="med"/>
            <a:tailEnd type="none" len="sm" w="sm"/>
          </a:ln>
        </p:spPr>
      </p:sp>
      <p:sp>
        <p:nvSpPr>
          <p:cNvPr name="AutoShape 36" id="36"/>
          <p:cNvSpPr/>
          <p:nvPr/>
        </p:nvSpPr>
        <p:spPr>
          <a:xfrm>
            <a:off x="5595441" y="2144496"/>
            <a:ext cx="0" cy="2426498"/>
          </a:xfrm>
          <a:prstGeom prst="line">
            <a:avLst/>
          </a:prstGeom>
          <a:ln cap="flat" w="38100">
            <a:solidFill>
              <a:srgbClr val="FFFFFF"/>
            </a:solidFill>
            <a:prstDash val="solid"/>
            <a:headEnd type="none" len="sm" w="sm"/>
            <a:tailEnd type="none" len="sm" w="sm"/>
          </a:ln>
        </p:spPr>
      </p:sp>
      <p:sp>
        <p:nvSpPr>
          <p:cNvPr name="AutoShape 37" id="37"/>
          <p:cNvSpPr/>
          <p:nvPr/>
        </p:nvSpPr>
        <p:spPr>
          <a:xfrm flipH="true">
            <a:off x="4921861" y="4570994"/>
            <a:ext cx="673579" cy="0"/>
          </a:xfrm>
          <a:prstGeom prst="line">
            <a:avLst/>
          </a:prstGeom>
          <a:ln cap="flat" w="38100">
            <a:solidFill>
              <a:srgbClr val="FFFFFF"/>
            </a:solidFill>
            <a:prstDash val="solid"/>
            <a:headEnd type="none" len="sm" w="sm"/>
            <a:tailEnd type="none" len="sm" w="sm"/>
          </a:ln>
        </p:spPr>
      </p:sp>
      <p:grpSp>
        <p:nvGrpSpPr>
          <p:cNvPr name="Group 38" id="38"/>
          <p:cNvGrpSpPr/>
          <p:nvPr/>
        </p:nvGrpSpPr>
        <p:grpSpPr>
          <a:xfrm rot="0">
            <a:off x="4921861" y="5364052"/>
            <a:ext cx="1668189" cy="2455067"/>
            <a:chOff x="0" y="0"/>
            <a:chExt cx="2224252" cy="3273423"/>
          </a:xfrm>
        </p:grpSpPr>
        <p:sp>
          <p:nvSpPr>
            <p:cNvPr name="AutoShape 39" id="39"/>
            <p:cNvSpPr/>
            <p:nvPr/>
          </p:nvSpPr>
          <p:spPr>
            <a:xfrm flipH="true" flipV="true">
              <a:off x="359" y="25397"/>
              <a:ext cx="898984" cy="12700"/>
            </a:xfrm>
            <a:prstGeom prst="line">
              <a:avLst/>
            </a:prstGeom>
            <a:ln cap="flat" w="50800">
              <a:solidFill>
                <a:srgbClr val="FFFFFF"/>
              </a:solidFill>
              <a:prstDash val="solid"/>
              <a:headEnd type="none" len="sm" w="sm"/>
              <a:tailEnd type="none" len="sm" w="sm"/>
            </a:ln>
          </p:spPr>
        </p:sp>
        <p:sp>
          <p:nvSpPr>
            <p:cNvPr name="AutoShape 40" id="40"/>
            <p:cNvSpPr/>
            <p:nvPr/>
          </p:nvSpPr>
          <p:spPr>
            <a:xfrm>
              <a:off x="924743" y="12697"/>
              <a:ext cx="0" cy="3235330"/>
            </a:xfrm>
            <a:prstGeom prst="line">
              <a:avLst/>
            </a:prstGeom>
            <a:ln cap="flat" w="50800">
              <a:solidFill>
                <a:srgbClr val="FFFFFF"/>
              </a:solidFill>
              <a:prstDash val="solid"/>
              <a:headEnd type="none" len="sm" w="sm"/>
              <a:tailEnd type="none" len="sm" w="sm"/>
            </a:ln>
          </p:spPr>
        </p:sp>
        <p:sp>
          <p:nvSpPr>
            <p:cNvPr name="AutoShape 41" id="41"/>
            <p:cNvSpPr/>
            <p:nvPr/>
          </p:nvSpPr>
          <p:spPr>
            <a:xfrm flipH="true" flipV="true">
              <a:off x="898465" y="3222628"/>
              <a:ext cx="1325300" cy="25400"/>
            </a:xfrm>
            <a:prstGeom prst="line">
              <a:avLst/>
            </a:prstGeom>
            <a:ln cap="flat" w="50800">
              <a:solidFill>
                <a:srgbClr val="FFFFFF"/>
              </a:solidFill>
              <a:prstDash val="solid"/>
              <a:headEnd type="arrow" len="sm" w="med"/>
              <a:tailEnd type="none" len="sm" w="sm"/>
            </a:ln>
          </p:spPr>
        </p:sp>
      </p:grpSp>
      <p:sp>
        <p:nvSpPr>
          <p:cNvPr name="AutoShape 42" id="42"/>
          <p:cNvSpPr/>
          <p:nvPr/>
        </p:nvSpPr>
        <p:spPr>
          <a:xfrm flipH="true" flipV="true">
            <a:off x="4921861" y="5162550"/>
            <a:ext cx="8415760" cy="0"/>
          </a:xfrm>
          <a:prstGeom prst="line">
            <a:avLst/>
          </a:prstGeom>
          <a:ln cap="flat" w="38100">
            <a:solidFill>
              <a:srgbClr val="FFFFFF"/>
            </a:solidFill>
            <a:prstDash val="solid"/>
            <a:headEnd type="none" len="sm" w="sm"/>
            <a:tailEnd type="none" len="sm" w="sm"/>
          </a:ln>
        </p:spPr>
      </p:sp>
      <p:sp>
        <p:nvSpPr>
          <p:cNvPr name="AutoShape 43" id="43"/>
          <p:cNvSpPr/>
          <p:nvPr/>
        </p:nvSpPr>
        <p:spPr>
          <a:xfrm flipH="true">
            <a:off x="9144000" y="4570994"/>
            <a:ext cx="0" cy="1287663"/>
          </a:xfrm>
          <a:prstGeom prst="line">
            <a:avLst/>
          </a:prstGeom>
          <a:ln cap="flat" w="38100">
            <a:solidFill>
              <a:srgbClr val="FFFFFF"/>
            </a:solidFill>
            <a:prstDash val="solid"/>
            <a:headEnd type="none" len="sm" w="sm"/>
            <a:tailEnd type="arrow" len="sm" w="med"/>
          </a:ln>
        </p:spPr>
      </p:sp>
      <p:sp>
        <p:nvSpPr>
          <p:cNvPr name="AutoShape 44" id="44"/>
          <p:cNvSpPr/>
          <p:nvPr/>
        </p:nvSpPr>
        <p:spPr>
          <a:xfrm flipH="true">
            <a:off x="9144000" y="4570994"/>
            <a:ext cx="4127289" cy="0"/>
          </a:xfrm>
          <a:prstGeom prst="line">
            <a:avLst/>
          </a:prstGeom>
          <a:ln cap="flat" w="38100">
            <a:solidFill>
              <a:srgbClr val="FFFFFF"/>
            </a:solidFill>
            <a:prstDash val="solid"/>
            <a:headEnd type="none" len="sm" w="sm"/>
            <a:tailEnd type="none" len="sm" w="sm"/>
          </a:ln>
        </p:spPr>
      </p:sp>
      <p:sp>
        <p:nvSpPr>
          <p:cNvPr name="AutoShape 45" id="45"/>
          <p:cNvSpPr/>
          <p:nvPr/>
        </p:nvSpPr>
        <p:spPr>
          <a:xfrm>
            <a:off x="13271289" y="4130586"/>
            <a:ext cx="0" cy="1031964"/>
          </a:xfrm>
          <a:prstGeom prst="line">
            <a:avLst/>
          </a:prstGeom>
          <a:ln cap="flat" w="38100">
            <a:solidFill>
              <a:srgbClr val="FFFFFF"/>
            </a:solidFill>
            <a:prstDash val="solid"/>
            <a:headEnd type="arrow" len="sm" w="med"/>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Freeform 2" id="2"/>
          <p:cNvSpPr/>
          <p:nvPr/>
        </p:nvSpPr>
        <p:spPr>
          <a:xfrm flipH="false" flipV="false" rot="0">
            <a:off x="17125876" y="95631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2"/>
            <a:stretch>
              <a:fillRect l="0" t="0" r="0" b="0"/>
            </a:stretch>
          </a:blipFill>
        </p:spPr>
      </p:sp>
      <p:sp>
        <p:nvSpPr>
          <p:cNvPr name="Freeform 3" id="3"/>
          <p:cNvSpPr/>
          <p:nvPr/>
        </p:nvSpPr>
        <p:spPr>
          <a:xfrm flipH="false" flipV="false" rot="0">
            <a:off x="17358260" y="96812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52400" y="9348788"/>
            <a:ext cx="18288000" cy="0"/>
          </a:xfrm>
          <a:prstGeom prst="line">
            <a:avLst/>
          </a:prstGeom>
          <a:ln cap="flat" w="9525">
            <a:solidFill>
              <a:srgbClr val="FFFFFF">
                <a:alpha val="33725"/>
              </a:srgbClr>
            </a:solidFill>
            <a:prstDash val="solid"/>
            <a:headEnd type="none" len="sm" w="sm"/>
            <a:tailEnd type="none" len="sm" w="sm"/>
          </a:ln>
        </p:spPr>
      </p:sp>
      <p:sp>
        <p:nvSpPr>
          <p:cNvPr name="Freeform 5" id="5"/>
          <p:cNvSpPr/>
          <p:nvPr/>
        </p:nvSpPr>
        <p:spPr>
          <a:xfrm flipH="false" flipV="false" rot="0">
            <a:off x="11913179" y="7092088"/>
            <a:ext cx="4337315" cy="856620"/>
          </a:xfrm>
          <a:custGeom>
            <a:avLst/>
            <a:gdLst/>
            <a:ahLst/>
            <a:cxnLst/>
            <a:rect r="r" b="b" t="t" l="l"/>
            <a:pathLst>
              <a:path h="856620" w="4337315">
                <a:moveTo>
                  <a:pt x="0" y="0"/>
                </a:moveTo>
                <a:lnTo>
                  <a:pt x="4337314" y="0"/>
                </a:lnTo>
                <a:lnTo>
                  <a:pt x="4337314" y="856619"/>
                </a:lnTo>
                <a:lnTo>
                  <a:pt x="0" y="856619"/>
                </a:lnTo>
                <a:lnTo>
                  <a:pt x="0" y="0"/>
                </a:lnTo>
                <a:close/>
              </a:path>
            </a:pathLst>
          </a:custGeom>
          <a:blipFill>
            <a:blip r:embed="rId5"/>
            <a:stretch>
              <a:fillRect l="0" t="0" r="0" b="0"/>
            </a:stretch>
          </a:blipFill>
        </p:spPr>
      </p:sp>
      <p:pic>
        <p:nvPicPr>
          <p:cNvPr name="Picture 6" id="6"/>
          <p:cNvPicPr>
            <a:picLocks noChangeAspect="true"/>
          </p:cNvPicPr>
          <p:nvPr/>
        </p:nvPicPr>
        <p:blipFill>
          <a:blip r:embed="rId6"/>
          <a:stretch>
            <a:fillRect/>
          </a:stretch>
        </p:blipFill>
        <p:spPr>
          <a:xfrm rot="0">
            <a:off x="11468835" y="2632612"/>
            <a:ext cx="5242363" cy="5332129"/>
          </a:xfrm>
          <a:prstGeom prst="rect">
            <a:avLst/>
          </a:prstGeom>
        </p:spPr>
      </p:pic>
      <p:sp>
        <p:nvSpPr>
          <p:cNvPr name="TextBox 7" id="7"/>
          <p:cNvSpPr txBox="true"/>
          <p:nvPr/>
        </p:nvSpPr>
        <p:spPr>
          <a:xfrm rot="0">
            <a:off x="1251672" y="3833507"/>
            <a:ext cx="7522322" cy="2829537"/>
          </a:xfrm>
          <a:prstGeom prst="rect">
            <a:avLst/>
          </a:prstGeom>
        </p:spPr>
        <p:txBody>
          <a:bodyPr anchor="t" rtlCol="false" tIns="0" lIns="0" bIns="0" rIns="0">
            <a:spAutoFit/>
          </a:bodyPr>
          <a:lstStyle/>
          <a:p>
            <a:pPr algn="l">
              <a:lnSpc>
                <a:spcPts val="10899"/>
              </a:lnSpc>
            </a:pPr>
            <a:r>
              <a:rPr lang="en-US" b="true" sz="10899">
                <a:solidFill>
                  <a:srgbClr val="FFFFFF"/>
                </a:solidFill>
                <a:latin typeface="Nourd Bold"/>
                <a:ea typeface="Nourd Bold"/>
                <a:cs typeface="Nourd Bold"/>
                <a:sym typeface="Nourd Bold"/>
              </a:rPr>
              <a:t>TABELAS TÉCNICAS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Freeform 2" id="2"/>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2"/>
            <a:stretch>
              <a:fillRect l="0" t="0" r="0" b="0"/>
            </a:stretch>
          </a:blipFill>
        </p:spPr>
      </p:sp>
      <p:sp>
        <p:nvSpPr>
          <p:cNvPr name="Freeform 3" id="3"/>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rot="0">
            <a:off x="0" y="9191625"/>
            <a:ext cx="18288000" cy="0"/>
          </a:xfrm>
          <a:prstGeom prst="line">
            <a:avLst/>
          </a:prstGeom>
          <a:ln cap="flat" w="9525">
            <a:solidFill>
              <a:srgbClr val="FFFFFF">
                <a:alpha val="33725"/>
              </a:srgbClr>
            </a:solidFill>
            <a:prstDash val="solid"/>
            <a:headEnd type="none" len="sm" w="sm"/>
            <a:tailEnd type="none" len="sm" w="sm"/>
          </a:ln>
        </p:spPr>
      </p:sp>
      <p:grpSp>
        <p:nvGrpSpPr>
          <p:cNvPr name="Group 5" id="5"/>
          <p:cNvGrpSpPr/>
          <p:nvPr/>
        </p:nvGrpSpPr>
        <p:grpSpPr>
          <a:xfrm rot="0">
            <a:off x="454874" y="3753679"/>
            <a:ext cx="17378252" cy="1778909"/>
            <a:chOff x="0" y="0"/>
            <a:chExt cx="23171003" cy="2371878"/>
          </a:xfrm>
        </p:grpSpPr>
        <p:grpSp>
          <p:nvGrpSpPr>
            <p:cNvPr name="Group 6" id="6"/>
            <p:cNvGrpSpPr>
              <a:grpSpLocks noChangeAspect="true"/>
            </p:cNvGrpSpPr>
            <p:nvPr/>
          </p:nvGrpSpPr>
          <p:grpSpPr>
            <a:xfrm rot="0">
              <a:off x="0" y="0"/>
              <a:ext cx="23171003" cy="2371878"/>
              <a:chOff x="0" y="0"/>
              <a:chExt cx="9558960" cy="978497"/>
            </a:xfrm>
          </p:grpSpPr>
          <p:sp>
            <p:nvSpPr>
              <p:cNvPr name="Freeform 7" id="7"/>
              <p:cNvSpPr/>
              <p:nvPr/>
            </p:nvSpPr>
            <p:spPr>
              <a:xfrm flipH="false" flipV="false" rot="0">
                <a:off x="63500" y="63500"/>
                <a:ext cx="9431909" cy="290068"/>
              </a:xfrm>
              <a:custGeom>
                <a:avLst/>
                <a:gdLst/>
                <a:ahLst/>
                <a:cxnLst/>
                <a:rect r="r" b="b" t="t" l="l"/>
                <a:pathLst>
                  <a:path h="290068" w="9431909">
                    <a:moveTo>
                      <a:pt x="0" y="0"/>
                    </a:moveTo>
                    <a:lnTo>
                      <a:pt x="9431909" y="0"/>
                    </a:lnTo>
                    <a:lnTo>
                      <a:pt x="9431909" y="290068"/>
                    </a:lnTo>
                    <a:lnTo>
                      <a:pt x="0" y="290068"/>
                    </a:lnTo>
                    <a:lnTo>
                      <a:pt x="0" y="0"/>
                    </a:lnTo>
                    <a:close/>
                  </a:path>
                </a:pathLst>
              </a:custGeom>
              <a:solidFill>
                <a:srgbClr val="6D85FF"/>
              </a:solidFill>
            </p:spPr>
          </p:sp>
          <p:sp>
            <p:nvSpPr>
              <p:cNvPr name="Freeform 8" id="8"/>
              <p:cNvSpPr/>
              <p:nvPr/>
            </p:nvSpPr>
            <p:spPr>
              <a:xfrm flipH="false" flipV="false" rot="0">
                <a:off x="63500" y="344170"/>
                <a:ext cx="9431909" cy="290068"/>
              </a:xfrm>
              <a:custGeom>
                <a:avLst/>
                <a:gdLst/>
                <a:ahLst/>
                <a:cxnLst/>
                <a:rect r="r" b="b" t="t" l="l"/>
                <a:pathLst>
                  <a:path h="290068" w="9431909">
                    <a:moveTo>
                      <a:pt x="0" y="0"/>
                    </a:moveTo>
                    <a:lnTo>
                      <a:pt x="9431909" y="0"/>
                    </a:lnTo>
                    <a:lnTo>
                      <a:pt x="9431909" y="290068"/>
                    </a:lnTo>
                    <a:lnTo>
                      <a:pt x="0" y="290068"/>
                    </a:lnTo>
                    <a:lnTo>
                      <a:pt x="0" y="0"/>
                    </a:lnTo>
                    <a:close/>
                  </a:path>
                </a:pathLst>
              </a:custGeom>
              <a:solidFill>
                <a:srgbClr val="FFFFFF"/>
              </a:solidFill>
            </p:spPr>
          </p:sp>
          <p:sp>
            <p:nvSpPr>
              <p:cNvPr name="Freeform 9" id="9"/>
              <p:cNvSpPr/>
              <p:nvPr/>
            </p:nvSpPr>
            <p:spPr>
              <a:xfrm flipH="false" flipV="false" rot="0">
                <a:off x="63500" y="624967"/>
                <a:ext cx="9431909" cy="290068"/>
              </a:xfrm>
              <a:custGeom>
                <a:avLst/>
                <a:gdLst/>
                <a:ahLst/>
                <a:cxnLst/>
                <a:rect r="r" b="b" t="t" l="l"/>
                <a:pathLst>
                  <a:path h="290068" w="9431909">
                    <a:moveTo>
                      <a:pt x="0" y="0"/>
                    </a:moveTo>
                    <a:lnTo>
                      <a:pt x="9431909" y="0"/>
                    </a:lnTo>
                    <a:lnTo>
                      <a:pt x="9431909" y="290068"/>
                    </a:lnTo>
                    <a:lnTo>
                      <a:pt x="0" y="290068"/>
                    </a:lnTo>
                    <a:lnTo>
                      <a:pt x="0" y="0"/>
                    </a:lnTo>
                    <a:close/>
                  </a:path>
                </a:pathLst>
              </a:custGeom>
              <a:solidFill>
                <a:srgbClr val="F6F8F9"/>
              </a:solidFill>
            </p:spPr>
          </p:sp>
          <p:sp>
            <p:nvSpPr>
              <p:cNvPr name="Freeform 10" id="10"/>
              <p:cNvSpPr/>
              <p:nvPr/>
            </p:nvSpPr>
            <p:spPr>
              <a:xfrm flipH="false" flipV="false" rot="0">
                <a:off x="63500" y="63500"/>
                <a:ext cx="9431909" cy="851535"/>
              </a:xfrm>
              <a:custGeom>
                <a:avLst/>
                <a:gdLst/>
                <a:ahLst/>
                <a:cxnLst/>
                <a:rect r="r" b="b" t="t" l="l"/>
                <a:pathLst>
                  <a:path h="851535" w="9431909">
                    <a:moveTo>
                      <a:pt x="9398" y="0"/>
                    </a:moveTo>
                    <a:lnTo>
                      <a:pt x="9398" y="851535"/>
                    </a:lnTo>
                    <a:lnTo>
                      <a:pt x="0" y="851535"/>
                    </a:lnTo>
                    <a:lnTo>
                      <a:pt x="0" y="0"/>
                    </a:lnTo>
                    <a:close/>
                    <a:moveTo>
                      <a:pt x="0" y="0"/>
                    </a:moveTo>
                    <a:lnTo>
                      <a:pt x="9431909" y="0"/>
                    </a:lnTo>
                    <a:lnTo>
                      <a:pt x="9431909" y="9398"/>
                    </a:lnTo>
                    <a:lnTo>
                      <a:pt x="0" y="9398"/>
                    </a:lnTo>
                    <a:close/>
                    <a:moveTo>
                      <a:pt x="0" y="280670"/>
                    </a:moveTo>
                    <a:lnTo>
                      <a:pt x="9431909" y="280670"/>
                    </a:lnTo>
                    <a:lnTo>
                      <a:pt x="9431909" y="290068"/>
                    </a:lnTo>
                    <a:lnTo>
                      <a:pt x="0" y="290068"/>
                    </a:lnTo>
                    <a:close/>
                    <a:moveTo>
                      <a:pt x="0" y="842137"/>
                    </a:moveTo>
                    <a:lnTo>
                      <a:pt x="9431909" y="842137"/>
                    </a:lnTo>
                    <a:lnTo>
                      <a:pt x="9431909" y="851535"/>
                    </a:lnTo>
                    <a:lnTo>
                      <a:pt x="0" y="851535"/>
                    </a:lnTo>
                    <a:close/>
                    <a:moveTo>
                      <a:pt x="9431909" y="0"/>
                    </a:moveTo>
                    <a:lnTo>
                      <a:pt x="9431909" y="851535"/>
                    </a:lnTo>
                    <a:lnTo>
                      <a:pt x="9422511" y="851535"/>
                    </a:lnTo>
                    <a:lnTo>
                      <a:pt x="9422511" y="0"/>
                    </a:lnTo>
                    <a:close/>
                  </a:path>
                </a:pathLst>
              </a:custGeom>
              <a:solidFill>
                <a:srgbClr val="3858FF"/>
              </a:solidFill>
            </p:spPr>
          </p:sp>
          <p:sp>
            <p:nvSpPr>
              <p:cNvPr name="Freeform 11" id="11"/>
              <p:cNvSpPr/>
              <p:nvPr/>
            </p:nvSpPr>
            <p:spPr>
              <a:xfrm flipH="false" flipV="false" rot="0">
                <a:off x="1420241" y="72898"/>
                <a:ext cx="4079621" cy="271272"/>
              </a:xfrm>
              <a:custGeom>
                <a:avLst/>
                <a:gdLst/>
                <a:ahLst/>
                <a:cxnLst/>
                <a:rect r="r" b="b" t="t" l="l"/>
                <a:pathLst>
                  <a:path h="271272" w="4079621">
                    <a:moveTo>
                      <a:pt x="9398" y="0"/>
                    </a:moveTo>
                    <a:lnTo>
                      <a:pt x="9398" y="271272"/>
                    </a:lnTo>
                    <a:lnTo>
                      <a:pt x="0" y="271272"/>
                    </a:lnTo>
                    <a:lnTo>
                      <a:pt x="0" y="0"/>
                    </a:lnTo>
                    <a:close/>
                    <a:moveTo>
                      <a:pt x="1366139" y="0"/>
                    </a:moveTo>
                    <a:lnTo>
                      <a:pt x="1366139" y="271272"/>
                    </a:lnTo>
                    <a:lnTo>
                      <a:pt x="1356741" y="271272"/>
                    </a:lnTo>
                    <a:lnTo>
                      <a:pt x="1356741" y="0"/>
                    </a:lnTo>
                    <a:close/>
                    <a:moveTo>
                      <a:pt x="2722880" y="0"/>
                    </a:moveTo>
                    <a:lnTo>
                      <a:pt x="2722880" y="271272"/>
                    </a:lnTo>
                    <a:lnTo>
                      <a:pt x="2713482" y="271272"/>
                    </a:lnTo>
                    <a:lnTo>
                      <a:pt x="2713482" y="0"/>
                    </a:lnTo>
                    <a:close/>
                    <a:moveTo>
                      <a:pt x="4079621" y="0"/>
                    </a:moveTo>
                    <a:lnTo>
                      <a:pt x="4079621" y="271272"/>
                    </a:lnTo>
                    <a:lnTo>
                      <a:pt x="4070223" y="271272"/>
                    </a:lnTo>
                    <a:lnTo>
                      <a:pt x="4070223" y="0"/>
                    </a:lnTo>
                    <a:close/>
                  </a:path>
                </a:pathLst>
              </a:custGeom>
              <a:solidFill>
                <a:srgbClr val="3858FF"/>
              </a:solidFill>
            </p:spPr>
          </p:sp>
          <p:sp>
            <p:nvSpPr>
              <p:cNvPr name="Freeform 12" id="12"/>
              <p:cNvSpPr/>
              <p:nvPr/>
            </p:nvSpPr>
            <p:spPr>
              <a:xfrm flipH="false" flipV="false" rot="0">
                <a:off x="1420241" y="353568"/>
                <a:ext cx="4079621" cy="271399"/>
              </a:xfrm>
              <a:custGeom>
                <a:avLst/>
                <a:gdLst/>
                <a:ahLst/>
                <a:cxnLst/>
                <a:rect r="r" b="b" t="t" l="l"/>
                <a:pathLst>
                  <a:path h="271399" w="4079621">
                    <a:moveTo>
                      <a:pt x="9398" y="0"/>
                    </a:moveTo>
                    <a:lnTo>
                      <a:pt x="9398" y="271399"/>
                    </a:lnTo>
                    <a:lnTo>
                      <a:pt x="0" y="271399"/>
                    </a:lnTo>
                    <a:lnTo>
                      <a:pt x="0" y="0"/>
                    </a:lnTo>
                    <a:close/>
                    <a:moveTo>
                      <a:pt x="1366139" y="0"/>
                    </a:moveTo>
                    <a:lnTo>
                      <a:pt x="1366139" y="271399"/>
                    </a:lnTo>
                    <a:lnTo>
                      <a:pt x="1356741" y="271399"/>
                    </a:lnTo>
                    <a:lnTo>
                      <a:pt x="1356741" y="0"/>
                    </a:lnTo>
                    <a:close/>
                    <a:moveTo>
                      <a:pt x="2722880" y="0"/>
                    </a:moveTo>
                    <a:lnTo>
                      <a:pt x="2722880" y="271399"/>
                    </a:lnTo>
                    <a:lnTo>
                      <a:pt x="2713482" y="271399"/>
                    </a:lnTo>
                    <a:lnTo>
                      <a:pt x="2713482" y="0"/>
                    </a:lnTo>
                    <a:close/>
                    <a:moveTo>
                      <a:pt x="4079621" y="0"/>
                    </a:moveTo>
                    <a:lnTo>
                      <a:pt x="4079621" y="271399"/>
                    </a:lnTo>
                    <a:lnTo>
                      <a:pt x="4070223" y="271399"/>
                    </a:lnTo>
                    <a:lnTo>
                      <a:pt x="4070223" y="0"/>
                    </a:lnTo>
                    <a:close/>
                  </a:path>
                </a:pathLst>
              </a:custGeom>
              <a:solidFill>
                <a:srgbClr val="FFFFFF"/>
              </a:solidFill>
            </p:spPr>
          </p:sp>
          <p:sp>
            <p:nvSpPr>
              <p:cNvPr name="Freeform 13" id="13"/>
              <p:cNvSpPr/>
              <p:nvPr/>
            </p:nvSpPr>
            <p:spPr>
              <a:xfrm flipH="false" flipV="false" rot="0">
                <a:off x="72771" y="624967"/>
                <a:ext cx="9413241" cy="280670"/>
              </a:xfrm>
              <a:custGeom>
                <a:avLst/>
                <a:gdLst/>
                <a:ahLst/>
                <a:cxnLst/>
                <a:rect r="r" b="b" t="t" l="l"/>
                <a:pathLst>
                  <a:path h="280670" w="9413241">
                    <a:moveTo>
                      <a:pt x="1356868" y="0"/>
                    </a:moveTo>
                    <a:lnTo>
                      <a:pt x="1356868" y="280670"/>
                    </a:lnTo>
                    <a:lnTo>
                      <a:pt x="1347470" y="280670"/>
                    </a:lnTo>
                    <a:lnTo>
                      <a:pt x="1347470" y="0"/>
                    </a:lnTo>
                    <a:close/>
                    <a:moveTo>
                      <a:pt x="2713609" y="0"/>
                    </a:moveTo>
                    <a:lnTo>
                      <a:pt x="2713609" y="280670"/>
                    </a:lnTo>
                    <a:lnTo>
                      <a:pt x="2704211" y="280670"/>
                    </a:lnTo>
                    <a:lnTo>
                      <a:pt x="2704211" y="0"/>
                    </a:lnTo>
                    <a:close/>
                    <a:moveTo>
                      <a:pt x="4070350" y="0"/>
                    </a:moveTo>
                    <a:lnTo>
                      <a:pt x="4070350" y="280670"/>
                    </a:lnTo>
                    <a:lnTo>
                      <a:pt x="4060952" y="280670"/>
                    </a:lnTo>
                    <a:lnTo>
                      <a:pt x="4060952" y="0"/>
                    </a:lnTo>
                    <a:close/>
                    <a:moveTo>
                      <a:pt x="5427091" y="0"/>
                    </a:moveTo>
                    <a:lnTo>
                      <a:pt x="5427091" y="280670"/>
                    </a:lnTo>
                    <a:lnTo>
                      <a:pt x="5417693" y="280670"/>
                    </a:lnTo>
                    <a:lnTo>
                      <a:pt x="5417693" y="0"/>
                    </a:lnTo>
                    <a:close/>
                    <a:moveTo>
                      <a:pt x="0" y="0"/>
                    </a:moveTo>
                    <a:lnTo>
                      <a:pt x="9413241" y="0"/>
                    </a:lnTo>
                    <a:lnTo>
                      <a:pt x="9413241" y="9398"/>
                    </a:lnTo>
                    <a:lnTo>
                      <a:pt x="127" y="9398"/>
                    </a:lnTo>
                    <a:close/>
                  </a:path>
                </a:pathLst>
              </a:custGeom>
              <a:solidFill>
                <a:srgbClr val="F6F8F9"/>
              </a:solidFill>
            </p:spPr>
          </p:sp>
          <p:sp>
            <p:nvSpPr>
              <p:cNvPr name="Freeform 14" id="14"/>
              <p:cNvSpPr/>
              <p:nvPr/>
            </p:nvSpPr>
            <p:spPr>
              <a:xfrm flipH="false" flipV="false" rot="0">
                <a:off x="72898" y="63500"/>
                <a:ext cx="9398" cy="290068"/>
              </a:xfrm>
              <a:custGeom>
                <a:avLst/>
                <a:gdLst/>
                <a:ahLst/>
                <a:cxnLst/>
                <a:rect r="r" b="b" t="t" l="l"/>
                <a:pathLst>
                  <a:path h="290068" w="9398">
                    <a:moveTo>
                      <a:pt x="0" y="0"/>
                    </a:moveTo>
                    <a:lnTo>
                      <a:pt x="0" y="290068"/>
                    </a:lnTo>
                    <a:lnTo>
                      <a:pt x="9398" y="290068"/>
                    </a:lnTo>
                    <a:lnTo>
                      <a:pt x="9398" y="0"/>
                    </a:lnTo>
                    <a:close/>
                  </a:path>
                </a:pathLst>
              </a:custGeom>
              <a:solidFill>
                <a:srgbClr val="284E3F"/>
              </a:solidFill>
            </p:spPr>
          </p:sp>
          <p:sp>
            <p:nvSpPr>
              <p:cNvPr name="Freeform 15" id="15"/>
              <p:cNvSpPr/>
              <p:nvPr/>
            </p:nvSpPr>
            <p:spPr>
              <a:xfrm flipH="false" flipV="false" rot="0">
                <a:off x="72898" y="72898"/>
                <a:ext cx="1347470" cy="9398"/>
              </a:xfrm>
              <a:custGeom>
                <a:avLst/>
                <a:gdLst/>
                <a:ahLst/>
                <a:cxnLst/>
                <a:rect r="r" b="b" t="t" l="l"/>
                <a:pathLst>
                  <a:path h="9398" w="1347470">
                    <a:moveTo>
                      <a:pt x="0" y="0"/>
                    </a:moveTo>
                    <a:lnTo>
                      <a:pt x="1347470" y="0"/>
                    </a:lnTo>
                    <a:lnTo>
                      <a:pt x="1347470" y="9398"/>
                    </a:lnTo>
                    <a:lnTo>
                      <a:pt x="0" y="9398"/>
                    </a:lnTo>
                    <a:close/>
                  </a:path>
                </a:pathLst>
              </a:custGeom>
              <a:solidFill>
                <a:srgbClr val="284E3F"/>
              </a:solidFill>
            </p:spPr>
          </p:sp>
          <p:sp>
            <p:nvSpPr>
              <p:cNvPr name="Freeform 16" id="16"/>
              <p:cNvSpPr/>
              <p:nvPr/>
            </p:nvSpPr>
            <p:spPr>
              <a:xfrm flipH="false" flipV="false" rot="0">
                <a:off x="1429639" y="72898"/>
                <a:ext cx="1347470" cy="9398"/>
              </a:xfrm>
              <a:custGeom>
                <a:avLst/>
                <a:gdLst/>
                <a:ahLst/>
                <a:cxnLst/>
                <a:rect r="r" b="b" t="t" l="l"/>
                <a:pathLst>
                  <a:path h="9398" w="1347470">
                    <a:moveTo>
                      <a:pt x="0" y="0"/>
                    </a:moveTo>
                    <a:lnTo>
                      <a:pt x="1347470" y="0"/>
                    </a:lnTo>
                    <a:lnTo>
                      <a:pt x="1347470" y="9398"/>
                    </a:lnTo>
                    <a:lnTo>
                      <a:pt x="0" y="9398"/>
                    </a:lnTo>
                    <a:close/>
                  </a:path>
                </a:pathLst>
              </a:custGeom>
              <a:solidFill>
                <a:srgbClr val="284E3F"/>
              </a:solidFill>
            </p:spPr>
          </p:sp>
          <p:sp>
            <p:nvSpPr>
              <p:cNvPr name="Freeform 17" id="17"/>
              <p:cNvSpPr/>
              <p:nvPr/>
            </p:nvSpPr>
            <p:spPr>
              <a:xfrm flipH="false" flipV="false" rot="0">
                <a:off x="2786380" y="72898"/>
                <a:ext cx="1347470" cy="9398"/>
              </a:xfrm>
              <a:custGeom>
                <a:avLst/>
                <a:gdLst/>
                <a:ahLst/>
                <a:cxnLst/>
                <a:rect r="r" b="b" t="t" l="l"/>
                <a:pathLst>
                  <a:path h="9398" w="1347470">
                    <a:moveTo>
                      <a:pt x="0" y="0"/>
                    </a:moveTo>
                    <a:lnTo>
                      <a:pt x="1347470" y="0"/>
                    </a:lnTo>
                    <a:lnTo>
                      <a:pt x="1347470" y="9398"/>
                    </a:lnTo>
                    <a:lnTo>
                      <a:pt x="0" y="9398"/>
                    </a:lnTo>
                    <a:close/>
                  </a:path>
                </a:pathLst>
              </a:custGeom>
              <a:solidFill>
                <a:srgbClr val="284E3F"/>
              </a:solidFill>
            </p:spPr>
          </p:sp>
          <p:sp>
            <p:nvSpPr>
              <p:cNvPr name="Freeform 18" id="18"/>
              <p:cNvSpPr/>
              <p:nvPr/>
            </p:nvSpPr>
            <p:spPr>
              <a:xfrm flipH="false" flipV="false" rot="0">
                <a:off x="4143248" y="72898"/>
                <a:ext cx="1347470" cy="9398"/>
              </a:xfrm>
              <a:custGeom>
                <a:avLst/>
                <a:gdLst/>
                <a:ahLst/>
                <a:cxnLst/>
                <a:rect r="r" b="b" t="t" l="l"/>
                <a:pathLst>
                  <a:path h="9398" w="1347470">
                    <a:moveTo>
                      <a:pt x="0" y="0"/>
                    </a:moveTo>
                    <a:lnTo>
                      <a:pt x="1347470" y="0"/>
                    </a:lnTo>
                    <a:lnTo>
                      <a:pt x="1347470" y="9398"/>
                    </a:lnTo>
                    <a:lnTo>
                      <a:pt x="0" y="9398"/>
                    </a:lnTo>
                    <a:close/>
                  </a:path>
                </a:pathLst>
              </a:custGeom>
              <a:solidFill>
                <a:srgbClr val="284E3F"/>
              </a:solidFill>
            </p:spPr>
          </p:sp>
          <p:sp>
            <p:nvSpPr>
              <p:cNvPr name="Freeform 19" id="19"/>
              <p:cNvSpPr/>
              <p:nvPr/>
            </p:nvSpPr>
            <p:spPr>
              <a:xfrm flipH="false" flipV="false" rot="0">
                <a:off x="5499989" y="72898"/>
                <a:ext cx="3986149" cy="9398"/>
              </a:xfrm>
              <a:custGeom>
                <a:avLst/>
                <a:gdLst/>
                <a:ahLst/>
                <a:cxnLst/>
                <a:rect r="r" b="b" t="t" l="l"/>
                <a:pathLst>
                  <a:path h="9398" w="3986149">
                    <a:moveTo>
                      <a:pt x="0" y="0"/>
                    </a:moveTo>
                    <a:lnTo>
                      <a:pt x="3986149" y="0"/>
                    </a:lnTo>
                    <a:lnTo>
                      <a:pt x="3986149" y="9398"/>
                    </a:lnTo>
                    <a:lnTo>
                      <a:pt x="0" y="9398"/>
                    </a:lnTo>
                    <a:close/>
                  </a:path>
                </a:pathLst>
              </a:custGeom>
              <a:solidFill>
                <a:srgbClr val="284E3F"/>
              </a:solidFill>
            </p:spPr>
          </p:sp>
          <p:sp>
            <p:nvSpPr>
              <p:cNvPr name="Freeform 20" id="20"/>
              <p:cNvSpPr/>
              <p:nvPr/>
            </p:nvSpPr>
            <p:spPr>
              <a:xfrm flipH="false" flipV="false" rot="0">
                <a:off x="72898" y="344170"/>
                <a:ext cx="9398" cy="290068"/>
              </a:xfrm>
              <a:custGeom>
                <a:avLst/>
                <a:gdLst/>
                <a:ahLst/>
                <a:cxnLst/>
                <a:rect r="r" b="b" t="t" l="l"/>
                <a:pathLst>
                  <a:path h="290068" w="9398">
                    <a:moveTo>
                      <a:pt x="0" y="0"/>
                    </a:moveTo>
                    <a:lnTo>
                      <a:pt x="0" y="290068"/>
                    </a:lnTo>
                    <a:lnTo>
                      <a:pt x="9398" y="290068"/>
                    </a:lnTo>
                    <a:lnTo>
                      <a:pt x="9398" y="0"/>
                    </a:lnTo>
                    <a:close/>
                  </a:path>
                </a:pathLst>
              </a:custGeom>
              <a:solidFill>
                <a:srgbClr val="284E3F"/>
              </a:solidFill>
            </p:spPr>
          </p:sp>
          <p:sp>
            <p:nvSpPr>
              <p:cNvPr name="Freeform 21" id="21"/>
              <p:cNvSpPr/>
              <p:nvPr/>
            </p:nvSpPr>
            <p:spPr>
              <a:xfrm flipH="false" flipV="false" rot="0">
                <a:off x="72898" y="624967"/>
                <a:ext cx="9398" cy="280670"/>
              </a:xfrm>
              <a:custGeom>
                <a:avLst/>
                <a:gdLst/>
                <a:ahLst/>
                <a:cxnLst/>
                <a:rect r="r" b="b" t="t" l="l"/>
                <a:pathLst>
                  <a:path h="280670" w="9398">
                    <a:moveTo>
                      <a:pt x="0" y="0"/>
                    </a:moveTo>
                    <a:lnTo>
                      <a:pt x="0" y="280670"/>
                    </a:lnTo>
                    <a:lnTo>
                      <a:pt x="9398" y="280670"/>
                    </a:lnTo>
                    <a:lnTo>
                      <a:pt x="9398" y="0"/>
                    </a:lnTo>
                    <a:close/>
                  </a:path>
                </a:pathLst>
              </a:custGeom>
              <a:solidFill>
                <a:srgbClr val="284E3F"/>
              </a:solidFill>
            </p:spPr>
          </p:sp>
        </p:grpSp>
        <p:sp>
          <p:nvSpPr>
            <p:cNvPr name="TextBox 22" id="22"/>
            <p:cNvSpPr txBox="true"/>
            <p:nvPr/>
          </p:nvSpPr>
          <p:spPr>
            <a:xfrm rot="0">
              <a:off x="358059" y="126716"/>
              <a:ext cx="2285480" cy="1903173"/>
            </a:xfrm>
            <a:prstGeom prst="rect">
              <a:avLst/>
            </a:prstGeom>
          </p:spPr>
          <p:txBody>
            <a:bodyPr anchor="t" rtlCol="false" tIns="0" lIns="0" bIns="0" rIns="0">
              <a:spAutoFit/>
            </a:bodyPr>
            <a:lstStyle/>
            <a:p>
              <a:pPr algn="l">
                <a:lnSpc>
                  <a:spcPts val="4018"/>
                </a:lnSpc>
              </a:pPr>
              <a:r>
                <a:rPr lang="en-US" sz="1741">
                  <a:solidFill>
                    <a:srgbClr val="FFFFFF"/>
                  </a:solidFill>
                  <a:latin typeface="Roboto"/>
                  <a:ea typeface="Roboto"/>
                  <a:cs typeface="Roboto"/>
                  <a:sym typeface="Roboto"/>
                </a:rPr>
                <a:t>Atributo (Coluna) </a:t>
              </a:r>
              <a:r>
                <a:rPr lang="en-US" sz="1741">
                  <a:solidFill>
                    <a:srgbClr val="434343"/>
                  </a:solidFill>
                  <a:latin typeface="Roboto"/>
                  <a:ea typeface="Roboto"/>
                  <a:cs typeface="Roboto"/>
                  <a:sym typeface="Roboto"/>
                </a:rPr>
                <a:t>id nome</a:t>
              </a:r>
            </a:p>
          </p:txBody>
        </p:sp>
        <p:sp>
          <p:nvSpPr>
            <p:cNvPr name="TextBox 23" id="23"/>
            <p:cNvSpPr txBox="true"/>
            <p:nvPr/>
          </p:nvSpPr>
          <p:spPr>
            <a:xfrm rot="0">
              <a:off x="3646905" y="126716"/>
              <a:ext cx="2285480" cy="1903173"/>
            </a:xfrm>
            <a:prstGeom prst="rect">
              <a:avLst/>
            </a:prstGeom>
          </p:spPr>
          <p:txBody>
            <a:bodyPr anchor="t" rtlCol="false" tIns="0" lIns="0" bIns="0" rIns="0">
              <a:spAutoFit/>
            </a:bodyPr>
            <a:lstStyle/>
            <a:p>
              <a:pPr algn="l">
                <a:lnSpc>
                  <a:spcPts val="4018"/>
                </a:lnSpc>
              </a:pPr>
              <a:r>
                <a:rPr lang="en-US" sz="1741">
                  <a:solidFill>
                    <a:srgbClr val="FFFFFF"/>
                  </a:solidFill>
                  <a:latin typeface="Roboto"/>
                  <a:ea typeface="Roboto"/>
                  <a:cs typeface="Roboto"/>
                  <a:sym typeface="Roboto"/>
                </a:rPr>
                <a:t>Atributo (Coluna) </a:t>
              </a:r>
              <a:r>
                <a:rPr lang="en-US" sz="1741">
                  <a:solidFill>
                    <a:srgbClr val="434343"/>
                  </a:solidFill>
                  <a:latin typeface="Roboto"/>
                  <a:ea typeface="Roboto"/>
                  <a:cs typeface="Roboto"/>
                  <a:sym typeface="Roboto"/>
                </a:rPr>
                <a:t>bigint varchar(255)</a:t>
              </a:r>
            </a:p>
          </p:txBody>
        </p:sp>
        <p:sp>
          <p:nvSpPr>
            <p:cNvPr name="TextBox 24" id="24"/>
            <p:cNvSpPr txBox="true"/>
            <p:nvPr/>
          </p:nvSpPr>
          <p:spPr>
            <a:xfrm rot="0">
              <a:off x="6935751" y="126716"/>
              <a:ext cx="2285480" cy="1903173"/>
            </a:xfrm>
            <a:prstGeom prst="rect">
              <a:avLst/>
            </a:prstGeom>
          </p:spPr>
          <p:txBody>
            <a:bodyPr anchor="t" rtlCol="false" tIns="0" lIns="0" bIns="0" rIns="0">
              <a:spAutoFit/>
            </a:bodyPr>
            <a:lstStyle/>
            <a:p>
              <a:pPr algn="just">
                <a:lnSpc>
                  <a:spcPts val="4018"/>
                </a:lnSpc>
              </a:pPr>
              <a:r>
                <a:rPr lang="en-US" sz="1741">
                  <a:solidFill>
                    <a:srgbClr val="FFFFFF"/>
                  </a:solidFill>
                  <a:latin typeface="Roboto"/>
                  <a:ea typeface="Roboto"/>
                  <a:cs typeface="Roboto"/>
                  <a:sym typeface="Roboto"/>
                </a:rPr>
                <a:t>Atributo (Coluna) </a:t>
              </a:r>
              <a:r>
                <a:rPr lang="en-US" sz="1741">
                  <a:solidFill>
                    <a:srgbClr val="434343"/>
                  </a:solidFill>
                  <a:latin typeface="Roboto"/>
                  <a:ea typeface="Roboto"/>
                  <a:cs typeface="Roboto"/>
                  <a:sym typeface="Roboto"/>
                </a:rPr>
                <a:t>NÃO NÃO</a:t>
              </a:r>
            </a:p>
          </p:txBody>
        </p:sp>
        <p:sp>
          <p:nvSpPr>
            <p:cNvPr name="TextBox 25" id="25"/>
            <p:cNvSpPr txBox="true"/>
            <p:nvPr/>
          </p:nvSpPr>
          <p:spPr>
            <a:xfrm rot="0">
              <a:off x="10224596" y="126716"/>
              <a:ext cx="2550746" cy="1903173"/>
            </a:xfrm>
            <a:prstGeom prst="rect">
              <a:avLst/>
            </a:prstGeom>
          </p:spPr>
          <p:txBody>
            <a:bodyPr anchor="t" rtlCol="false" tIns="0" lIns="0" bIns="0" rIns="0">
              <a:spAutoFit/>
            </a:bodyPr>
            <a:lstStyle/>
            <a:p>
              <a:pPr algn="l">
                <a:lnSpc>
                  <a:spcPts val="4018"/>
                </a:lnSpc>
              </a:pPr>
              <a:r>
                <a:rPr lang="en-US" sz="1741">
                  <a:solidFill>
                    <a:srgbClr val="FFFFFF"/>
                  </a:solidFill>
                  <a:latin typeface="Roboto"/>
                  <a:ea typeface="Roboto"/>
                  <a:cs typeface="Roboto"/>
                  <a:sym typeface="Roboto"/>
                </a:rPr>
                <a:t>Atributo (Coluna) </a:t>
              </a:r>
              <a:r>
                <a:rPr lang="en-US" sz="1741">
                  <a:solidFill>
                    <a:srgbClr val="434343"/>
                  </a:solidFill>
                  <a:latin typeface="Roboto"/>
                  <a:ea typeface="Roboto"/>
                  <a:cs typeface="Roboto"/>
                  <a:sym typeface="Roboto"/>
                </a:rPr>
                <a:t>PRIMARY KEY (PK) UNIQUE (UK)</a:t>
              </a:r>
            </a:p>
          </p:txBody>
        </p:sp>
        <p:sp>
          <p:nvSpPr>
            <p:cNvPr name="TextBox 26" id="26"/>
            <p:cNvSpPr txBox="true"/>
            <p:nvPr/>
          </p:nvSpPr>
          <p:spPr>
            <a:xfrm rot="0">
              <a:off x="13513442" y="126716"/>
              <a:ext cx="8640227" cy="1903173"/>
            </a:xfrm>
            <a:prstGeom prst="rect">
              <a:avLst/>
            </a:prstGeom>
          </p:spPr>
          <p:txBody>
            <a:bodyPr anchor="t" rtlCol="false" tIns="0" lIns="0" bIns="0" rIns="0">
              <a:spAutoFit/>
            </a:bodyPr>
            <a:lstStyle/>
            <a:p>
              <a:pPr algn="l">
                <a:lnSpc>
                  <a:spcPts val="4018"/>
                </a:lnSpc>
              </a:pPr>
              <a:r>
                <a:rPr lang="en-US" sz="1741">
                  <a:solidFill>
                    <a:srgbClr val="FFFFFF"/>
                  </a:solidFill>
                  <a:latin typeface="Roboto"/>
                  <a:ea typeface="Roboto"/>
                  <a:cs typeface="Roboto"/>
                  <a:sym typeface="Roboto"/>
                </a:rPr>
                <a:t>Atributo (Coluna) </a:t>
              </a:r>
              <a:r>
                <a:rPr lang="en-US" sz="1741">
                  <a:solidFill>
                    <a:srgbClr val="434343"/>
                  </a:solidFill>
                  <a:latin typeface="Roboto"/>
                  <a:ea typeface="Roboto"/>
                  <a:cs typeface="Roboto"/>
                  <a:sym typeface="Roboto"/>
                </a:rPr>
                <a:t>Identificador único (Chave Primária) da especialidade. O nome da especialidade (ex: "Cardiologia"). Não pode se repetir.</a:t>
              </a:r>
            </a:p>
          </p:txBody>
        </p:sp>
      </p:grpSp>
      <p:sp>
        <p:nvSpPr>
          <p:cNvPr name="TextBox 27" id="27"/>
          <p:cNvSpPr txBox="true"/>
          <p:nvPr/>
        </p:nvSpPr>
        <p:spPr>
          <a:xfrm rot="0">
            <a:off x="7077579" y="1962254"/>
            <a:ext cx="4440481" cy="530225"/>
          </a:xfrm>
          <a:prstGeom prst="rect">
            <a:avLst/>
          </a:prstGeom>
        </p:spPr>
        <p:txBody>
          <a:bodyPr anchor="t" rtlCol="false" tIns="0" lIns="0" bIns="0" rIns="0">
            <a:spAutoFit/>
          </a:bodyPr>
          <a:lstStyle/>
          <a:p>
            <a:pPr algn="l">
              <a:lnSpc>
                <a:spcPts val="3999"/>
              </a:lnSpc>
            </a:pPr>
            <a:r>
              <a:rPr lang="en-US" b="true" sz="3999">
                <a:solidFill>
                  <a:srgbClr val="FFFFFF"/>
                </a:solidFill>
                <a:latin typeface="Nourd Bold"/>
                <a:ea typeface="Nourd Bold"/>
                <a:cs typeface="Nourd Bold"/>
                <a:sym typeface="Nourd Bold"/>
              </a:rPr>
              <a:t>ESPECIALIDADES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Freeform 2" id="2"/>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2"/>
            <a:stretch>
              <a:fillRect l="0" t="0" r="0" b="0"/>
            </a:stretch>
          </a:blipFill>
        </p:spPr>
      </p:sp>
      <p:sp>
        <p:nvSpPr>
          <p:cNvPr name="Freeform 3" id="3"/>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977334" y="1875718"/>
            <a:ext cx="8333332" cy="530225"/>
          </a:xfrm>
          <a:prstGeom prst="rect">
            <a:avLst/>
          </a:prstGeom>
        </p:spPr>
        <p:txBody>
          <a:bodyPr anchor="t" rtlCol="false" tIns="0" lIns="0" bIns="0" rIns="0">
            <a:spAutoFit/>
          </a:bodyPr>
          <a:lstStyle/>
          <a:p>
            <a:pPr algn="l">
              <a:lnSpc>
                <a:spcPts val="3999"/>
              </a:lnSpc>
            </a:pPr>
            <a:r>
              <a:rPr lang="en-US" b="true" sz="3999">
                <a:solidFill>
                  <a:srgbClr val="FFFFFF"/>
                </a:solidFill>
                <a:latin typeface="Nourd Bold"/>
                <a:ea typeface="Nourd Bold"/>
                <a:cs typeface="Nourd Bold"/>
                <a:sym typeface="Nourd Bold"/>
              </a:rPr>
              <a:t>REGISTRO DE ESPECIALIDADES</a:t>
            </a:r>
          </a:p>
        </p:txBody>
      </p:sp>
      <p:grpSp>
        <p:nvGrpSpPr>
          <p:cNvPr name="Group 5" id="5"/>
          <p:cNvGrpSpPr/>
          <p:nvPr/>
        </p:nvGrpSpPr>
        <p:grpSpPr>
          <a:xfrm rot="0">
            <a:off x="445656" y="3712576"/>
            <a:ext cx="17396688" cy="1829072"/>
            <a:chOff x="0" y="0"/>
            <a:chExt cx="23195584" cy="2438763"/>
          </a:xfrm>
        </p:grpSpPr>
        <p:grpSp>
          <p:nvGrpSpPr>
            <p:cNvPr name="Group 6" id="6"/>
            <p:cNvGrpSpPr>
              <a:grpSpLocks noChangeAspect="true"/>
            </p:cNvGrpSpPr>
            <p:nvPr/>
          </p:nvGrpSpPr>
          <p:grpSpPr>
            <a:xfrm rot="0">
              <a:off x="0" y="0"/>
              <a:ext cx="23195584" cy="2438763"/>
              <a:chOff x="0" y="0"/>
              <a:chExt cx="9451975" cy="993775"/>
            </a:xfrm>
          </p:grpSpPr>
          <p:sp>
            <p:nvSpPr>
              <p:cNvPr name="Freeform 7" id="7"/>
              <p:cNvSpPr/>
              <p:nvPr/>
            </p:nvSpPr>
            <p:spPr>
              <a:xfrm flipH="false" flipV="false" rot="0">
                <a:off x="63500" y="63500"/>
                <a:ext cx="9324975" cy="295275"/>
              </a:xfrm>
              <a:custGeom>
                <a:avLst/>
                <a:gdLst/>
                <a:ahLst/>
                <a:cxnLst/>
                <a:rect r="r" b="b" t="t" l="l"/>
                <a:pathLst>
                  <a:path h="295275" w="9324975">
                    <a:moveTo>
                      <a:pt x="0" y="0"/>
                    </a:moveTo>
                    <a:lnTo>
                      <a:pt x="9324975" y="0"/>
                    </a:lnTo>
                    <a:lnTo>
                      <a:pt x="9324975" y="295275"/>
                    </a:lnTo>
                    <a:lnTo>
                      <a:pt x="0" y="295275"/>
                    </a:lnTo>
                    <a:lnTo>
                      <a:pt x="0" y="0"/>
                    </a:lnTo>
                    <a:close/>
                  </a:path>
                </a:pathLst>
              </a:custGeom>
              <a:solidFill>
                <a:srgbClr val="6D85FF"/>
              </a:solidFill>
            </p:spPr>
          </p:sp>
          <p:sp>
            <p:nvSpPr>
              <p:cNvPr name="Freeform 8" id="8"/>
              <p:cNvSpPr/>
              <p:nvPr/>
            </p:nvSpPr>
            <p:spPr>
              <a:xfrm flipH="false" flipV="false" rot="0">
                <a:off x="63500" y="349250"/>
                <a:ext cx="9324975" cy="295275"/>
              </a:xfrm>
              <a:custGeom>
                <a:avLst/>
                <a:gdLst/>
                <a:ahLst/>
                <a:cxnLst/>
                <a:rect r="r" b="b" t="t" l="l"/>
                <a:pathLst>
                  <a:path h="295275" w="9324975">
                    <a:moveTo>
                      <a:pt x="0" y="0"/>
                    </a:moveTo>
                    <a:lnTo>
                      <a:pt x="9324975" y="0"/>
                    </a:lnTo>
                    <a:lnTo>
                      <a:pt x="9324975" y="295275"/>
                    </a:lnTo>
                    <a:lnTo>
                      <a:pt x="0" y="295275"/>
                    </a:lnTo>
                    <a:lnTo>
                      <a:pt x="0" y="0"/>
                    </a:lnTo>
                    <a:close/>
                  </a:path>
                </a:pathLst>
              </a:custGeom>
              <a:solidFill>
                <a:srgbClr val="FFFFFF"/>
              </a:solidFill>
            </p:spPr>
          </p:sp>
          <p:sp>
            <p:nvSpPr>
              <p:cNvPr name="Freeform 9" id="9"/>
              <p:cNvSpPr/>
              <p:nvPr/>
            </p:nvSpPr>
            <p:spPr>
              <a:xfrm flipH="false" flipV="false" rot="0">
                <a:off x="63500" y="635000"/>
                <a:ext cx="9324975" cy="295275"/>
              </a:xfrm>
              <a:custGeom>
                <a:avLst/>
                <a:gdLst/>
                <a:ahLst/>
                <a:cxnLst/>
                <a:rect r="r" b="b" t="t" l="l"/>
                <a:pathLst>
                  <a:path h="295275" w="9324975">
                    <a:moveTo>
                      <a:pt x="0" y="0"/>
                    </a:moveTo>
                    <a:lnTo>
                      <a:pt x="9324975" y="0"/>
                    </a:lnTo>
                    <a:lnTo>
                      <a:pt x="9324975" y="295275"/>
                    </a:lnTo>
                    <a:lnTo>
                      <a:pt x="0" y="295275"/>
                    </a:lnTo>
                    <a:lnTo>
                      <a:pt x="0" y="0"/>
                    </a:lnTo>
                    <a:close/>
                  </a:path>
                </a:pathLst>
              </a:custGeom>
              <a:solidFill>
                <a:srgbClr val="F6F8F9"/>
              </a:solidFill>
            </p:spPr>
          </p:sp>
          <p:sp>
            <p:nvSpPr>
              <p:cNvPr name="Freeform 10" id="10"/>
              <p:cNvSpPr/>
              <p:nvPr/>
            </p:nvSpPr>
            <p:spPr>
              <a:xfrm flipH="false" flipV="false" rot="0">
                <a:off x="63500" y="63500"/>
                <a:ext cx="9324975" cy="866775"/>
              </a:xfrm>
              <a:custGeom>
                <a:avLst/>
                <a:gdLst/>
                <a:ahLst/>
                <a:cxnLst/>
                <a:rect r="r" b="b" t="t" l="l"/>
                <a:pathLst>
                  <a:path h="866775" w="9324975">
                    <a:moveTo>
                      <a:pt x="9525" y="0"/>
                    </a:moveTo>
                    <a:lnTo>
                      <a:pt x="9525" y="866775"/>
                    </a:lnTo>
                    <a:lnTo>
                      <a:pt x="0" y="866775"/>
                    </a:lnTo>
                    <a:lnTo>
                      <a:pt x="0" y="0"/>
                    </a:lnTo>
                    <a:close/>
                    <a:moveTo>
                      <a:pt x="0" y="0"/>
                    </a:moveTo>
                    <a:lnTo>
                      <a:pt x="9324975" y="0"/>
                    </a:lnTo>
                    <a:lnTo>
                      <a:pt x="9324975" y="9525"/>
                    </a:lnTo>
                    <a:lnTo>
                      <a:pt x="0" y="9525"/>
                    </a:lnTo>
                    <a:close/>
                    <a:moveTo>
                      <a:pt x="0" y="285750"/>
                    </a:moveTo>
                    <a:lnTo>
                      <a:pt x="9324975" y="285750"/>
                    </a:lnTo>
                    <a:lnTo>
                      <a:pt x="9324975" y="295275"/>
                    </a:lnTo>
                    <a:lnTo>
                      <a:pt x="0" y="295275"/>
                    </a:lnTo>
                    <a:close/>
                    <a:moveTo>
                      <a:pt x="0" y="857250"/>
                    </a:moveTo>
                    <a:lnTo>
                      <a:pt x="9324975" y="857250"/>
                    </a:lnTo>
                    <a:lnTo>
                      <a:pt x="9324975" y="866775"/>
                    </a:lnTo>
                    <a:lnTo>
                      <a:pt x="0" y="866775"/>
                    </a:lnTo>
                    <a:close/>
                    <a:moveTo>
                      <a:pt x="9324975" y="0"/>
                    </a:moveTo>
                    <a:lnTo>
                      <a:pt x="9324975" y="866775"/>
                    </a:lnTo>
                    <a:lnTo>
                      <a:pt x="9315450" y="866775"/>
                    </a:lnTo>
                    <a:lnTo>
                      <a:pt x="9315450" y="0"/>
                    </a:lnTo>
                    <a:close/>
                  </a:path>
                </a:pathLst>
              </a:custGeom>
              <a:solidFill>
                <a:srgbClr val="3858FF"/>
              </a:solidFill>
            </p:spPr>
          </p:sp>
          <p:sp>
            <p:nvSpPr>
              <p:cNvPr name="Freeform 11" id="11"/>
              <p:cNvSpPr/>
              <p:nvPr/>
            </p:nvSpPr>
            <p:spPr>
              <a:xfrm flipH="false" flipV="false" rot="0">
                <a:off x="1444625" y="73025"/>
                <a:ext cx="3905250" cy="276225"/>
              </a:xfrm>
              <a:custGeom>
                <a:avLst/>
                <a:gdLst/>
                <a:ahLst/>
                <a:cxnLst/>
                <a:rect r="r" b="b" t="t" l="l"/>
                <a:pathLst>
                  <a:path h="276225" w="3905250">
                    <a:moveTo>
                      <a:pt x="9525" y="0"/>
                    </a:moveTo>
                    <a:lnTo>
                      <a:pt x="9525" y="276225"/>
                    </a:lnTo>
                    <a:lnTo>
                      <a:pt x="0" y="276225"/>
                    </a:lnTo>
                    <a:lnTo>
                      <a:pt x="0" y="0"/>
                    </a:lnTo>
                    <a:close/>
                    <a:moveTo>
                      <a:pt x="1200150" y="0"/>
                    </a:moveTo>
                    <a:lnTo>
                      <a:pt x="1200150" y="276225"/>
                    </a:lnTo>
                    <a:lnTo>
                      <a:pt x="1190625" y="276225"/>
                    </a:lnTo>
                    <a:lnTo>
                      <a:pt x="1190625" y="0"/>
                    </a:lnTo>
                    <a:close/>
                    <a:moveTo>
                      <a:pt x="2162175" y="0"/>
                    </a:moveTo>
                    <a:lnTo>
                      <a:pt x="2162175" y="276225"/>
                    </a:lnTo>
                    <a:lnTo>
                      <a:pt x="2152650" y="276225"/>
                    </a:lnTo>
                    <a:lnTo>
                      <a:pt x="2152650" y="0"/>
                    </a:lnTo>
                    <a:close/>
                    <a:moveTo>
                      <a:pt x="3905250" y="0"/>
                    </a:moveTo>
                    <a:lnTo>
                      <a:pt x="3905250" y="276225"/>
                    </a:lnTo>
                    <a:lnTo>
                      <a:pt x="3895725" y="276225"/>
                    </a:lnTo>
                    <a:lnTo>
                      <a:pt x="3895725" y="0"/>
                    </a:lnTo>
                    <a:close/>
                  </a:path>
                </a:pathLst>
              </a:custGeom>
              <a:solidFill>
                <a:srgbClr val="3858FF"/>
              </a:solidFill>
            </p:spPr>
          </p:sp>
          <p:sp>
            <p:nvSpPr>
              <p:cNvPr name="Freeform 12" id="12"/>
              <p:cNvSpPr/>
              <p:nvPr/>
            </p:nvSpPr>
            <p:spPr>
              <a:xfrm flipH="false" flipV="false" rot="0">
                <a:off x="1444625" y="358775"/>
                <a:ext cx="3905250" cy="276225"/>
              </a:xfrm>
              <a:custGeom>
                <a:avLst/>
                <a:gdLst/>
                <a:ahLst/>
                <a:cxnLst/>
                <a:rect r="r" b="b" t="t" l="l"/>
                <a:pathLst>
                  <a:path h="276225" w="3905250">
                    <a:moveTo>
                      <a:pt x="9525" y="0"/>
                    </a:moveTo>
                    <a:lnTo>
                      <a:pt x="9525" y="276225"/>
                    </a:lnTo>
                    <a:lnTo>
                      <a:pt x="0" y="276225"/>
                    </a:lnTo>
                    <a:lnTo>
                      <a:pt x="0" y="0"/>
                    </a:lnTo>
                    <a:close/>
                    <a:moveTo>
                      <a:pt x="1200150" y="0"/>
                    </a:moveTo>
                    <a:lnTo>
                      <a:pt x="1200150" y="276225"/>
                    </a:lnTo>
                    <a:lnTo>
                      <a:pt x="1190625" y="276225"/>
                    </a:lnTo>
                    <a:lnTo>
                      <a:pt x="1190625" y="0"/>
                    </a:lnTo>
                    <a:close/>
                    <a:moveTo>
                      <a:pt x="2162175" y="0"/>
                    </a:moveTo>
                    <a:lnTo>
                      <a:pt x="2162175" y="276225"/>
                    </a:lnTo>
                    <a:lnTo>
                      <a:pt x="2152650" y="276225"/>
                    </a:lnTo>
                    <a:lnTo>
                      <a:pt x="2152650" y="0"/>
                    </a:lnTo>
                    <a:close/>
                    <a:moveTo>
                      <a:pt x="3905250" y="0"/>
                    </a:moveTo>
                    <a:lnTo>
                      <a:pt x="3905250" y="276225"/>
                    </a:lnTo>
                    <a:lnTo>
                      <a:pt x="3895725" y="276225"/>
                    </a:lnTo>
                    <a:lnTo>
                      <a:pt x="3895725" y="0"/>
                    </a:lnTo>
                    <a:close/>
                  </a:path>
                </a:pathLst>
              </a:custGeom>
              <a:solidFill>
                <a:srgbClr val="FFFFFF"/>
              </a:solidFill>
            </p:spPr>
          </p:sp>
          <p:sp>
            <p:nvSpPr>
              <p:cNvPr name="Freeform 13" id="13"/>
              <p:cNvSpPr/>
              <p:nvPr/>
            </p:nvSpPr>
            <p:spPr>
              <a:xfrm flipH="false" flipV="false" rot="0">
                <a:off x="73025" y="635000"/>
                <a:ext cx="9305925" cy="285750"/>
              </a:xfrm>
              <a:custGeom>
                <a:avLst/>
                <a:gdLst/>
                <a:ahLst/>
                <a:cxnLst/>
                <a:rect r="r" b="b" t="t" l="l"/>
                <a:pathLst>
                  <a:path h="285750" w="9305925">
                    <a:moveTo>
                      <a:pt x="1381125" y="0"/>
                    </a:moveTo>
                    <a:lnTo>
                      <a:pt x="1381125" y="285750"/>
                    </a:lnTo>
                    <a:lnTo>
                      <a:pt x="1371600" y="285750"/>
                    </a:lnTo>
                    <a:lnTo>
                      <a:pt x="1371600" y="0"/>
                    </a:lnTo>
                    <a:close/>
                    <a:moveTo>
                      <a:pt x="2571750" y="0"/>
                    </a:moveTo>
                    <a:lnTo>
                      <a:pt x="2571750" y="285750"/>
                    </a:lnTo>
                    <a:lnTo>
                      <a:pt x="2562225" y="285750"/>
                    </a:lnTo>
                    <a:lnTo>
                      <a:pt x="2562225" y="0"/>
                    </a:lnTo>
                    <a:close/>
                    <a:moveTo>
                      <a:pt x="3533775" y="0"/>
                    </a:moveTo>
                    <a:lnTo>
                      <a:pt x="3533775" y="285750"/>
                    </a:lnTo>
                    <a:lnTo>
                      <a:pt x="3524250" y="285750"/>
                    </a:lnTo>
                    <a:lnTo>
                      <a:pt x="3524250" y="0"/>
                    </a:lnTo>
                    <a:close/>
                    <a:moveTo>
                      <a:pt x="5276850" y="0"/>
                    </a:moveTo>
                    <a:lnTo>
                      <a:pt x="5276850" y="285750"/>
                    </a:lnTo>
                    <a:lnTo>
                      <a:pt x="5267325" y="285750"/>
                    </a:lnTo>
                    <a:lnTo>
                      <a:pt x="5267325" y="0"/>
                    </a:lnTo>
                    <a:close/>
                    <a:moveTo>
                      <a:pt x="0" y="0"/>
                    </a:moveTo>
                    <a:lnTo>
                      <a:pt x="9305925" y="0"/>
                    </a:lnTo>
                    <a:lnTo>
                      <a:pt x="9305925" y="9525"/>
                    </a:lnTo>
                    <a:lnTo>
                      <a:pt x="0" y="9525"/>
                    </a:lnTo>
                    <a:close/>
                  </a:path>
                </a:pathLst>
              </a:custGeom>
              <a:solidFill>
                <a:srgbClr val="F6F8F9"/>
              </a:solidFill>
            </p:spPr>
          </p:sp>
          <p:sp>
            <p:nvSpPr>
              <p:cNvPr name="Freeform 14" id="14"/>
              <p:cNvSpPr/>
              <p:nvPr/>
            </p:nvSpPr>
            <p:spPr>
              <a:xfrm flipH="false" flipV="false" rot="0">
                <a:off x="73025" y="63500"/>
                <a:ext cx="9525" cy="295275"/>
              </a:xfrm>
              <a:custGeom>
                <a:avLst/>
                <a:gdLst/>
                <a:ahLst/>
                <a:cxnLst/>
                <a:rect r="r" b="b" t="t" l="l"/>
                <a:pathLst>
                  <a:path h="295275" w="9525">
                    <a:moveTo>
                      <a:pt x="0" y="0"/>
                    </a:moveTo>
                    <a:lnTo>
                      <a:pt x="0" y="295275"/>
                    </a:lnTo>
                    <a:lnTo>
                      <a:pt x="9525" y="295275"/>
                    </a:lnTo>
                    <a:lnTo>
                      <a:pt x="9525" y="0"/>
                    </a:lnTo>
                    <a:close/>
                  </a:path>
                </a:pathLst>
              </a:custGeom>
              <a:solidFill>
                <a:srgbClr val="6D85FF"/>
              </a:solidFill>
            </p:spPr>
          </p:sp>
          <p:sp>
            <p:nvSpPr>
              <p:cNvPr name="Freeform 15" id="15"/>
              <p:cNvSpPr/>
              <p:nvPr/>
            </p:nvSpPr>
            <p:spPr>
              <a:xfrm flipH="false" flipV="false" rot="0">
                <a:off x="73025" y="73025"/>
                <a:ext cx="1371600" cy="9525"/>
              </a:xfrm>
              <a:custGeom>
                <a:avLst/>
                <a:gdLst/>
                <a:ahLst/>
                <a:cxnLst/>
                <a:rect r="r" b="b" t="t" l="l"/>
                <a:pathLst>
                  <a:path h="9525" w="1371600">
                    <a:moveTo>
                      <a:pt x="0" y="0"/>
                    </a:moveTo>
                    <a:lnTo>
                      <a:pt x="1371600" y="0"/>
                    </a:lnTo>
                    <a:lnTo>
                      <a:pt x="1371600" y="9525"/>
                    </a:lnTo>
                    <a:lnTo>
                      <a:pt x="0" y="9525"/>
                    </a:lnTo>
                    <a:close/>
                  </a:path>
                </a:pathLst>
              </a:custGeom>
              <a:solidFill>
                <a:srgbClr val="6D85FF"/>
              </a:solidFill>
            </p:spPr>
          </p:sp>
          <p:sp>
            <p:nvSpPr>
              <p:cNvPr name="Freeform 16" id="16"/>
              <p:cNvSpPr/>
              <p:nvPr/>
            </p:nvSpPr>
            <p:spPr>
              <a:xfrm flipH="false" flipV="false" rot="0">
                <a:off x="1454150" y="73025"/>
                <a:ext cx="1181100" cy="9525"/>
              </a:xfrm>
              <a:custGeom>
                <a:avLst/>
                <a:gdLst/>
                <a:ahLst/>
                <a:cxnLst/>
                <a:rect r="r" b="b" t="t" l="l"/>
                <a:pathLst>
                  <a:path h="9525" w="1181100">
                    <a:moveTo>
                      <a:pt x="0" y="0"/>
                    </a:moveTo>
                    <a:lnTo>
                      <a:pt x="1181100" y="0"/>
                    </a:lnTo>
                    <a:lnTo>
                      <a:pt x="1181100" y="9525"/>
                    </a:lnTo>
                    <a:lnTo>
                      <a:pt x="0" y="9525"/>
                    </a:lnTo>
                    <a:close/>
                  </a:path>
                </a:pathLst>
              </a:custGeom>
              <a:solidFill>
                <a:srgbClr val="3858FF"/>
              </a:solidFill>
            </p:spPr>
          </p:sp>
          <p:sp>
            <p:nvSpPr>
              <p:cNvPr name="Freeform 17" id="17"/>
              <p:cNvSpPr/>
              <p:nvPr/>
            </p:nvSpPr>
            <p:spPr>
              <a:xfrm flipH="false" flipV="false" rot="0">
                <a:off x="2644775" y="73025"/>
                <a:ext cx="952500" cy="9525"/>
              </a:xfrm>
              <a:custGeom>
                <a:avLst/>
                <a:gdLst/>
                <a:ahLst/>
                <a:cxnLst/>
                <a:rect r="r" b="b" t="t" l="l"/>
                <a:pathLst>
                  <a:path h="9525" w="952500">
                    <a:moveTo>
                      <a:pt x="0" y="0"/>
                    </a:moveTo>
                    <a:lnTo>
                      <a:pt x="952500" y="0"/>
                    </a:lnTo>
                    <a:lnTo>
                      <a:pt x="952500" y="9525"/>
                    </a:lnTo>
                    <a:lnTo>
                      <a:pt x="0" y="9525"/>
                    </a:lnTo>
                    <a:close/>
                  </a:path>
                </a:pathLst>
              </a:custGeom>
              <a:solidFill>
                <a:srgbClr val="6D85FF"/>
              </a:solidFill>
            </p:spPr>
          </p:sp>
          <p:sp>
            <p:nvSpPr>
              <p:cNvPr name="Freeform 18" id="18"/>
              <p:cNvSpPr/>
              <p:nvPr/>
            </p:nvSpPr>
            <p:spPr>
              <a:xfrm flipH="false" flipV="false" rot="0">
                <a:off x="3606800" y="73025"/>
                <a:ext cx="1733550" cy="9525"/>
              </a:xfrm>
              <a:custGeom>
                <a:avLst/>
                <a:gdLst/>
                <a:ahLst/>
                <a:cxnLst/>
                <a:rect r="r" b="b" t="t" l="l"/>
                <a:pathLst>
                  <a:path h="9525" w="1733550">
                    <a:moveTo>
                      <a:pt x="0" y="0"/>
                    </a:moveTo>
                    <a:lnTo>
                      <a:pt x="1733550" y="0"/>
                    </a:lnTo>
                    <a:lnTo>
                      <a:pt x="1733550" y="9525"/>
                    </a:lnTo>
                    <a:lnTo>
                      <a:pt x="0" y="9525"/>
                    </a:lnTo>
                    <a:close/>
                  </a:path>
                </a:pathLst>
              </a:custGeom>
              <a:solidFill>
                <a:srgbClr val="6D85FF"/>
              </a:solidFill>
            </p:spPr>
          </p:sp>
          <p:sp>
            <p:nvSpPr>
              <p:cNvPr name="Freeform 19" id="19"/>
              <p:cNvSpPr/>
              <p:nvPr/>
            </p:nvSpPr>
            <p:spPr>
              <a:xfrm flipH="false" flipV="false" rot="0">
                <a:off x="5349875" y="73025"/>
                <a:ext cx="4029075" cy="9525"/>
              </a:xfrm>
              <a:custGeom>
                <a:avLst/>
                <a:gdLst/>
                <a:ahLst/>
                <a:cxnLst/>
                <a:rect r="r" b="b" t="t" l="l"/>
                <a:pathLst>
                  <a:path h="9525" w="4029075">
                    <a:moveTo>
                      <a:pt x="0" y="0"/>
                    </a:moveTo>
                    <a:lnTo>
                      <a:pt x="4029075" y="0"/>
                    </a:lnTo>
                    <a:lnTo>
                      <a:pt x="4029075" y="9525"/>
                    </a:lnTo>
                    <a:lnTo>
                      <a:pt x="0" y="9525"/>
                    </a:lnTo>
                    <a:close/>
                  </a:path>
                </a:pathLst>
              </a:custGeom>
              <a:solidFill>
                <a:srgbClr val="6D85FF"/>
              </a:solidFill>
            </p:spPr>
          </p:sp>
          <p:sp>
            <p:nvSpPr>
              <p:cNvPr name="Freeform 20" id="20"/>
              <p:cNvSpPr/>
              <p:nvPr/>
            </p:nvSpPr>
            <p:spPr>
              <a:xfrm flipH="false" flipV="false" rot="0">
                <a:off x="73025" y="349250"/>
                <a:ext cx="9525" cy="295275"/>
              </a:xfrm>
              <a:custGeom>
                <a:avLst/>
                <a:gdLst/>
                <a:ahLst/>
                <a:cxnLst/>
                <a:rect r="r" b="b" t="t" l="l"/>
                <a:pathLst>
                  <a:path h="295275" w="9525">
                    <a:moveTo>
                      <a:pt x="0" y="0"/>
                    </a:moveTo>
                    <a:lnTo>
                      <a:pt x="0" y="295275"/>
                    </a:lnTo>
                    <a:lnTo>
                      <a:pt x="9525" y="295275"/>
                    </a:lnTo>
                    <a:lnTo>
                      <a:pt x="9525" y="0"/>
                    </a:lnTo>
                    <a:close/>
                  </a:path>
                </a:pathLst>
              </a:custGeom>
              <a:solidFill>
                <a:srgbClr val="6D85FF"/>
              </a:solidFill>
            </p:spPr>
          </p:sp>
          <p:sp>
            <p:nvSpPr>
              <p:cNvPr name="Freeform 21" id="21"/>
              <p:cNvSpPr/>
              <p:nvPr/>
            </p:nvSpPr>
            <p:spPr>
              <a:xfrm flipH="false" flipV="false" rot="0">
                <a:off x="73025" y="635000"/>
                <a:ext cx="9525" cy="285750"/>
              </a:xfrm>
              <a:custGeom>
                <a:avLst/>
                <a:gdLst/>
                <a:ahLst/>
                <a:cxnLst/>
                <a:rect r="r" b="b" t="t" l="l"/>
                <a:pathLst>
                  <a:path h="285750" w="9525">
                    <a:moveTo>
                      <a:pt x="0" y="0"/>
                    </a:moveTo>
                    <a:lnTo>
                      <a:pt x="0" y="285750"/>
                    </a:lnTo>
                    <a:lnTo>
                      <a:pt x="9525" y="285750"/>
                    </a:lnTo>
                    <a:lnTo>
                      <a:pt x="9525" y="0"/>
                    </a:lnTo>
                    <a:close/>
                  </a:path>
                </a:pathLst>
              </a:custGeom>
              <a:solidFill>
                <a:srgbClr val="6D85FF"/>
              </a:solidFill>
            </p:spPr>
          </p:sp>
        </p:grpSp>
        <p:sp>
          <p:nvSpPr>
            <p:cNvPr name="TextBox 22" id="22"/>
            <p:cNvSpPr txBox="true"/>
            <p:nvPr/>
          </p:nvSpPr>
          <p:spPr>
            <a:xfrm rot="0">
              <a:off x="366190" y="124090"/>
              <a:ext cx="2355315" cy="1965033"/>
            </a:xfrm>
            <a:prstGeom prst="rect">
              <a:avLst/>
            </a:prstGeom>
          </p:spPr>
          <p:txBody>
            <a:bodyPr anchor="t" rtlCol="false" tIns="0" lIns="0" bIns="0" rIns="0">
              <a:spAutoFit/>
            </a:bodyPr>
            <a:lstStyle/>
            <a:p>
              <a:pPr algn="l">
                <a:lnSpc>
                  <a:spcPts val="4141"/>
                </a:lnSpc>
              </a:pPr>
              <a:r>
                <a:rPr lang="en-US" sz="1794">
                  <a:solidFill>
                    <a:srgbClr val="FFFFFF"/>
                  </a:solidFill>
                  <a:latin typeface="Roboto"/>
                  <a:ea typeface="Roboto"/>
                  <a:cs typeface="Roboto"/>
                  <a:sym typeface="Roboto"/>
                </a:rPr>
                <a:t>Atributo (Coluna) </a:t>
              </a:r>
              <a:r>
                <a:rPr lang="en-US" sz="1794">
                  <a:solidFill>
                    <a:srgbClr val="434343"/>
                  </a:solidFill>
                  <a:latin typeface="Roboto"/>
                  <a:ea typeface="Roboto"/>
                  <a:cs typeface="Roboto"/>
                  <a:sym typeface="Roboto"/>
                </a:rPr>
                <a:t>registro_id especialidade_id</a:t>
              </a:r>
            </a:p>
          </p:txBody>
        </p:sp>
        <p:sp>
          <p:nvSpPr>
            <p:cNvPr name="TextBox 23" id="23"/>
            <p:cNvSpPr txBox="true"/>
            <p:nvPr/>
          </p:nvSpPr>
          <p:spPr>
            <a:xfrm rot="0">
              <a:off x="3755535" y="124090"/>
              <a:ext cx="1882022" cy="1965033"/>
            </a:xfrm>
            <a:prstGeom prst="rect">
              <a:avLst/>
            </a:prstGeom>
          </p:spPr>
          <p:txBody>
            <a:bodyPr anchor="t" rtlCol="false" tIns="0" lIns="0" bIns="0" rIns="0">
              <a:spAutoFit/>
            </a:bodyPr>
            <a:lstStyle/>
            <a:p>
              <a:pPr algn="just">
                <a:lnSpc>
                  <a:spcPts val="4141"/>
                </a:lnSpc>
              </a:pPr>
              <a:r>
                <a:rPr lang="en-US" sz="1794">
                  <a:solidFill>
                    <a:srgbClr val="FFFFFF"/>
                  </a:solidFill>
                  <a:latin typeface="Roboto"/>
                  <a:ea typeface="Roboto"/>
                  <a:cs typeface="Roboto"/>
                  <a:sym typeface="Roboto"/>
                </a:rPr>
                <a:t>Tipo (MySQL) </a:t>
              </a:r>
              <a:r>
                <a:rPr lang="en-US" sz="1794">
                  <a:solidFill>
                    <a:srgbClr val="434343"/>
                  </a:solidFill>
                  <a:latin typeface="Roboto"/>
                  <a:ea typeface="Roboto"/>
                  <a:cs typeface="Roboto"/>
                  <a:sym typeface="Roboto"/>
                </a:rPr>
                <a:t>bigint bigint</a:t>
              </a:r>
            </a:p>
          </p:txBody>
        </p:sp>
        <p:sp>
          <p:nvSpPr>
            <p:cNvPr name="TextBox 24" id="24"/>
            <p:cNvSpPr txBox="true"/>
            <p:nvPr/>
          </p:nvSpPr>
          <p:spPr>
            <a:xfrm rot="0">
              <a:off x="6677385" y="124090"/>
              <a:ext cx="1270490" cy="1965033"/>
            </a:xfrm>
            <a:prstGeom prst="rect">
              <a:avLst/>
            </a:prstGeom>
          </p:spPr>
          <p:txBody>
            <a:bodyPr anchor="t" rtlCol="false" tIns="0" lIns="0" bIns="0" rIns="0">
              <a:spAutoFit/>
            </a:bodyPr>
            <a:lstStyle/>
            <a:p>
              <a:pPr algn="just">
                <a:lnSpc>
                  <a:spcPts val="4141"/>
                </a:lnSpc>
              </a:pPr>
              <a:r>
                <a:rPr lang="en-US" sz="1794">
                  <a:solidFill>
                    <a:srgbClr val="FFFFFF"/>
                  </a:solidFill>
                  <a:latin typeface="Roboto"/>
                  <a:ea typeface="Roboto"/>
                  <a:cs typeface="Roboto"/>
                  <a:sym typeface="Roboto"/>
                </a:rPr>
                <a:t>Nullable? </a:t>
              </a:r>
              <a:r>
                <a:rPr lang="en-US" sz="1794">
                  <a:solidFill>
                    <a:srgbClr val="434343"/>
                  </a:solidFill>
                  <a:latin typeface="Roboto"/>
                  <a:ea typeface="Roboto"/>
                  <a:cs typeface="Roboto"/>
                  <a:sym typeface="Roboto"/>
                </a:rPr>
                <a:t>NÃO NÃO</a:t>
              </a:r>
            </a:p>
          </p:txBody>
        </p:sp>
        <p:sp>
          <p:nvSpPr>
            <p:cNvPr name="TextBox 25" id="25"/>
            <p:cNvSpPr txBox="true"/>
            <p:nvPr/>
          </p:nvSpPr>
          <p:spPr>
            <a:xfrm rot="0">
              <a:off x="9038240" y="124090"/>
              <a:ext cx="3233389" cy="1965033"/>
            </a:xfrm>
            <a:prstGeom prst="rect">
              <a:avLst/>
            </a:prstGeom>
          </p:spPr>
          <p:txBody>
            <a:bodyPr anchor="t" rtlCol="false" tIns="0" lIns="0" bIns="0" rIns="0">
              <a:spAutoFit/>
            </a:bodyPr>
            <a:lstStyle/>
            <a:p>
              <a:pPr algn="just">
                <a:lnSpc>
                  <a:spcPts val="4141"/>
                </a:lnSpc>
              </a:pPr>
              <a:r>
                <a:rPr lang="en-US" sz="1794">
                  <a:solidFill>
                    <a:srgbClr val="FFFFFF"/>
                  </a:solidFill>
                  <a:latin typeface="Roboto"/>
                  <a:ea typeface="Roboto"/>
                  <a:cs typeface="Roboto"/>
                  <a:sym typeface="Roboto"/>
                </a:rPr>
                <a:t>Chaves / Índices (Keys) </a:t>
              </a:r>
              <a:r>
                <a:rPr lang="en-US" sz="1794">
                  <a:solidFill>
                    <a:srgbClr val="434343"/>
                  </a:solidFill>
                  <a:latin typeface="Roboto"/>
                  <a:ea typeface="Roboto"/>
                  <a:cs typeface="Roboto"/>
                  <a:sym typeface="Roboto"/>
                </a:rPr>
                <a:t>FOREIGN KEY (PK, FK) FOREIGN KEY (PK, FK)</a:t>
              </a:r>
            </a:p>
          </p:txBody>
        </p:sp>
        <p:sp>
          <p:nvSpPr>
            <p:cNvPr name="TextBox 26" id="26"/>
            <p:cNvSpPr txBox="true"/>
            <p:nvPr/>
          </p:nvSpPr>
          <p:spPr>
            <a:xfrm rot="0">
              <a:off x="13315828" y="124090"/>
              <a:ext cx="8971505" cy="1965033"/>
            </a:xfrm>
            <a:prstGeom prst="rect">
              <a:avLst/>
            </a:prstGeom>
          </p:spPr>
          <p:txBody>
            <a:bodyPr anchor="t" rtlCol="false" tIns="0" lIns="0" bIns="0" rIns="0">
              <a:spAutoFit/>
            </a:bodyPr>
            <a:lstStyle/>
            <a:p>
              <a:pPr algn="l">
                <a:lnSpc>
                  <a:spcPts val="4141"/>
                </a:lnSpc>
              </a:pPr>
              <a:r>
                <a:rPr lang="en-US" sz="1794">
                  <a:solidFill>
                    <a:srgbClr val="FFFFFF"/>
                  </a:solidFill>
                  <a:latin typeface="Roboto"/>
                  <a:ea typeface="Roboto"/>
                  <a:cs typeface="Roboto"/>
                  <a:sym typeface="Roboto"/>
                </a:rPr>
                <a:t>Descrição </a:t>
              </a:r>
              <a:r>
                <a:rPr lang="en-US" sz="1794">
                  <a:solidFill>
                    <a:srgbClr val="434343"/>
                  </a:solidFill>
                  <a:latin typeface="Roboto"/>
                  <a:ea typeface="Roboto"/>
                  <a:cs typeface="Roboto"/>
                  <a:sym typeface="Roboto"/>
                </a:rPr>
                <a:t>O ID do registro (médico). Faz parte da chave primária composta. O ID da especialidades. Faz parte da chave primária composta.</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grpSp>
        <p:nvGrpSpPr>
          <p:cNvPr name="Group 2" id="2"/>
          <p:cNvGrpSpPr/>
          <p:nvPr/>
        </p:nvGrpSpPr>
        <p:grpSpPr>
          <a:xfrm rot="0">
            <a:off x="812163" y="2294313"/>
            <a:ext cx="16668048" cy="5305162"/>
            <a:chOff x="0" y="0"/>
            <a:chExt cx="22224063" cy="7073549"/>
          </a:xfrm>
        </p:grpSpPr>
        <p:sp>
          <p:nvSpPr>
            <p:cNvPr name="Freeform 3" id="3"/>
            <p:cNvSpPr/>
            <p:nvPr/>
          </p:nvSpPr>
          <p:spPr>
            <a:xfrm flipH="false" flipV="false" rot="0">
              <a:off x="0" y="0"/>
              <a:ext cx="22224063" cy="7073549"/>
            </a:xfrm>
            <a:custGeom>
              <a:avLst/>
              <a:gdLst/>
              <a:ahLst/>
              <a:cxnLst/>
              <a:rect r="r" b="b" t="t" l="l"/>
              <a:pathLst>
                <a:path h="7073549" w="22224063">
                  <a:moveTo>
                    <a:pt x="0" y="0"/>
                  </a:moveTo>
                  <a:lnTo>
                    <a:pt x="22224063" y="0"/>
                  </a:lnTo>
                  <a:lnTo>
                    <a:pt x="22224063" y="7073549"/>
                  </a:lnTo>
                  <a:lnTo>
                    <a:pt x="0" y="70735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89734" y="125879"/>
              <a:ext cx="2694777" cy="6575549"/>
            </a:xfrm>
            <a:prstGeom prst="rect">
              <a:avLst/>
            </a:prstGeom>
          </p:spPr>
          <p:txBody>
            <a:bodyPr anchor="t" rtlCol="false" tIns="0" lIns="0" bIns="0" rIns="0">
              <a:spAutoFit/>
            </a:bodyPr>
            <a:lstStyle/>
            <a:p>
              <a:pPr algn="l">
                <a:lnSpc>
                  <a:spcPts val="4408"/>
                </a:lnSpc>
              </a:pPr>
              <a:r>
                <a:rPr lang="en-US" sz="1909">
                  <a:solidFill>
                    <a:srgbClr val="FFFFFF"/>
                  </a:solidFill>
                  <a:latin typeface="Roboto"/>
                  <a:ea typeface="Roboto"/>
                  <a:cs typeface="Roboto"/>
                  <a:sym typeface="Roboto"/>
                </a:rPr>
                <a:t>Atributo (Coluna) </a:t>
              </a:r>
              <a:r>
                <a:rPr lang="en-US" sz="1909">
                  <a:solidFill>
                    <a:srgbClr val="434343"/>
                  </a:solidFill>
                  <a:latin typeface="Roboto"/>
                  <a:ea typeface="Roboto"/>
                  <a:cs typeface="Roboto"/>
                  <a:sym typeface="Roboto"/>
                </a:rPr>
                <a:t>id nome cpf idade alergias historico_cirurgias observacoes medico_id</a:t>
              </a:r>
            </a:p>
          </p:txBody>
        </p:sp>
        <p:sp>
          <p:nvSpPr>
            <p:cNvPr name="TextBox 5" id="5"/>
            <p:cNvSpPr txBox="true"/>
            <p:nvPr/>
          </p:nvSpPr>
          <p:spPr>
            <a:xfrm rot="0">
              <a:off x="3996999" y="125879"/>
              <a:ext cx="2003027" cy="6575549"/>
            </a:xfrm>
            <a:prstGeom prst="rect">
              <a:avLst/>
            </a:prstGeom>
          </p:spPr>
          <p:txBody>
            <a:bodyPr anchor="t" rtlCol="false" tIns="0" lIns="0" bIns="0" rIns="0">
              <a:spAutoFit/>
            </a:bodyPr>
            <a:lstStyle/>
            <a:p>
              <a:pPr algn="just">
                <a:lnSpc>
                  <a:spcPts val="4408"/>
                </a:lnSpc>
              </a:pPr>
              <a:r>
                <a:rPr lang="en-US" sz="1909">
                  <a:solidFill>
                    <a:srgbClr val="FFFFFF"/>
                  </a:solidFill>
                  <a:latin typeface="Roboto"/>
                  <a:ea typeface="Roboto"/>
                  <a:cs typeface="Roboto"/>
                  <a:sym typeface="Roboto"/>
                </a:rPr>
                <a:t>Tipo (MySQL) </a:t>
              </a:r>
              <a:r>
                <a:rPr lang="en-US" sz="1909">
                  <a:solidFill>
                    <a:srgbClr val="434343"/>
                  </a:solidFill>
                  <a:latin typeface="Roboto"/>
                  <a:ea typeface="Roboto"/>
                  <a:cs typeface="Roboto"/>
                  <a:sym typeface="Roboto"/>
                </a:rPr>
                <a:t>bigint varchar(255) varchar(255) int varchar(255) varchar(255) varchar(255) bigint</a:t>
              </a:r>
            </a:p>
          </p:txBody>
        </p:sp>
        <p:sp>
          <p:nvSpPr>
            <p:cNvPr name="TextBox 6" id="6"/>
            <p:cNvSpPr txBox="true"/>
            <p:nvPr/>
          </p:nvSpPr>
          <p:spPr>
            <a:xfrm rot="0">
              <a:off x="7753531" y="125879"/>
              <a:ext cx="1352177" cy="604903"/>
            </a:xfrm>
            <a:prstGeom prst="rect">
              <a:avLst/>
            </a:prstGeom>
          </p:spPr>
          <p:txBody>
            <a:bodyPr anchor="t" rtlCol="false" tIns="0" lIns="0" bIns="0" rIns="0">
              <a:spAutoFit/>
            </a:bodyPr>
            <a:lstStyle/>
            <a:p>
              <a:pPr algn="l">
                <a:lnSpc>
                  <a:spcPts val="4408"/>
                </a:lnSpc>
              </a:pPr>
              <a:r>
                <a:rPr lang="en-US" sz="1909">
                  <a:solidFill>
                    <a:srgbClr val="FFFFFF"/>
                  </a:solidFill>
                  <a:latin typeface="Roboto"/>
                  <a:ea typeface="Roboto"/>
                  <a:cs typeface="Roboto"/>
                  <a:sym typeface="Roboto"/>
                </a:rPr>
                <a:t>Nullable?</a:t>
              </a:r>
            </a:p>
          </p:txBody>
        </p:sp>
        <p:sp>
          <p:nvSpPr>
            <p:cNvPr name="TextBox 7" id="7"/>
            <p:cNvSpPr txBox="true"/>
            <p:nvPr/>
          </p:nvSpPr>
          <p:spPr>
            <a:xfrm rot="0">
              <a:off x="6982322" y="872210"/>
              <a:ext cx="676922" cy="5829219"/>
            </a:xfrm>
            <a:prstGeom prst="rect">
              <a:avLst/>
            </a:prstGeom>
          </p:spPr>
          <p:txBody>
            <a:bodyPr anchor="t" rtlCol="false" tIns="0" lIns="0" bIns="0" rIns="0">
              <a:spAutoFit/>
            </a:bodyPr>
            <a:lstStyle/>
            <a:p>
              <a:pPr algn="just">
                <a:lnSpc>
                  <a:spcPts val="4408"/>
                </a:lnSpc>
              </a:pPr>
              <a:r>
                <a:rPr lang="en-US" sz="1909">
                  <a:solidFill>
                    <a:srgbClr val="2C481F"/>
                  </a:solidFill>
                  <a:latin typeface="Roboto"/>
                  <a:ea typeface="Roboto"/>
                  <a:cs typeface="Roboto"/>
                  <a:sym typeface="Roboto"/>
                </a:rPr>
                <a:t>NÃO </a:t>
              </a:r>
              <a:r>
                <a:rPr lang="en-US" sz="1909">
                  <a:solidFill>
                    <a:srgbClr val="2A3243"/>
                  </a:solidFill>
                  <a:latin typeface="Roboto"/>
                  <a:ea typeface="Roboto"/>
                  <a:cs typeface="Roboto"/>
                  <a:sym typeface="Roboto"/>
                </a:rPr>
                <a:t>SIM SIM SIM SIM SIM SIM SIM</a:t>
              </a:r>
            </a:p>
          </p:txBody>
        </p:sp>
        <p:sp>
          <p:nvSpPr>
            <p:cNvPr name="TextBox 8" id="8"/>
            <p:cNvSpPr txBox="true"/>
            <p:nvPr/>
          </p:nvSpPr>
          <p:spPr>
            <a:xfrm rot="0">
              <a:off x="10216422" y="125879"/>
              <a:ext cx="3441281" cy="6575549"/>
            </a:xfrm>
            <a:prstGeom prst="rect">
              <a:avLst/>
            </a:prstGeom>
          </p:spPr>
          <p:txBody>
            <a:bodyPr anchor="t" rtlCol="false" tIns="0" lIns="0" bIns="0" rIns="0">
              <a:spAutoFit/>
            </a:bodyPr>
            <a:lstStyle/>
            <a:p>
              <a:pPr algn="just">
                <a:lnSpc>
                  <a:spcPts val="4408"/>
                </a:lnSpc>
              </a:pPr>
              <a:r>
                <a:rPr lang="en-US" sz="1909">
                  <a:solidFill>
                    <a:srgbClr val="FFFFFF"/>
                  </a:solidFill>
                  <a:latin typeface="Roboto"/>
                  <a:ea typeface="Roboto"/>
                  <a:cs typeface="Roboto"/>
                  <a:sym typeface="Roboto"/>
                </a:rPr>
                <a:t>Chaves / Índices (Keys) </a:t>
              </a:r>
              <a:r>
                <a:rPr lang="en-US" sz="1909">
                  <a:solidFill>
                    <a:srgbClr val="434343"/>
                  </a:solidFill>
                  <a:latin typeface="Roboto"/>
                  <a:ea typeface="Roboto"/>
                  <a:cs typeface="Roboto"/>
                  <a:sym typeface="Roboto"/>
                </a:rPr>
                <a:t>PRIMARY KEY (PK) - - - - - - FOREIGN KEY (FK)</a:t>
              </a:r>
            </a:p>
          </p:txBody>
        </p:sp>
        <p:sp>
          <p:nvSpPr>
            <p:cNvPr name="TextBox 9" id="9"/>
            <p:cNvSpPr txBox="true"/>
            <p:nvPr/>
          </p:nvSpPr>
          <p:spPr>
            <a:xfrm rot="0">
              <a:off x="14769040" y="125879"/>
              <a:ext cx="7438082" cy="6575549"/>
            </a:xfrm>
            <a:prstGeom prst="rect">
              <a:avLst/>
            </a:prstGeom>
          </p:spPr>
          <p:txBody>
            <a:bodyPr anchor="t" rtlCol="false" tIns="0" lIns="0" bIns="0" rIns="0">
              <a:spAutoFit/>
            </a:bodyPr>
            <a:lstStyle/>
            <a:p>
              <a:pPr algn="l">
                <a:lnSpc>
                  <a:spcPts val="4408"/>
                </a:lnSpc>
              </a:pPr>
              <a:r>
                <a:rPr lang="en-US" sz="1909">
                  <a:solidFill>
                    <a:srgbClr val="FFFFFF"/>
                  </a:solidFill>
                  <a:latin typeface="Roboto"/>
                  <a:ea typeface="Roboto"/>
                  <a:cs typeface="Roboto"/>
                  <a:sym typeface="Roboto"/>
                </a:rPr>
                <a:t>Descrição </a:t>
              </a:r>
              <a:r>
                <a:rPr lang="en-US" sz="1909">
                  <a:solidFill>
                    <a:srgbClr val="434343"/>
                  </a:solidFill>
                  <a:latin typeface="Roboto"/>
                  <a:ea typeface="Roboto"/>
                  <a:cs typeface="Roboto"/>
                  <a:sym typeface="Roboto"/>
                </a:rPr>
                <a:t>Identificador único (Chave Primária) do paciente. Nome completo do paciente. CPF do paciente (usado para busca). Idade do paciente. (Opcional) Texto com as alergias do paciente. (Opcional) Texto com o histórico de cirurgias. (Opcional) Observações gerais sobre o paciente. O ID do registro (médico) que cadastrou este pacie</a:t>
              </a:r>
            </a:p>
          </p:txBody>
        </p:sp>
      </p:grpSp>
      <p:sp>
        <p:nvSpPr>
          <p:cNvPr name="TextBox 10" id="10"/>
          <p:cNvSpPr txBox="true"/>
          <p:nvPr/>
        </p:nvSpPr>
        <p:spPr>
          <a:xfrm rot="0">
            <a:off x="7735928" y="1104900"/>
            <a:ext cx="2820518" cy="542290"/>
          </a:xfrm>
          <a:prstGeom prst="rect">
            <a:avLst/>
          </a:prstGeom>
        </p:spPr>
        <p:txBody>
          <a:bodyPr anchor="t" rtlCol="false" tIns="0" lIns="0" bIns="0" rIns="0">
            <a:spAutoFit/>
          </a:bodyPr>
          <a:lstStyle/>
          <a:p>
            <a:pPr algn="l">
              <a:lnSpc>
                <a:spcPts val="4099"/>
              </a:lnSpc>
            </a:pPr>
            <a:r>
              <a:rPr lang="en-US" b="true" sz="4099">
                <a:solidFill>
                  <a:srgbClr val="FFFFFF"/>
                </a:solidFill>
                <a:latin typeface="Nourd Bold"/>
                <a:ea typeface="Nourd Bold"/>
                <a:cs typeface="Nourd Bold"/>
                <a:sym typeface="Nourd Bold"/>
              </a:rPr>
              <a:t>PACIENTE</a:t>
            </a:r>
          </a:p>
        </p:txBody>
      </p:sp>
      <p:sp>
        <p:nvSpPr>
          <p:cNvPr name="Freeform 11" id="11"/>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4"/>
            <a:stretch>
              <a:fillRect l="0" t="0" r="0" b="0"/>
            </a:stretch>
          </a:blipFill>
        </p:spPr>
      </p:sp>
      <p:sp>
        <p:nvSpPr>
          <p:cNvPr name="Freeform 12" id="12"/>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3" id="13"/>
          <p:cNvSpPr/>
          <p:nvPr/>
        </p:nvSpPr>
        <p:spPr>
          <a:xfrm>
            <a:off x="0" y="9263062"/>
            <a:ext cx="18288000" cy="0"/>
          </a:xfrm>
          <a:prstGeom prst="line">
            <a:avLst/>
          </a:prstGeom>
          <a:ln cap="flat" w="9525">
            <a:solidFill>
              <a:srgbClr val="FFFFFF">
                <a:alpha val="33725"/>
              </a:srgbClr>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Freeform 2" id="2"/>
          <p:cNvSpPr/>
          <p:nvPr/>
        </p:nvSpPr>
        <p:spPr>
          <a:xfrm flipH="false" flipV="false" rot="0">
            <a:off x="1227557" y="2316798"/>
            <a:ext cx="16222686" cy="5078143"/>
          </a:xfrm>
          <a:custGeom>
            <a:avLst/>
            <a:gdLst/>
            <a:ahLst/>
            <a:cxnLst/>
            <a:rect r="r" b="b" t="t" l="l"/>
            <a:pathLst>
              <a:path h="5078143" w="16222686">
                <a:moveTo>
                  <a:pt x="0" y="0"/>
                </a:moveTo>
                <a:lnTo>
                  <a:pt x="16222686" y="0"/>
                </a:lnTo>
                <a:lnTo>
                  <a:pt x="16222686" y="5078143"/>
                </a:lnTo>
                <a:lnTo>
                  <a:pt x="0" y="50781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07350" y="2354893"/>
            <a:ext cx="2525471" cy="4772901"/>
          </a:xfrm>
          <a:prstGeom prst="rect">
            <a:avLst/>
          </a:prstGeom>
        </p:spPr>
        <p:txBody>
          <a:bodyPr anchor="t" rtlCol="false" tIns="0" lIns="0" bIns="0" rIns="0">
            <a:spAutoFit/>
          </a:bodyPr>
          <a:lstStyle/>
          <a:p>
            <a:pPr algn="l">
              <a:lnSpc>
                <a:spcPts val="4219"/>
              </a:lnSpc>
            </a:pPr>
            <a:r>
              <a:rPr lang="en-US" sz="1828">
                <a:solidFill>
                  <a:srgbClr val="FFFFFF"/>
                </a:solidFill>
                <a:latin typeface="Roboto"/>
                <a:ea typeface="Roboto"/>
                <a:cs typeface="Roboto"/>
                <a:sym typeface="Roboto"/>
              </a:rPr>
              <a:t>Atributo (Coluna) </a:t>
            </a:r>
            <a:r>
              <a:rPr lang="en-US" sz="1828">
                <a:solidFill>
                  <a:srgbClr val="434343"/>
                </a:solidFill>
                <a:latin typeface="Roboto"/>
                <a:ea typeface="Roboto"/>
                <a:cs typeface="Roboto"/>
                <a:sym typeface="Roboto"/>
              </a:rPr>
              <a:t>id codigo_login email nome senha foto_perfil reset_token reset_token_expiry_date</a:t>
            </a:r>
          </a:p>
        </p:txBody>
      </p:sp>
      <p:sp>
        <p:nvSpPr>
          <p:cNvPr name="TextBox 4" id="4"/>
          <p:cNvSpPr txBox="true"/>
          <p:nvPr/>
        </p:nvSpPr>
        <p:spPr>
          <a:xfrm rot="0">
            <a:off x="4364925" y="2354893"/>
            <a:ext cx="1437985" cy="4772901"/>
          </a:xfrm>
          <a:prstGeom prst="rect">
            <a:avLst/>
          </a:prstGeom>
        </p:spPr>
        <p:txBody>
          <a:bodyPr anchor="t" rtlCol="false" tIns="0" lIns="0" bIns="0" rIns="0">
            <a:spAutoFit/>
          </a:bodyPr>
          <a:lstStyle/>
          <a:p>
            <a:pPr algn="just">
              <a:lnSpc>
                <a:spcPts val="4219"/>
              </a:lnSpc>
            </a:pPr>
            <a:r>
              <a:rPr lang="en-US" sz="1828">
                <a:solidFill>
                  <a:srgbClr val="FFFFFF"/>
                </a:solidFill>
                <a:latin typeface="Roboto"/>
                <a:ea typeface="Roboto"/>
                <a:cs typeface="Roboto"/>
                <a:sym typeface="Roboto"/>
              </a:rPr>
              <a:t>Tipo (MySQL) </a:t>
            </a:r>
            <a:r>
              <a:rPr lang="en-US" sz="1828">
                <a:solidFill>
                  <a:srgbClr val="434343"/>
                </a:solidFill>
                <a:latin typeface="Roboto"/>
                <a:ea typeface="Roboto"/>
                <a:cs typeface="Roboto"/>
                <a:sym typeface="Roboto"/>
              </a:rPr>
              <a:t>bigint varchar(255) varchar(255) varchar(255) varchar(255) longblob varchar(255) datetime(6)</a:t>
            </a:r>
          </a:p>
        </p:txBody>
      </p:sp>
      <p:sp>
        <p:nvSpPr>
          <p:cNvPr name="TextBox 5" id="5"/>
          <p:cNvSpPr txBox="true"/>
          <p:nvPr/>
        </p:nvSpPr>
        <p:spPr>
          <a:xfrm rot="0">
            <a:off x="7061761" y="2354893"/>
            <a:ext cx="970736" cy="486538"/>
          </a:xfrm>
          <a:prstGeom prst="rect">
            <a:avLst/>
          </a:prstGeom>
        </p:spPr>
        <p:txBody>
          <a:bodyPr anchor="t" rtlCol="false" tIns="0" lIns="0" bIns="0" rIns="0">
            <a:spAutoFit/>
          </a:bodyPr>
          <a:lstStyle/>
          <a:p>
            <a:pPr algn="l">
              <a:lnSpc>
                <a:spcPts val="4219"/>
              </a:lnSpc>
            </a:pPr>
            <a:r>
              <a:rPr lang="en-US" sz="1828">
                <a:solidFill>
                  <a:srgbClr val="FFFFFF"/>
                </a:solidFill>
                <a:latin typeface="Roboto"/>
                <a:ea typeface="Roboto"/>
                <a:cs typeface="Roboto"/>
                <a:sym typeface="Roboto"/>
              </a:rPr>
              <a:t>Nullable?</a:t>
            </a:r>
          </a:p>
        </p:txBody>
      </p:sp>
      <p:sp>
        <p:nvSpPr>
          <p:cNvPr name="TextBox 6" id="6"/>
          <p:cNvSpPr txBox="true"/>
          <p:nvPr/>
        </p:nvSpPr>
        <p:spPr>
          <a:xfrm rot="0">
            <a:off x="6508106" y="2890688"/>
            <a:ext cx="485966" cy="4237106"/>
          </a:xfrm>
          <a:prstGeom prst="rect">
            <a:avLst/>
          </a:prstGeom>
        </p:spPr>
        <p:txBody>
          <a:bodyPr anchor="t" rtlCol="false" tIns="0" lIns="0" bIns="0" rIns="0">
            <a:spAutoFit/>
          </a:bodyPr>
          <a:lstStyle/>
          <a:p>
            <a:pPr algn="just">
              <a:lnSpc>
                <a:spcPts val="4219"/>
              </a:lnSpc>
            </a:pPr>
            <a:r>
              <a:rPr lang="en-US" sz="1828">
                <a:solidFill>
                  <a:srgbClr val="2C481F"/>
                </a:solidFill>
                <a:latin typeface="Roboto"/>
                <a:ea typeface="Roboto"/>
                <a:cs typeface="Roboto"/>
                <a:sym typeface="Roboto"/>
              </a:rPr>
              <a:t>NÃO NÃO NÃO </a:t>
            </a:r>
            <a:r>
              <a:rPr lang="en-US" sz="1828">
                <a:solidFill>
                  <a:srgbClr val="2A3243"/>
                </a:solidFill>
                <a:latin typeface="Roboto"/>
                <a:ea typeface="Roboto"/>
                <a:cs typeface="Roboto"/>
                <a:sym typeface="Roboto"/>
              </a:rPr>
              <a:t>SIM SIM SIM SIM SIM</a:t>
            </a:r>
          </a:p>
        </p:txBody>
      </p:sp>
      <p:sp>
        <p:nvSpPr>
          <p:cNvPr name="TextBox 7" id="7"/>
          <p:cNvSpPr txBox="true"/>
          <p:nvPr/>
        </p:nvSpPr>
        <p:spPr>
          <a:xfrm rot="0">
            <a:off x="8829886" y="2354893"/>
            <a:ext cx="2470516" cy="4772901"/>
          </a:xfrm>
          <a:prstGeom prst="rect">
            <a:avLst/>
          </a:prstGeom>
        </p:spPr>
        <p:txBody>
          <a:bodyPr anchor="t" rtlCol="false" tIns="0" lIns="0" bIns="0" rIns="0">
            <a:spAutoFit/>
          </a:bodyPr>
          <a:lstStyle/>
          <a:p>
            <a:pPr algn="just">
              <a:lnSpc>
                <a:spcPts val="4219"/>
              </a:lnSpc>
            </a:pPr>
            <a:r>
              <a:rPr lang="en-US" sz="1828">
                <a:solidFill>
                  <a:srgbClr val="FFFFFF"/>
                </a:solidFill>
                <a:latin typeface="Roboto"/>
                <a:ea typeface="Roboto"/>
                <a:cs typeface="Roboto"/>
                <a:sym typeface="Roboto"/>
              </a:rPr>
              <a:t>Chaves / Índices (Keys) </a:t>
            </a:r>
            <a:r>
              <a:rPr lang="en-US" sz="1828">
                <a:solidFill>
                  <a:srgbClr val="434343"/>
                </a:solidFill>
                <a:latin typeface="Roboto"/>
                <a:ea typeface="Roboto"/>
                <a:cs typeface="Roboto"/>
                <a:sym typeface="Roboto"/>
              </a:rPr>
              <a:t>PRIMARY KEY (PK) UNIQUE (UK) UNIQUE (UK) - - - - -</a:t>
            </a:r>
          </a:p>
        </p:txBody>
      </p:sp>
      <p:sp>
        <p:nvSpPr>
          <p:cNvPr name="TextBox 8" id="8"/>
          <p:cNvSpPr txBox="true"/>
          <p:nvPr/>
        </p:nvSpPr>
        <p:spPr>
          <a:xfrm rot="0">
            <a:off x="12098237" y="2354893"/>
            <a:ext cx="5383671" cy="4772901"/>
          </a:xfrm>
          <a:prstGeom prst="rect">
            <a:avLst/>
          </a:prstGeom>
        </p:spPr>
        <p:txBody>
          <a:bodyPr anchor="t" rtlCol="false" tIns="0" lIns="0" bIns="0" rIns="0">
            <a:spAutoFit/>
          </a:bodyPr>
          <a:lstStyle/>
          <a:p>
            <a:pPr algn="l">
              <a:lnSpc>
                <a:spcPts val="4219"/>
              </a:lnSpc>
            </a:pPr>
            <a:r>
              <a:rPr lang="en-US" sz="1828">
                <a:solidFill>
                  <a:srgbClr val="FFFFFF"/>
                </a:solidFill>
                <a:latin typeface="Roboto"/>
                <a:ea typeface="Roboto"/>
                <a:cs typeface="Roboto"/>
                <a:sym typeface="Roboto"/>
              </a:rPr>
              <a:t>Descrição </a:t>
            </a:r>
            <a:r>
              <a:rPr lang="en-US" sz="1828">
                <a:solidFill>
                  <a:srgbClr val="434343"/>
                </a:solidFill>
                <a:latin typeface="Roboto"/>
                <a:ea typeface="Roboto"/>
                <a:cs typeface="Roboto"/>
                <a:sym typeface="Roboto"/>
              </a:rPr>
              <a:t>Identificador único (Chave Primária). Código único de 8 dígitos para o login. E-mail do médico (deve ser único). Nome completo do médico. Senha criptografada (BCrypt) do médico. (Opcional) Foto do médico salva como BLOB. (Opcional) Token temporário para redefinição de se (Opcional) Data de expiração do token.</a:t>
            </a:r>
          </a:p>
        </p:txBody>
      </p:sp>
      <p:sp>
        <p:nvSpPr>
          <p:cNvPr name="TextBox 9" id="9"/>
          <p:cNvSpPr txBox="true"/>
          <p:nvPr/>
        </p:nvSpPr>
        <p:spPr>
          <a:xfrm rot="0">
            <a:off x="7733741" y="1104900"/>
            <a:ext cx="2820518" cy="542290"/>
          </a:xfrm>
          <a:prstGeom prst="rect">
            <a:avLst/>
          </a:prstGeom>
        </p:spPr>
        <p:txBody>
          <a:bodyPr anchor="t" rtlCol="false" tIns="0" lIns="0" bIns="0" rIns="0">
            <a:spAutoFit/>
          </a:bodyPr>
          <a:lstStyle/>
          <a:p>
            <a:pPr algn="l">
              <a:lnSpc>
                <a:spcPts val="4099"/>
              </a:lnSpc>
            </a:pPr>
            <a:r>
              <a:rPr lang="en-US" b="true" sz="4099">
                <a:solidFill>
                  <a:srgbClr val="FFFFFF"/>
                </a:solidFill>
                <a:latin typeface="Nourd Bold"/>
                <a:ea typeface="Nourd Bold"/>
                <a:cs typeface="Nourd Bold"/>
                <a:sym typeface="Nourd Bold"/>
              </a:rPr>
              <a:t>REGISTRO</a:t>
            </a:r>
          </a:p>
        </p:txBody>
      </p:sp>
      <p:sp>
        <p:nvSpPr>
          <p:cNvPr name="Freeform 10" id="10"/>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4"/>
            <a:stretch>
              <a:fillRect l="0" t="0" r="0" b="0"/>
            </a:stretch>
          </a:blipFill>
        </p:spPr>
      </p:sp>
      <p:sp>
        <p:nvSpPr>
          <p:cNvPr name="Freeform 11" id="11"/>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2" id="12"/>
          <p:cNvSpPr/>
          <p:nvPr/>
        </p:nvSpPr>
        <p:spPr>
          <a:xfrm>
            <a:off x="0" y="9263062"/>
            <a:ext cx="18288000" cy="0"/>
          </a:xfrm>
          <a:prstGeom prst="line">
            <a:avLst/>
          </a:prstGeom>
          <a:ln cap="flat" w="9525">
            <a:solidFill>
              <a:srgbClr val="FFFFFF">
                <a:alpha val="33725"/>
              </a:srgbClr>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858FF"/>
        </a:solidFill>
      </p:bgPr>
    </p:bg>
    <p:spTree>
      <p:nvGrpSpPr>
        <p:cNvPr id="1" name=""/>
        <p:cNvGrpSpPr/>
        <p:nvPr/>
      </p:nvGrpSpPr>
      <p:grpSpPr>
        <a:xfrm>
          <a:off x="0" y="0"/>
          <a:ext cx="0" cy="0"/>
          <a:chOff x="0" y="0"/>
          <a:chExt cx="0" cy="0"/>
        </a:xfrm>
      </p:grpSpPr>
      <p:sp>
        <p:nvSpPr>
          <p:cNvPr name="TextBox 2" id="2"/>
          <p:cNvSpPr txBox="true"/>
          <p:nvPr/>
        </p:nvSpPr>
        <p:spPr>
          <a:xfrm rot="0">
            <a:off x="7620685" y="1104900"/>
            <a:ext cx="3144923" cy="542290"/>
          </a:xfrm>
          <a:prstGeom prst="rect">
            <a:avLst/>
          </a:prstGeom>
        </p:spPr>
        <p:txBody>
          <a:bodyPr anchor="t" rtlCol="false" tIns="0" lIns="0" bIns="0" rIns="0">
            <a:spAutoFit/>
          </a:bodyPr>
          <a:lstStyle/>
          <a:p>
            <a:pPr algn="l">
              <a:lnSpc>
                <a:spcPts val="4099"/>
              </a:lnSpc>
            </a:pPr>
            <a:r>
              <a:rPr lang="en-US" b="true" sz="4099">
                <a:solidFill>
                  <a:srgbClr val="FFFFFF"/>
                </a:solidFill>
                <a:latin typeface="Nourd Bold"/>
                <a:ea typeface="Nourd Bold"/>
                <a:cs typeface="Nourd Bold"/>
                <a:sym typeface="Nourd Bold"/>
              </a:rPr>
              <a:t>CONSULTA</a:t>
            </a:r>
          </a:p>
        </p:txBody>
      </p:sp>
      <p:grpSp>
        <p:nvGrpSpPr>
          <p:cNvPr name="Group 3" id="3"/>
          <p:cNvGrpSpPr/>
          <p:nvPr/>
        </p:nvGrpSpPr>
        <p:grpSpPr>
          <a:xfrm rot="0">
            <a:off x="1028700" y="2393071"/>
            <a:ext cx="16132308" cy="3606259"/>
            <a:chOff x="0" y="0"/>
            <a:chExt cx="21509744" cy="4808345"/>
          </a:xfrm>
        </p:grpSpPr>
        <p:sp>
          <p:nvSpPr>
            <p:cNvPr name="Freeform 4" id="4"/>
            <p:cNvSpPr/>
            <p:nvPr/>
          </p:nvSpPr>
          <p:spPr>
            <a:xfrm flipH="false" flipV="false" rot="0">
              <a:off x="0" y="0"/>
              <a:ext cx="21509744" cy="4808345"/>
            </a:xfrm>
            <a:custGeom>
              <a:avLst/>
              <a:gdLst/>
              <a:ahLst/>
              <a:cxnLst/>
              <a:rect r="r" b="b" t="t" l="l"/>
              <a:pathLst>
                <a:path h="4808345" w="21509744">
                  <a:moveTo>
                    <a:pt x="0" y="0"/>
                  </a:moveTo>
                  <a:lnTo>
                    <a:pt x="21509744" y="0"/>
                  </a:lnTo>
                  <a:lnTo>
                    <a:pt x="21509744" y="4808345"/>
                  </a:lnTo>
                  <a:lnTo>
                    <a:pt x="0" y="4808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387621" y="133534"/>
              <a:ext cx="2493160" cy="4304708"/>
            </a:xfrm>
            <a:prstGeom prst="rect">
              <a:avLst/>
            </a:prstGeom>
          </p:spPr>
          <p:txBody>
            <a:bodyPr anchor="t" rtlCol="false" tIns="0" lIns="0" bIns="0" rIns="0">
              <a:spAutoFit/>
            </a:bodyPr>
            <a:lstStyle/>
            <a:p>
              <a:pPr algn="l">
                <a:lnSpc>
                  <a:spcPts val="4384"/>
                </a:lnSpc>
              </a:pPr>
              <a:r>
                <a:rPr lang="en-US" sz="1899">
                  <a:solidFill>
                    <a:srgbClr val="FFFFFF"/>
                  </a:solidFill>
                  <a:latin typeface="Roboto"/>
                  <a:ea typeface="Roboto"/>
                  <a:cs typeface="Roboto"/>
                  <a:sym typeface="Roboto"/>
                </a:rPr>
                <a:t>Atributo (Coluna) </a:t>
              </a:r>
              <a:r>
                <a:rPr lang="en-US" sz="1899">
                  <a:solidFill>
                    <a:srgbClr val="434343"/>
                  </a:solidFill>
                  <a:latin typeface="Roboto"/>
                  <a:ea typeface="Roboto"/>
                  <a:cs typeface="Roboto"/>
                  <a:sym typeface="Roboto"/>
                </a:rPr>
                <a:t>id data_hora observacoes medico_id paciente_id</a:t>
              </a:r>
            </a:p>
          </p:txBody>
        </p:sp>
        <p:sp>
          <p:nvSpPr>
            <p:cNvPr name="TextBox 6" id="6"/>
            <p:cNvSpPr txBox="true"/>
            <p:nvPr/>
          </p:nvSpPr>
          <p:spPr>
            <a:xfrm rot="0">
              <a:off x="3975329" y="133534"/>
              <a:ext cx="1992168" cy="4304708"/>
            </a:xfrm>
            <a:prstGeom prst="rect">
              <a:avLst/>
            </a:prstGeom>
          </p:spPr>
          <p:txBody>
            <a:bodyPr anchor="t" rtlCol="false" tIns="0" lIns="0" bIns="0" rIns="0">
              <a:spAutoFit/>
            </a:bodyPr>
            <a:lstStyle/>
            <a:p>
              <a:pPr algn="just">
                <a:lnSpc>
                  <a:spcPts val="4384"/>
                </a:lnSpc>
              </a:pPr>
              <a:r>
                <a:rPr lang="en-US" sz="1899">
                  <a:solidFill>
                    <a:srgbClr val="FFFFFF"/>
                  </a:solidFill>
                  <a:latin typeface="Roboto"/>
                  <a:ea typeface="Roboto"/>
                  <a:cs typeface="Roboto"/>
                  <a:sym typeface="Roboto"/>
                </a:rPr>
                <a:t>Tipo (MySQL) </a:t>
              </a:r>
              <a:r>
                <a:rPr lang="en-US" sz="1899">
                  <a:solidFill>
                    <a:srgbClr val="434343"/>
                  </a:solidFill>
                  <a:latin typeface="Roboto"/>
                  <a:ea typeface="Roboto"/>
                  <a:cs typeface="Roboto"/>
                  <a:sym typeface="Roboto"/>
                </a:rPr>
                <a:t>bigint datetime(6) longtext bigint bigint</a:t>
              </a:r>
            </a:p>
          </p:txBody>
        </p:sp>
        <p:sp>
          <p:nvSpPr>
            <p:cNvPr name="TextBox 7" id="7"/>
            <p:cNvSpPr txBox="true"/>
            <p:nvPr/>
          </p:nvSpPr>
          <p:spPr>
            <a:xfrm rot="0">
              <a:off x="7068181" y="133534"/>
              <a:ext cx="1344846" cy="4304708"/>
            </a:xfrm>
            <a:prstGeom prst="rect">
              <a:avLst/>
            </a:prstGeom>
          </p:spPr>
          <p:txBody>
            <a:bodyPr anchor="t" rtlCol="false" tIns="0" lIns="0" bIns="0" rIns="0">
              <a:spAutoFit/>
            </a:bodyPr>
            <a:lstStyle/>
            <a:p>
              <a:pPr algn="just">
                <a:lnSpc>
                  <a:spcPts val="4384"/>
                </a:lnSpc>
              </a:pPr>
              <a:r>
                <a:rPr lang="en-US" sz="1899">
                  <a:solidFill>
                    <a:srgbClr val="FFFFFF"/>
                  </a:solidFill>
                  <a:latin typeface="Roboto"/>
                  <a:ea typeface="Roboto"/>
                  <a:cs typeface="Roboto"/>
                  <a:sym typeface="Roboto"/>
                </a:rPr>
                <a:t>Nullable? </a:t>
              </a:r>
              <a:r>
                <a:rPr lang="en-US" sz="1899">
                  <a:solidFill>
                    <a:srgbClr val="434343"/>
                  </a:solidFill>
                  <a:latin typeface="Roboto"/>
                  <a:ea typeface="Roboto"/>
                  <a:cs typeface="Roboto"/>
                  <a:sym typeface="Roboto"/>
                </a:rPr>
                <a:t>NÃO SIM SIM NÃO NÃO</a:t>
              </a:r>
            </a:p>
          </p:txBody>
        </p:sp>
        <p:sp>
          <p:nvSpPr>
            <p:cNvPr name="TextBox 8" id="8"/>
            <p:cNvSpPr txBox="true"/>
            <p:nvPr/>
          </p:nvSpPr>
          <p:spPr>
            <a:xfrm rot="0">
              <a:off x="9567205" y="133534"/>
              <a:ext cx="3422624" cy="4304708"/>
            </a:xfrm>
            <a:prstGeom prst="rect">
              <a:avLst/>
            </a:prstGeom>
          </p:spPr>
          <p:txBody>
            <a:bodyPr anchor="t" rtlCol="false" tIns="0" lIns="0" bIns="0" rIns="0">
              <a:spAutoFit/>
            </a:bodyPr>
            <a:lstStyle/>
            <a:p>
              <a:pPr algn="just">
                <a:lnSpc>
                  <a:spcPts val="4384"/>
                </a:lnSpc>
              </a:pPr>
              <a:r>
                <a:rPr lang="en-US" sz="1899">
                  <a:solidFill>
                    <a:srgbClr val="FFFFFF"/>
                  </a:solidFill>
                  <a:latin typeface="Roboto"/>
                  <a:ea typeface="Roboto"/>
                  <a:cs typeface="Roboto"/>
                  <a:sym typeface="Roboto"/>
                </a:rPr>
                <a:t>Chaves / Índices (Keys) </a:t>
              </a:r>
              <a:r>
                <a:rPr lang="en-US" sz="1899">
                  <a:solidFill>
                    <a:srgbClr val="434343"/>
                  </a:solidFill>
                  <a:latin typeface="Roboto"/>
                  <a:ea typeface="Roboto"/>
                  <a:cs typeface="Roboto"/>
                  <a:sym typeface="Roboto"/>
                </a:rPr>
                <a:t>PRIMARY KEY (PK) - - FOREIGN KEY (FK) FOREIGN KEY (FK)</a:t>
              </a:r>
            </a:p>
          </p:txBody>
        </p:sp>
        <p:sp>
          <p:nvSpPr>
            <p:cNvPr name="TextBox 9" id="9"/>
            <p:cNvSpPr txBox="true"/>
            <p:nvPr/>
          </p:nvSpPr>
          <p:spPr>
            <a:xfrm rot="0">
              <a:off x="14095139" y="133534"/>
              <a:ext cx="7207804" cy="4304708"/>
            </a:xfrm>
            <a:prstGeom prst="rect">
              <a:avLst/>
            </a:prstGeom>
          </p:spPr>
          <p:txBody>
            <a:bodyPr anchor="t" rtlCol="false" tIns="0" lIns="0" bIns="0" rIns="0">
              <a:spAutoFit/>
            </a:bodyPr>
            <a:lstStyle/>
            <a:p>
              <a:pPr algn="l">
                <a:lnSpc>
                  <a:spcPts val="4384"/>
                </a:lnSpc>
              </a:pPr>
              <a:r>
                <a:rPr lang="en-US" sz="1899">
                  <a:solidFill>
                    <a:srgbClr val="FFFFFF"/>
                  </a:solidFill>
                  <a:latin typeface="Roboto"/>
                  <a:ea typeface="Roboto"/>
                  <a:cs typeface="Roboto"/>
                  <a:sym typeface="Roboto"/>
                </a:rPr>
                <a:t>Descrição </a:t>
              </a:r>
              <a:r>
                <a:rPr lang="en-US" sz="1899">
                  <a:solidFill>
                    <a:srgbClr val="434343"/>
                  </a:solidFill>
                  <a:latin typeface="Roboto"/>
                  <a:ea typeface="Roboto"/>
                  <a:cs typeface="Roboto"/>
                  <a:sym typeface="Roboto"/>
                </a:rPr>
                <a:t>Identificador único (Chave Primária) da consulta. Armazena a data e a hora exata da consulta. (Opcional) Notas do médico sobre a consulta. O ID do registro (médico) que fará o atendimento. O ID do paciente que será atendido.</a:t>
              </a:r>
            </a:p>
          </p:txBody>
        </p:sp>
      </p:grpSp>
      <p:sp>
        <p:nvSpPr>
          <p:cNvPr name="Freeform 10" id="10"/>
          <p:cNvSpPr/>
          <p:nvPr/>
        </p:nvSpPr>
        <p:spPr>
          <a:xfrm flipH="false" flipV="false" rot="0">
            <a:off x="16973476" y="9410700"/>
            <a:ext cx="1013470" cy="509269"/>
          </a:xfrm>
          <a:custGeom>
            <a:avLst/>
            <a:gdLst/>
            <a:ahLst/>
            <a:cxnLst/>
            <a:rect r="r" b="b" t="t" l="l"/>
            <a:pathLst>
              <a:path h="509269" w="1013470">
                <a:moveTo>
                  <a:pt x="0" y="0"/>
                </a:moveTo>
                <a:lnTo>
                  <a:pt x="1013470" y="0"/>
                </a:lnTo>
                <a:lnTo>
                  <a:pt x="1013470" y="509269"/>
                </a:lnTo>
                <a:lnTo>
                  <a:pt x="0" y="509269"/>
                </a:lnTo>
                <a:lnTo>
                  <a:pt x="0" y="0"/>
                </a:lnTo>
                <a:close/>
              </a:path>
            </a:pathLst>
          </a:custGeom>
          <a:blipFill>
            <a:blip r:embed="rId4"/>
            <a:stretch>
              <a:fillRect l="0" t="0" r="0" b="0"/>
            </a:stretch>
          </a:blipFill>
        </p:spPr>
      </p:sp>
      <p:sp>
        <p:nvSpPr>
          <p:cNvPr name="Freeform 11" id="11"/>
          <p:cNvSpPr/>
          <p:nvPr/>
        </p:nvSpPr>
        <p:spPr>
          <a:xfrm flipH="false" flipV="false" rot="0">
            <a:off x="17205860" y="9528878"/>
            <a:ext cx="548701" cy="259386"/>
          </a:xfrm>
          <a:custGeom>
            <a:avLst/>
            <a:gdLst/>
            <a:ahLst/>
            <a:cxnLst/>
            <a:rect r="r" b="b" t="t" l="l"/>
            <a:pathLst>
              <a:path h="259386" w="548701">
                <a:moveTo>
                  <a:pt x="0" y="0"/>
                </a:moveTo>
                <a:lnTo>
                  <a:pt x="548702" y="0"/>
                </a:lnTo>
                <a:lnTo>
                  <a:pt x="548702" y="259387"/>
                </a:lnTo>
                <a:lnTo>
                  <a:pt x="0" y="259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2" id="12"/>
          <p:cNvSpPr/>
          <p:nvPr/>
        </p:nvSpPr>
        <p:spPr>
          <a:xfrm>
            <a:off x="0" y="9263062"/>
            <a:ext cx="18288000" cy="0"/>
          </a:xfrm>
          <a:prstGeom prst="line">
            <a:avLst/>
          </a:prstGeom>
          <a:ln cap="flat" w="9525">
            <a:solidFill>
              <a:srgbClr val="FFFFFF">
                <a:alpha val="33725"/>
              </a:srgbClr>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3858FF"/>
        </a:solidFill>
      </p:bgPr>
    </p:bg>
    <p:spTree>
      <p:nvGrpSpPr>
        <p:cNvPr id="1" name=""/>
        <p:cNvGrpSpPr/>
        <p:nvPr/>
      </p:nvGrpSpPr>
      <p:grpSpPr>
        <a:xfrm>
          <a:off x="0" y="0"/>
          <a:ext cx="0" cy="0"/>
          <a:chOff x="0" y="0"/>
          <a:chExt cx="0" cy="0"/>
        </a:xfrm>
      </p:grpSpPr>
      <p:sp>
        <p:nvSpPr>
          <p:cNvPr name="TextBox 2" id="2"/>
          <p:cNvSpPr txBox="true"/>
          <p:nvPr/>
        </p:nvSpPr>
        <p:spPr>
          <a:xfrm rot="0">
            <a:off x="7571539" y="4910455"/>
            <a:ext cx="3307125" cy="542290"/>
          </a:xfrm>
          <a:prstGeom prst="rect">
            <a:avLst/>
          </a:prstGeom>
        </p:spPr>
        <p:txBody>
          <a:bodyPr anchor="t" rtlCol="false" tIns="0" lIns="0" bIns="0" rIns="0">
            <a:spAutoFit/>
          </a:bodyPr>
          <a:lstStyle/>
          <a:p>
            <a:pPr algn="l">
              <a:lnSpc>
                <a:spcPts val="4099"/>
              </a:lnSpc>
            </a:pPr>
            <a:r>
              <a:rPr lang="en-US" b="true" sz="4099">
                <a:solidFill>
                  <a:srgbClr val="FFFFFF"/>
                </a:solidFill>
                <a:latin typeface="Nourd Bold"/>
                <a:ea typeface="Nourd Bold"/>
                <a:cs typeface="Nourd Bold"/>
                <a:sym typeface="Nourd Bold"/>
              </a:rPr>
              <a:t>OBRIGADO!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DAG5L5P8ESw</dc:identifier>
  <dcterms:modified xsi:type="dcterms:W3CDTF">2011-08-01T06:04:30Z</dcterms:modified>
  <cp:revision>1</cp:revision>
  <dc:title>Apresentação de Negócios Plano de Projeto 3D Azul Branco</dc:title>
</cp:coreProperties>
</file>